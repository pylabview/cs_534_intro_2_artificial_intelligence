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27"/>
  </p:notesMasterIdLst>
  <p:sldIdLst>
    <p:sldId id="289" r:id="rId2"/>
    <p:sldId id="282" r:id="rId3"/>
    <p:sldId id="283" r:id="rId4"/>
    <p:sldId id="293" r:id="rId5"/>
    <p:sldId id="291" r:id="rId6"/>
    <p:sldId id="292" r:id="rId7"/>
    <p:sldId id="278" r:id="rId8"/>
    <p:sldId id="279" r:id="rId9"/>
    <p:sldId id="314" r:id="rId10"/>
    <p:sldId id="302" r:id="rId11"/>
    <p:sldId id="315" r:id="rId12"/>
    <p:sldId id="316" r:id="rId13"/>
    <p:sldId id="317" r:id="rId14"/>
    <p:sldId id="318" r:id="rId15"/>
    <p:sldId id="319" r:id="rId16"/>
    <p:sldId id="320" r:id="rId17"/>
    <p:sldId id="281" r:id="rId18"/>
    <p:sldId id="296" r:id="rId19"/>
    <p:sldId id="295" r:id="rId20"/>
    <p:sldId id="299" r:id="rId21"/>
    <p:sldId id="301" r:id="rId22"/>
    <p:sldId id="310" r:id="rId23"/>
    <p:sldId id="311" r:id="rId24"/>
    <p:sldId id="313" r:id="rId25"/>
    <p:sldId id="263" r:id="rId26"/>
  </p:sldIdLst>
  <p:sldSz cx="18288000" cy="10287000"/>
  <p:notesSz cx="6858000" cy="9144000"/>
  <p:embeddedFontLst>
    <p:embeddedFont>
      <p:font typeface="Chakra Petch" pitchFamily="2" charset="-34"/>
      <p:regular r:id="rId28"/>
      <p:bold r:id="rId29"/>
      <p:italic r:id="rId30"/>
      <p:boldItalic r:id="rId31"/>
    </p:embeddedFont>
    <p:embeddedFont>
      <p:font typeface="Consolas" panose="020B0609020204030204" pitchFamily="49" charset="0"/>
      <p:regular r:id="rId32"/>
      <p:bold r:id="rId33"/>
      <p:italic r:id="rId34"/>
      <p:boldItalic r:id="rId35"/>
    </p:embeddedFont>
    <p:embeddedFont>
      <p:font typeface="Inter" panose="02000503000000020004" pitchFamily="2"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0922EE-9B17-D96B-A0D5-A7615DD4BEB5}" v="9" dt="2025-07-26T23:21:40.848"/>
    <p1510:client id="{604F22C8-1810-AFE2-0357-33B1E856DC5A}" v="1202" dt="2025-07-26T22:53:33.894"/>
    <p1510:client id="{858CA868-8CA2-1D6E-5565-9E545EE1B438}" v="34" dt="2025-07-26T01:02:56.181"/>
    <p1510:client id="{9531DA7D-E998-1E2B-C217-CB64AB9EA3CC}" v="218" dt="2025-07-25T15:39:04.266"/>
    <p1510:client id="{A093944D-461D-D754-51FB-BE1015C8D8DF}" v="11" dt="2025-07-26T21:16:43.131"/>
    <p1510:client id="{B16EB623-4D35-E0CA-2196-EF854D2396AD}" v="188" dt="2025-07-26T00:31:48.098"/>
    <p1510:client id="{C2BBA27B-3767-EDA2-56ED-C925072B67E4}" v="82" dt="2025-07-25T16:04:00.512"/>
    <p1510:client id="{D8BB6942-612B-E7AB-E6DD-550E912F07A2}" v="30" dt="2025-07-26T00:34:13.924"/>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71" d="100"/>
          <a:sy n="71" d="100"/>
        </p:scale>
        <p:origin x="1304" y="4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https://wpi0-my.sharepoint.com/personal/mdacosta_wpi_edu/Documents/Book%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wpi0-my.sharepoint.com/personal/mdacosta_wpi_edu/Documents/Book%20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Top XGBoost Parameter Combinations</a:t>
            </a:r>
          </a:p>
        </c:rich>
      </c:tx>
      <c:layout>
        <c:manualLayout>
          <c:xMode val="edge"/>
          <c:yMode val="edge"/>
          <c:x val="0.26959886030288993"/>
          <c:y val="2.168674698795180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lotArea>
      <c:layout/>
      <c:barChart>
        <c:barDir val="bar"/>
        <c:grouping val="clustered"/>
        <c:varyColors val="0"/>
        <c:ser>
          <c:idx val="0"/>
          <c:order val="0"/>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Sheet1!$T$8:$T$17</c:f>
              <c:numCache>
                <c:formatCode>General</c:formatCode>
                <c:ptCount val="10"/>
                <c:pt idx="0">
                  <c:v>0.97899999999999998</c:v>
                </c:pt>
                <c:pt idx="1">
                  <c:v>0.97899999999999998</c:v>
                </c:pt>
                <c:pt idx="2">
                  <c:v>0.97799999999999998</c:v>
                </c:pt>
                <c:pt idx="3">
                  <c:v>0.97499999999999998</c:v>
                </c:pt>
                <c:pt idx="4">
                  <c:v>0.97099999999999997</c:v>
                </c:pt>
                <c:pt idx="5">
                  <c:v>0.96499999999999997</c:v>
                </c:pt>
                <c:pt idx="6">
                  <c:v>0.95799999999999996</c:v>
                </c:pt>
                <c:pt idx="7">
                  <c:v>0.95599999999999996</c:v>
                </c:pt>
                <c:pt idx="8">
                  <c:v>0.95599999999999996</c:v>
                </c:pt>
                <c:pt idx="9">
                  <c:v>0.94599999999999995</c:v>
                </c:pt>
              </c:numCache>
            </c:numRef>
          </c:val>
          <c:extLst>
            <c:ext xmlns:c16="http://schemas.microsoft.com/office/drawing/2014/chart" uri="{C3380CC4-5D6E-409C-BE32-E72D297353CC}">
              <c16:uniqueId val="{00000000-BD89-4DFE-95CD-A208712F1CDF}"/>
            </c:ext>
          </c:extLst>
        </c:ser>
        <c:dLbls>
          <c:showLegendKey val="0"/>
          <c:showVal val="0"/>
          <c:showCatName val="0"/>
          <c:showSerName val="0"/>
          <c:showPercent val="0"/>
          <c:showBubbleSize val="0"/>
        </c:dLbls>
        <c:gapWidth val="182"/>
        <c:axId val="1831612936"/>
        <c:axId val="1831614984"/>
      </c:barChart>
      <c:catAx>
        <c:axId val="1831612936"/>
        <c:scaling>
          <c:orientation val="minMax"/>
        </c:scaling>
        <c:delete val="0"/>
        <c:axPos val="l"/>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D0D0D"/>
                </a:solidFill>
                <a:latin typeface="+mn-lt"/>
                <a:ea typeface="+mn-ea"/>
                <a:cs typeface="+mn-cs"/>
              </a:defRPr>
            </a:pPr>
            <a:endParaRPr lang="en-US"/>
          </a:p>
        </c:txPr>
        <c:crossAx val="1831614984"/>
        <c:crosses val="autoZero"/>
        <c:auto val="1"/>
        <c:lblAlgn val="ctr"/>
        <c:lblOffset val="100"/>
        <c:noMultiLvlLbl val="0"/>
      </c:catAx>
      <c:valAx>
        <c:axId val="1831614984"/>
        <c:scaling>
          <c:orientation val="minMax"/>
          <c:max val="1"/>
        </c:scaling>
        <c:delete val="0"/>
        <c:axPos val="b"/>
        <c:title>
          <c:tx>
            <c:rich>
              <a:bodyPr rot="0" spcFirstLastPara="1" vertOverflow="ellipsis" vert="horz" wrap="square" anchor="ctr" anchorCtr="1"/>
              <a:lstStyle/>
              <a:p>
                <a:pPr>
                  <a:defRPr sz="1000" b="0" i="0" u="none" strike="noStrike" kern="1200" baseline="0">
                    <a:solidFill>
                      <a:srgbClr val="0D0D0D"/>
                    </a:solidFill>
                    <a:latin typeface="+mn-lt"/>
                    <a:ea typeface="+mn-ea"/>
                    <a:cs typeface="+mn-cs"/>
                  </a:defRPr>
                </a:pPr>
                <a:r>
                  <a:rPr lang="en-US"/>
                  <a:t>Mean CV Accuracy</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D0D0D"/>
                  </a:solidFill>
                  <a:latin typeface="+mn-lt"/>
                  <a:ea typeface="+mn-ea"/>
                  <a:cs typeface="+mn-cs"/>
                </a:defRPr>
              </a:pPr>
              <a:endParaRPr lang="en-US"/>
            </a:p>
          </c:txPr>
        </c:title>
        <c:numFmt formatCode="@"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D0D0D"/>
                </a:solidFill>
                <a:latin typeface="+mn-lt"/>
                <a:ea typeface="+mn-ea"/>
                <a:cs typeface="+mn-cs"/>
              </a:defRPr>
            </a:pPr>
            <a:endParaRPr lang="en-US"/>
          </a:p>
        </c:txPr>
        <c:crossAx val="18316129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Top Random Forest Parameter Combinations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D0D0D"/>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Sheet1!B36:B45</c:f>
              <c:numCache>
                <c:formatCode>General</c:formatCode>
                <c:ptCount val="10"/>
                <c:pt idx="0">
                  <c:v>0.96799999999999997</c:v>
                </c:pt>
                <c:pt idx="1">
                  <c:v>0.96599999999999997</c:v>
                </c:pt>
                <c:pt idx="2">
                  <c:v>0.96399999999999997</c:v>
                </c:pt>
                <c:pt idx="3">
                  <c:v>0.96299999999999997</c:v>
                </c:pt>
                <c:pt idx="4">
                  <c:v>0.96299999999999997</c:v>
                </c:pt>
                <c:pt idx="5">
                  <c:v>0.96199999999999997</c:v>
                </c:pt>
                <c:pt idx="6">
                  <c:v>0.95699999999999996</c:v>
                </c:pt>
                <c:pt idx="7">
                  <c:v>0.95699999999999996</c:v>
                </c:pt>
                <c:pt idx="8">
                  <c:v>0.93799999999999994</c:v>
                </c:pt>
                <c:pt idx="9">
                  <c:v>0.93799999999999994</c:v>
                </c:pt>
              </c:numCache>
            </c:numRef>
          </c:val>
          <c:extLst>
            <c:ext xmlns:c16="http://schemas.microsoft.com/office/drawing/2014/chart" uri="{C3380CC4-5D6E-409C-BE32-E72D297353CC}">
              <c16:uniqueId val="{00000000-13AC-4411-94CF-D64843673781}"/>
            </c:ext>
          </c:extLst>
        </c:ser>
        <c:dLbls>
          <c:showLegendKey val="0"/>
          <c:showVal val="0"/>
          <c:showCatName val="0"/>
          <c:showSerName val="0"/>
          <c:showPercent val="0"/>
          <c:showBubbleSize val="0"/>
        </c:dLbls>
        <c:gapWidth val="182"/>
        <c:axId val="1831612936"/>
        <c:axId val="1831614984"/>
      </c:barChart>
      <c:catAx>
        <c:axId val="1831612936"/>
        <c:scaling>
          <c:orientation val="minMax"/>
        </c:scaling>
        <c:delete val="0"/>
        <c:axPos val="l"/>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D0D0D"/>
                </a:solidFill>
                <a:latin typeface="+mn-lt"/>
                <a:ea typeface="+mn-ea"/>
                <a:cs typeface="+mn-cs"/>
              </a:defRPr>
            </a:pPr>
            <a:endParaRPr lang="en-US"/>
          </a:p>
        </c:txPr>
        <c:crossAx val="1831614984"/>
        <c:crosses val="autoZero"/>
        <c:auto val="1"/>
        <c:lblAlgn val="ctr"/>
        <c:lblOffset val="100"/>
        <c:noMultiLvlLbl val="0"/>
      </c:catAx>
      <c:valAx>
        <c:axId val="1831614984"/>
        <c:scaling>
          <c:orientation val="minMax"/>
        </c:scaling>
        <c:delete val="0"/>
        <c:axPos val="b"/>
        <c:title>
          <c:tx>
            <c:rich>
              <a:bodyPr rot="0" spcFirstLastPara="1" vertOverflow="ellipsis" vert="horz" wrap="square" anchor="ctr" anchorCtr="1"/>
              <a:lstStyle/>
              <a:p>
                <a:pPr>
                  <a:defRPr sz="1000" b="0" i="0" u="none" strike="noStrike" kern="1200" baseline="0">
                    <a:solidFill>
                      <a:srgbClr val="0D0D0D"/>
                    </a:solidFill>
                    <a:latin typeface="+mn-lt"/>
                    <a:ea typeface="+mn-ea"/>
                    <a:cs typeface="+mn-cs"/>
                  </a:defRPr>
                </a:pPr>
                <a:r>
                  <a:rPr lang="en-US"/>
                  <a:t>Mean CV Accuracy</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D0D0D"/>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D0D0D"/>
                </a:solidFill>
                <a:latin typeface="+mn-lt"/>
                <a:ea typeface="+mn-ea"/>
                <a:cs typeface="+mn-cs"/>
              </a:defRPr>
            </a:pPr>
            <a:endParaRPr lang="en-US"/>
          </a:p>
        </c:txPr>
        <c:crossAx val="18316129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rxiv.org/pdf/1802.05365v2"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CAD00DE-DD30-8C36-6412-057B4F843BD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DE6A482-A86F-17A7-D613-45630B81B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40016"/>
              </a:lnSpc>
              <a:spcBef>
                <a:spcPts val="0"/>
              </a:spcBef>
              <a:spcAft>
                <a:spcPts val="0"/>
              </a:spcAft>
              <a:buClr>
                <a:srgbClr val="FFFF00"/>
              </a:buClr>
              <a:buSzPts val="1100"/>
              <a:buFont typeface="Courier New" panose="02070309020205020404" pitchFamily="49" charset="0"/>
              <a:buNone/>
              <a:tabLst/>
              <a:defRPr/>
            </a:pPr>
            <a:r>
              <a:rPr lang="en-US" sz="1100">
                <a:solidFill>
                  <a:srgbClr val="FF0000"/>
                </a:solidFill>
                <a:latin typeface="Chakra Petch"/>
                <a:ea typeface="Inter"/>
                <a:cs typeface="Chakra Petch"/>
                <a:sym typeface="Inter"/>
              </a:rPr>
              <a:t>Why Phishing Matters</a:t>
            </a:r>
            <a:endParaRPr lang="en-US" sz="1100">
              <a:solidFill>
                <a:srgbClr val="FF0000"/>
              </a:solidFill>
              <a:latin typeface="Chakra Petch"/>
              <a:ea typeface="Inter"/>
              <a:cs typeface="Chakra Petch"/>
            </a:endParaRPr>
          </a:p>
          <a:p>
            <a:pPr marL="342900" lvl="0" indent="-342900">
              <a:lnSpc>
                <a:spcPct val="140016"/>
              </a:lnSpc>
              <a:buClr>
                <a:srgbClr val="FFFF00"/>
              </a:buClr>
              <a:buFont typeface="Courier New" panose="02070309020205020404" pitchFamily="49" charset="0"/>
              <a:buChar char="o"/>
            </a:pPr>
            <a:r>
              <a:rPr lang="en-US" sz="1100">
                <a:solidFill>
                  <a:srgbClr val="FF0000"/>
                </a:solidFill>
                <a:latin typeface="Inter"/>
                <a:ea typeface="Inter"/>
                <a:cs typeface="Inter"/>
                <a:sym typeface="Inter"/>
              </a:rPr>
              <a:t> </a:t>
            </a:r>
            <a:r>
              <a:rPr lang="en-US" sz="1100">
                <a:solidFill>
                  <a:srgbClr val="FF0000"/>
                </a:solidFill>
                <a:latin typeface="Inter"/>
                <a:ea typeface="Inter"/>
              </a:rPr>
              <a:t>Phishing, in cybersecurity, refers to an attempt by hackers to obtain a user's private information, such as passwords, credit cards, or bank account data (</a:t>
            </a:r>
            <a:r>
              <a:rPr lang="en-US" sz="1100" err="1">
                <a:solidFill>
                  <a:srgbClr val="FF0000"/>
                </a:solidFill>
                <a:latin typeface="Inter"/>
                <a:ea typeface="Inter"/>
              </a:rPr>
              <a:t>Burita</a:t>
            </a:r>
            <a:r>
              <a:rPr lang="en-US" sz="1100">
                <a:solidFill>
                  <a:srgbClr val="FF0000"/>
                </a:solidFill>
                <a:latin typeface="Inter"/>
                <a:ea typeface="Inter"/>
              </a:rPr>
              <a:t> et. al., 2021)</a:t>
            </a:r>
            <a:endParaRPr lang="en-US" sz="1100">
              <a:solidFill>
                <a:srgbClr val="FF0000"/>
              </a:solidFill>
              <a:latin typeface="Inter"/>
              <a:ea typeface="Inter"/>
              <a:cs typeface="Inter"/>
            </a:endParaRPr>
          </a:p>
          <a:p>
            <a:pPr marL="342900" marR="0" lvl="0" indent="-342900" rtl="0">
              <a:lnSpc>
                <a:spcPct val="140016"/>
              </a:lnSpc>
              <a:spcBef>
                <a:spcPts val="0"/>
              </a:spcBef>
              <a:spcAft>
                <a:spcPts val="0"/>
              </a:spcAft>
              <a:buClr>
                <a:srgbClr val="FFFF00"/>
              </a:buClr>
              <a:buFont typeface="Courier New" panose="02070309020205020404" pitchFamily="49" charset="0"/>
              <a:buChar char="o"/>
            </a:pPr>
            <a:r>
              <a:rPr lang="en-US" sz="1100" b="0" i="0" u="none" strike="noStrike" cap="none">
                <a:solidFill>
                  <a:srgbClr val="FF0000"/>
                </a:solidFill>
                <a:latin typeface="Inter"/>
                <a:ea typeface="Inter"/>
                <a:cs typeface="Inter"/>
                <a:sym typeface="Inter"/>
              </a:rPr>
              <a:t>91</a:t>
            </a:r>
            <a:r>
              <a:rPr lang="en-US" sz="1100">
                <a:solidFill>
                  <a:srgbClr val="FF0000"/>
                </a:solidFill>
                <a:latin typeface="Inter"/>
                <a:ea typeface="Inter"/>
                <a:cs typeface="Inter"/>
                <a:sym typeface="Inter"/>
              </a:rPr>
              <a:t>% of system breaches start with phishing (Alkhalil et al.,2021)</a:t>
            </a:r>
            <a:endParaRPr lang="en-US" sz="1100">
              <a:solidFill>
                <a:srgbClr val="FF0000"/>
              </a:solidFill>
              <a:latin typeface="Inter"/>
              <a:ea typeface="Inter"/>
              <a:cs typeface="Inter"/>
            </a:endParaRPr>
          </a:p>
          <a:p>
            <a:pPr marL="342900" marR="0" lvl="0" indent="-342900" rtl="0">
              <a:lnSpc>
                <a:spcPct val="140016"/>
              </a:lnSpc>
              <a:spcBef>
                <a:spcPts val="0"/>
              </a:spcBef>
              <a:spcAft>
                <a:spcPts val="0"/>
              </a:spcAft>
              <a:buClr>
                <a:srgbClr val="FFFF00"/>
              </a:buClr>
              <a:buFont typeface="Courier New" panose="02070309020205020404" pitchFamily="49" charset="0"/>
              <a:buChar char="o"/>
            </a:pPr>
            <a:r>
              <a:rPr lang="en-US" sz="1100" b="0" i="0" u="none" strike="noStrike" cap="none">
                <a:solidFill>
                  <a:srgbClr val="FF0000"/>
                </a:solidFill>
                <a:latin typeface="Inter"/>
                <a:ea typeface="Inter"/>
                <a:cs typeface="Inter"/>
                <a:sym typeface="Inter"/>
              </a:rPr>
              <a:t>$4M+ avg. cost per breach (Imber</a:t>
            </a:r>
            <a:r>
              <a:rPr lang="en-US" sz="1100">
                <a:solidFill>
                  <a:srgbClr val="FF0000"/>
                </a:solidFill>
                <a:latin typeface="Inter"/>
                <a:ea typeface="Inter"/>
                <a:cs typeface="Inter"/>
                <a:sym typeface="Inter"/>
              </a:rPr>
              <a:t>,2025)</a:t>
            </a:r>
            <a:endParaRPr lang="en-US" sz="1100">
              <a:solidFill>
                <a:srgbClr val="FF0000"/>
              </a:solidFill>
              <a:latin typeface="Inter"/>
              <a:ea typeface="Inter"/>
              <a:cs typeface="Inter"/>
            </a:endParaRPr>
          </a:p>
          <a:p>
            <a:pPr marL="342900" marR="0" lvl="0" indent="-342900" rtl="0">
              <a:lnSpc>
                <a:spcPct val="140016"/>
              </a:lnSpc>
              <a:spcBef>
                <a:spcPts val="0"/>
              </a:spcBef>
              <a:spcAft>
                <a:spcPts val="0"/>
              </a:spcAft>
              <a:buClr>
                <a:srgbClr val="FFFF00"/>
              </a:buClr>
              <a:buFont typeface="Courier New" panose="02070309020205020404" pitchFamily="49" charset="0"/>
              <a:buChar char="o"/>
            </a:pPr>
            <a:r>
              <a:rPr lang="en-US" sz="1100" b="0" i="0" u="none" strike="noStrike" cap="none">
                <a:solidFill>
                  <a:srgbClr val="FF0000"/>
                </a:solidFill>
                <a:latin typeface="Inter"/>
                <a:ea typeface="Inter"/>
                <a:cs typeface="Inter"/>
                <a:sym typeface="Inter"/>
              </a:rPr>
              <a:t>3.4B </a:t>
            </a:r>
            <a:r>
              <a:rPr lang="en-US" sz="1100">
                <a:solidFill>
                  <a:srgbClr val="FF0000"/>
                </a:solidFill>
                <a:latin typeface="Inter"/>
                <a:ea typeface="Inter"/>
                <a:cs typeface="Inter"/>
                <a:sym typeface="Inter"/>
              </a:rPr>
              <a:t>spam emails daily; Google blocks 100M phishing emails/day</a:t>
            </a:r>
            <a:r>
              <a:rPr lang="en-US" sz="1100" b="0" i="0" u="none" strike="noStrike" cap="none">
                <a:solidFill>
                  <a:srgbClr val="FF0000"/>
                </a:solidFill>
                <a:latin typeface="Inter"/>
                <a:ea typeface="Inter"/>
                <a:cs typeface="Inter"/>
                <a:sym typeface="Inter"/>
              </a:rPr>
              <a:t> </a:t>
            </a:r>
            <a:endParaRPr lang="en-US" sz="1100">
              <a:solidFill>
                <a:srgbClr val="FF0000"/>
              </a:solidFill>
            </a:endParaRPr>
          </a:p>
          <a:p>
            <a:pPr marL="0" lvl="0" indent="0" algn="l" rtl="0">
              <a:spcBef>
                <a:spcPts val="0"/>
              </a:spcBef>
              <a:spcAft>
                <a:spcPts val="0"/>
              </a:spcAft>
              <a:buNone/>
            </a:pPr>
            <a:endParaRPr>
              <a:solidFill>
                <a:srgbClr val="FF0000"/>
              </a:solidFill>
            </a:endParaRPr>
          </a:p>
          <a:p>
            <a:pPr marL="0" indent="0">
              <a:buNone/>
            </a:pPr>
            <a:endParaRPr lang="en-US">
              <a:solidFill>
                <a:srgbClr val="FF0000"/>
              </a:solidFill>
            </a:endParaRPr>
          </a:p>
          <a:p>
            <a:pPr marL="0" indent="0">
              <a:buNone/>
            </a:pPr>
            <a:endParaRPr lang="en-US">
              <a:solidFill>
                <a:srgbClr val="FF0000"/>
              </a:solidFill>
            </a:endParaRPr>
          </a:p>
          <a:p>
            <a:pPr marL="0" indent="0">
              <a:lnSpc>
                <a:spcPct val="140016"/>
              </a:lnSpc>
              <a:buNone/>
            </a:pPr>
            <a:endParaRPr lang="en-US">
              <a:solidFill>
                <a:srgbClr val="444444"/>
              </a:solidFill>
            </a:endParaRPr>
          </a:p>
          <a:p>
            <a:pPr marL="0" indent="0">
              <a:lnSpc>
                <a:spcPct val="140016"/>
              </a:lnSpc>
              <a:buNone/>
            </a:pPr>
            <a:r>
              <a:rPr lang="en-US">
                <a:solidFill>
                  <a:srgbClr val="FF0000"/>
                </a:solidFill>
              </a:rPr>
              <a:t>Project objectives</a:t>
            </a:r>
            <a:endParaRPr lang="en-US">
              <a:solidFill>
                <a:srgbClr val="444444"/>
              </a:solidFill>
            </a:endParaRPr>
          </a:p>
          <a:p>
            <a:pPr marL="285750" indent="-285750">
              <a:buFont typeface="Wingdings,Sans-Serif"/>
              <a:buChar char="v"/>
            </a:pPr>
            <a:r>
              <a:rPr lang="en-US" b="1">
                <a:solidFill>
                  <a:srgbClr val="FF0000"/>
                </a:solidFill>
              </a:rPr>
              <a:t>Detect phishing attempts from email/URL data</a:t>
            </a:r>
            <a:endParaRPr lang="en-US">
              <a:solidFill>
                <a:srgbClr val="444444"/>
              </a:solidFill>
            </a:endParaRPr>
          </a:p>
          <a:p>
            <a:pPr marL="285750" indent="-285750">
              <a:buFont typeface="Wingdings,Sans-Serif"/>
              <a:buChar char="v"/>
            </a:pPr>
            <a:endParaRPr lang="en-US">
              <a:solidFill>
                <a:srgbClr val="444444"/>
              </a:solidFill>
            </a:endParaRPr>
          </a:p>
          <a:p>
            <a:pPr marL="285750" indent="-285750">
              <a:buFont typeface="Wingdings,Sans-Serif"/>
              <a:buChar char="v"/>
            </a:pPr>
            <a:r>
              <a:rPr lang="en-US" b="1">
                <a:solidFill>
                  <a:srgbClr val="FF0000"/>
                </a:solidFill>
              </a:rPr>
              <a:t>Compare effectiveness of 3 machine learning models (XG Boost, Random Forest, MLP)</a:t>
            </a:r>
            <a:endParaRPr lang="en-US">
              <a:solidFill>
                <a:srgbClr val="444444"/>
              </a:solidFill>
            </a:endParaRPr>
          </a:p>
          <a:p>
            <a:pPr marL="285750" indent="-285750">
              <a:buFont typeface="Wingdings,Sans-Serif"/>
              <a:buChar char="v"/>
            </a:pPr>
            <a:endParaRPr lang="en-US">
              <a:solidFill>
                <a:srgbClr val="444444"/>
              </a:solidFill>
            </a:endParaRPr>
          </a:p>
          <a:p>
            <a:pPr marL="285750" indent="-285750">
              <a:buFont typeface="Wingdings,Sans-Serif"/>
              <a:buChar char="v"/>
            </a:pPr>
            <a:r>
              <a:rPr lang="en-US" b="1">
                <a:solidFill>
                  <a:srgbClr val="FF0000"/>
                </a:solidFill>
              </a:rPr>
              <a:t>Use </a:t>
            </a:r>
            <a:r>
              <a:rPr lang="en-US" b="1" err="1">
                <a:solidFill>
                  <a:srgbClr val="FF0000"/>
                </a:solidFill>
              </a:rPr>
              <a:t>DistilBERT</a:t>
            </a:r>
            <a:r>
              <a:rPr lang="en-US" b="1">
                <a:solidFill>
                  <a:srgbClr val="FF0000"/>
                </a:solidFill>
              </a:rPr>
              <a:t> for feature extraction</a:t>
            </a:r>
            <a:endParaRPr lang="en-US"/>
          </a:p>
        </p:txBody>
      </p:sp>
      <p:sp>
        <p:nvSpPr>
          <p:cNvPr id="181" name="Google Shape;181;p5:notes">
            <a:extLst>
              <a:ext uri="{FF2B5EF4-FFF2-40B4-BE49-F238E27FC236}">
                <a16:creationId xmlns:a16="http://schemas.microsoft.com/office/drawing/2014/main" id="{482178B8-E64C-C67A-D443-EB7BA06C18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4705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E5136DE1-9D54-3728-BB05-816580A0BC6D}"/>
            </a:ext>
          </a:extLst>
        </p:cNvPr>
        <p:cNvGrpSpPr/>
        <p:nvPr/>
      </p:nvGrpSpPr>
      <p:grpSpPr>
        <a:xfrm>
          <a:off x="0" y="0"/>
          <a:ext cx="0" cy="0"/>
          <a:chOff x="0" y="0"/>
          <a:chExt cx="0" cy="0"/>
        </a:xfrm>
      </p:grpSpPr>
      <p:sp>
        <p:nvSpPr>
          <p:cNvPr id="521" name="Google Shape;521;p16:notes">
            <a:extLst>
              <a:ext uri="{FF2B5EF4-FFF2-40B4-BE49-F238E27FC236}">
                <a16:creationId xmlns:a16="http://schemas.microsoft.com/office/drawing/2014/main" id="{EEE3CBCF-54A0-5B20-1A13-6D0621DE17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err="1"/>
              <a:t>ELMo</a:t>
            </a:r>
            <a:r>
              <a:rPr lang="en-US"/>
              <a:t>: Introduced in March 2018 by Peters et. al., courtesy of the University of Washington </a:t>
            </a:r>
          </a:p>
          <a:p>
            <a:pPr marL="0" indent="0">
              <a:buNone/>
            </a:pPr>
            <a:r>
              <a:rPr lang="en-US"/>
              <a:t>     Embeddings from Language Models (</a:t>
            </a:r>
            <a:r>
              <a:rPr lang="en-US" err="1"/>
              <a:t>ELMo</a:t>
            </a:r>
            <a:r>
              <a:rPr lang="en-US"/>
              <a:t>)</a:t>
            </a:r>
          </a:p>
          <a:p>
            <a:pPr marL="0" indent="0">
              <a:buNone/>
            </a:pPr>
            <a:r>
              <a:rPr lang="en-US"/>
              <a:t>     Derived from a bidirectional LSTM</a:t>
            </a:r>
          </a:p>
          <a:p>
            <a:pPr marL="0" indent="0">
              <a:buNone/>
            </a:pPr>
            <a:r>
              <a:rPr lang="en-US"/>
              <a:t>     </a:t>
            </a:r>
            <a:r>
              <a:rPr lang="en-US">
                <a:hlinkClick r:id="rId3"/>
              </a:rPr>
              <a:t>1802.05365v2</a:t>
            </a:r>
          </a:p>
          <a:p>
            <a:pPr marL="0" indent="0">
              <a:buNone/>
            </a:pPr>
            <a:r>
              <a:rPr lang="en-US"/>
              <a:t>BERT: Introduced in May 2019 by Google AI</a:t>
            </a:r>
          </a:p>
          <a:p>
            <a:pPr marL="0" indent="0">
              <a:buNone/>
            </a:pPr>
            <a:r>
              <a:rPr lang="en-US"/>
              <a:t>     Bidirectional Encoder Representations from Transformers</a:t>
            </a:r>
          </a:p>
          <a:p>
            <a:pPr marL="0" indent="0">
              <a:buNone/>
            </a:pPr>
            <a:r>
              <a:rPr lang="en-US"/>
              <a:t>     uses a "masked language model" (MLM) and bidirectional transformers</a:t>
            </a:r>
          </a:p>
          <a:p>
            <a:pPr marL="0" indent="0">
              <a:buNone/>
            </a:pPr>
            <a:r>
              <a:rPr lang="en-US" err="1"/>
              <a:t>DistilBERT</a:t>
            </a:r>
            <a:r>
              <a:rPr lang="en-US"/>
              <a:t>: Introduced by Hugging Face in 2019, with the final version of their paper being submitted in March 2020. </a:t>
            </a:r>
          </a:p>
          <a:p>
            <a:pPr marL="0" indent="0">
              <a:buNone/>
            </a:pPr>
            <a:r>
              <a:rPr lang="en-US"/>
              <a:t>     Bert, but smaller and faster.</a:t>
            </a:r>
          </a:p>
          <a:p>
            <a:pPr marL="0" indent="0">
              <a:buNone/>
            </a:pPr>
            <a:r>
              <a:rPr lang="en-US"/>
              <a:t>     40% the size, 60% faster, and 97% of the performance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Sanh et. al. </a:t>
            </a:r>
            <a:r>
              <a:rPr lang="en-US" err="1"/>
              <a:t>DistilBERT</a:t>
            </a:r>
            <a:r>
              <a:rPr lang="en-US"/>
              <a:t>, a distilled version of BERT: smaller, faster, cheaper, and lighter</a:t>
            </a:r>
          </a:p>
          <a:p>
            <a:pPr marL="0" indent="0">
              <a:buNone/>
            </a:pPr>
            <a:r>
              <a:rPr lang="en-US"/>
              <a:t>We will use </a:t>
            </a:r>
            <a:r>
              <a:rPr lang="en-US" err="1"/>
              <a:t>DistilBERT</a:t>
            </a:r>
            <a:r>
              <a:rPr lang="en-US"/>
              <a:t> to extract semantic features from phishing emails</a:t>
            </a:r>
          </a:p>
        </p:txBody>
      </p:sp>
      <p:sp>
        <p:nvSpPr>
          <p:cNvPr id="522" name="Google Shape;522;p16:notes">
            <a:extLst>
              <a:ext uri="{FF2B5EF4-FFF2-40B4-BE49-F238E27FC236}">
                <a16:creationId xmlns:a16="http://schemas.microsoft.com/office/drawing/2014/main" id="{EA52A0F1-E5E4-3CE5-C1A6-B5D0A85496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527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6CA902F5-3A5A-E4AD-3914-7BE90519C630}"/>
            </a:ext>
          </a:extLst>
        </p:cNvPr>
        <p:cNvGrpSpPr/>
        <p:nvPr/>
      </p:nvGrpSpPr>
      <p:grpSpPr>
        <a:xfrm>
          <a:off x="0" y="0"/>
          <a:ext cx="0" cy="0"/>
          <a:chOff x="0" y="0"/>
          <a:chExt cx="0" cy="0"/>
        </a:xfrm>
      </p:grpSpPr>
      <p:sp>
        <p:nvSpPr>
          <p:cNvPr id="521" name="Google Shape;521;p16:notes">
            <a:extLst>
              <a:ext uri="{FF2B5EF4-FFF2-40B4-BE49-F238E27FC236}">
                <a16:creationId xmlns:a16="http://schemas.microsoft.com/office/drawing/2014/main" id="{56D6C578-4165-48D6-F852-79EBC9CFF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a:t>
            </a:r>
            <a:r>
              <a:rPr lang="en-US" err="1"/>
              <a:t>XGBoost</a:t>
            </a:r>
            <a:r>
              <a:rPr lang="en-US"/>
              <a:t> (Extreme Gradient Boosting) is an optimized implementation of gradient boosting known for high performance and scalability (</a:t>
            </a:r>
            <a:r>
              <a:rPr lang="en-US" err="1"/>
              <a:t>Shahrivari</a:t>
            </a:r>
            <a:r>
              <a:rPr lang="en-US"/>
              <a:t>, Darabi, &amp; Izadi, 2020)</a:t>
            </a:r>
          </a:p>
          <a:p>
            <a:pPr marL="0" lvl="0" indent="0" algn="l" rtl="0">
              <a:spcBef>
                <a:spcPts val="0"/>
              </a:spcBef>
              <a:spcAft>
                <a:spcPts val="0"/>
              </a:spcAft>
              <a:buFontTx/>
              <a:buNone/>
            </a:pPr>
            <a:r>
              <a:rPr lang="en-US"/>
              <a:t>-Builds an ensemble of weak learners, typically decision trees improving them iteratively to enhance performance (</a:t>
            </a:r>
            <a:r>
              <a:rPr lang="en-US" err="1"/>
              <a:t>Shahrivari</a:t>
            </a:r>
            <a:r>
              <a:rPr lang="en-US"/>
              <a:t>, Darabi, &amp; Izadi, 2020)</a:t>
            </a:r>
          </a:p>
          <a:p>
            <a:pPr marL="0" lvl="0" indent="0" algn="l" rtl="0">
              <a:spcBef>
                <a:spcPts val="0"/>
              </a:spcBef>
              <a:spcAft>
                <a:spcPts val="0"/>
              </a:spcAft>
              <a:buNone/>
            </a:pPr>
            <a:r>
              <a:rPr lang="en-US"/>
              <a:t>-Scalable to large datasets suitable for both distributed systems and memory-constrained environments (Gu &amp; Xu, 2022)</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 Supports parallel and distributed computing, accelerating training and experimentation (</a:t>
            </a:r>
            <a:r>
              <a:rPr lang="en-US" err="1"/>
              <a:t>Shahrivani</a:t>
            </a:r>
            <a:r>
              <a:rPr lang="en-US"/>
              <a:t>, Darabi, &amp; Izadi, 2020).</a:t>
            </a:r>
          </a:p>
          <a:p>
            <a:pPr marL="171450" lvl="0" indent="-171450" algn="l" rtl="0">
              <a:spcBef>
                <a:spcPts val="0"/>
              </a:spcBef>
              <a:spcAft>
                <a:spcPts val="0"/>
              </a:spcAft>
              <a:buFontTx/>
              <a:buChar char="-"/>
            </a:pPr>
            <a:r>
              <a:rPr lang="en-US"/>
              <a:t>Regularization techniques reduce overfitting especially valuable in phishing detection (Gu &amp; Xu, 2022)</a:t>
            </a:r>
          </a:p>
          <a:p>
            <a:pPr marL="171450" lvl="0" indent="-171450" algn="l" rtl="0">
              <a:spcBef>
                <a:spcPts val="0"/>
              </a:spcBef>
              <a:spcAft>
                <a:spcPts val="0"/>
              </a:spcAft>
              <a:buFontTx/>
              <a:buChar char="-"/>
            </a:pPr>
            <a:r>
              <a:rPr lang="en-US"/>
              <a:t>Learning rate improves generalization on noisy or imbalanced datasets (Gu &amp; Xu, 2022)</a:t>
            </a:r>
          </a:p>
          <a:p>
            <a:pPr marL="171450" lvl="0" indent="-171450" algn="l" rtl="0">
              <a:spcBef>
                <a:spcPts val="0"/>
              </a:spcBef>
              <a:spcAft>
                <a:spcPts val="0"/>
              </a:spcAft>
              <a:buFontTx/>
              <a:buChar char="-"/>
            </a:pPr>
            <a:r>
              <a:rPr lang="en-US"/>
              <a:t>Flexibility allows for tailored optimization, making it ideal for phishing and email classification tasks (Gu &amp; Xu, 2022)</a:t>
            </a:r>
          </a:p>
        </p:txBody>
      </p:sp>
      <p:sp>
        <p:nvSpPr>
          <p:cNvPr id="522" name="Google Shape;522;p16:notes">
            <a:extLst>
              <a:ext uri="{FF2B5EF4-FFF2-40B4-BE49-F238E27FC236}">
                <a16:creationId xmlns:a16="http://schemas.microsoft.com/office/drawing/2014/main" id="{DA7FC4E7-0BA5-DF99-36D3-DB24E0E8C4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6983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FE5A5B29-E4D5-81A9-348E-C72CCB52B6CB}"/>
            </a:ext>
          </a:extLst>
        </p:cNvPr>
        <p:cNvGrpSpPr/>
        <p:nvPr/>
      </p:nvGrpSpPr>
      <p:grpSpPr>
        <a:xfrm>
          <a:off x="0" y="0"/>
          <a:ext cx="0" cy="0"/>
          <a:chOff x="0" y="0"/>
          <a:chExt cx="0" cy="0"/>
        </a:xfrm>
      </p:grpSpPr>
      <p:sp>
        <p:nvSpPr>
          <p:cNvPr id="521" name="Google Shape;521;p16:notes">
            <a:extLst>
              <a:ext uri="{FF2B5EF4-FFF2-40B4-BE49-F238E27FC236}">
                <a16:creationId xmlns:a16="http://schemas.microsoft.com/office/drawing/2014/main" id="{2D039FEE-7C45-F28D-F0E4-3EBC0145B9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a:t>Random forest is a supervised ML technique used in classification and regression problems (Dinesh et al.,2023)</a:t>
            </a:r>
          </a:p>
          <a:p>
            <a:pPr marL="171450" lvl="0" indent="-171450" algn="l" rtl="0">
              <a:spcBef>
                <a:spcPts val="0"/>
              </a:spcBef>
              <a:spcAft>
                <a:spcPts val="0"/>
              </a:spcAft>
              <a:buFontTx/>
              <a:buChar char="-"/>
            </a:pPr>
            <a:r>
              <a:rPr lang="en-US"/>
              <a:t>Combines multiple decision trees </a:t>
            </a:r>
            <a:r>
              <a:rPr lang="en-US" err="1"/>
              <a:t>tp</a:t>
            </a:r>
            <a:r>
              <a:rPr lang="en-US"/>
              <a:t> increase accuracy and reduce overfitting through ensemble learning (</a:t>
            </a:r>
            <a:r>
              <a:rPr lang="en-US" err="1"/>
              <a:t>Shahrivari</a:t>
            </a:r>
            <a:r>
              <a:rPr lang="en-US"/>
              <a:t>, Darabi, &amp; Izadi, 2020)</a:t>
            </a:r>
          </a:p>
          <a:p>
            <a:pPr marL="171450" lvl="0" indent="-171450" algn="l" rtl="0">
              <a:spcBef>
                <a:spcPts val="0"/>
              </a:spcBef>
              <a:spcAft>
                <a:spcPts val="0"/>
              </a:spcAft>
              <a:buFontTx/>
              <a:buChar char="-"/>
            </a:pPr>
            <a:r>
              <a:rPr lang="en-US"/>
              <a:t>Performs well on large, imperfect data sets typical in phishing detection (Dinesh et al,, 2023)</a:t>
            </a:r>
          </a:p>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a:t>Ensemble averaging reduces variance, as supported by the Central Limit theorem (</a:t>
            </a:r>
            <a:r>
              <a:rPr lang="en-US" err="1"/>
              <a:t>Shahrivari</a:t>
            </a:r>
            <a:r>
              <a:rPr lang="en-US"/>
              <a:t>, Darabi, &amp; Izadi, 2020)</a:t>
            </a:r>
          </a:p>
          <a:p>
            <a:pPr marL="171450" lvl="0" indent="-171450" algn="l" rtl="0">
              <a:spcBef>
                <a:spcPts val="0"/>
              </a:spcBef>
              <a:spcAft>
                <a:spcPts val="0"/>
              </a:spcAft>
              <a:buFontTx/>
              <a:buChar char="-"/>
            </a:pPr>
            <a:endParaRPr lang="en-US"/>
          </a:p>
        </p:txBody>
      </p:sp>
      <p:sp>
        <p:nvSpPr>
          <p:cNvPr id="522" name="Google Shape;522;p16:notes">
            <a:extLst>
              <a:ext uri="{FF2B5EF4-FFF2-40B4-BE49-F238E27FC236}">
                <a16:creationId xmlns:a16="http://schemas.microsoft.com/office/drawing/2014/main" id="{FC94DF9C-B107-643C-20BA-12859BBEB8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096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AC71-7E7A-1997-E92E-82B86A2C5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E5EC2-F312-8ABD-8E3A-355A0913449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FF88AA-0544-19B2-793F-E20D9CCA89AA}"/>
              </a:ext>
            </a:extLst>
          </p:cNvPr>
          <p:cNvSpPr>
            <a:spLocks noGrp="1"/>
          </p:cNvSpPr>
          <p:nvPr>
            <p:ph type="body" idx="1"/>
          </p:nvPr>
        </p:nvSpPr>
        <p:spPr/>
        <p:txBody>
          <a:bodyPr/>
          <a:lstStyle/>
          <a:p>
            <a:pPr>
              <a:buNone/>
            </a:pPr>
            <a:r>
              <a:rPr lang="en-US">
                <a:latin typeface="Calibri"/>
                <a:ea typeface="Calibri"/>
                <a:cs typeface="Calibri"/>
              </a:rPr>
              <a:t>Library used: </a:t>
            </a:r>
            <a:r>
              <a:rPr lang="en-US" err="1">
                <a:latin typeface="Calibri"/>
                <a:ea typeface="Calibri"/>
                <a:cs typeface="Calibri"/>
              </a:rPr>
              <a:t>RandomForestClassifier</a:t>
            </a:r>
            <a:r>
              <a:rPr lang="en-US">
                <a:latin typeface="Calibri"/>
                <a:ea typeface="Calibri"/>
                <a:cs typeface="Calibri"/>
              </a:rPr>
              <a:t> from scikit-learn</a:t>
            </a:r>
          </a:p>
          <a:p>
            <a:pPr>
              <a:buNone/>
            </a:pPr>
            <a:r>
              <a:rPr lang="en-US">
                <a:latin typeface="Calibri"/>
                <a:ea typeface="Calibri"/>
                <a:cs typeface="Calibri"/>
              </a:rPr>
              <a:t>Tuning: </a:t>
            </a:r>
            <a:r>
              <a:rPr lang="en-US" err="1">
                <a:latin typeface="Calibri"/>
                <a:ea typeface="Calibri"/>
                <a:cs typeface="Calibri"/>
              </a:rPr>
              <a:t>RandomizedSearchCV</a:t>
            </a:r>
            <a:r>
              <a:rPr lang="en-US">
                <a:latin typeface="Calibri"/>
                <a:ea typeface="Calibri"/>
                <a:cs typeface="Calibri"/>
              </a:rPr>
              <a:t> (3-fold cross validation)</a:t>
            </a:r>
          </a:p>
          <a:p>
            <a:pPr>
              <a:buNone/>
            </a:pPr>
            <a:r>
              <a:rPr lang="en-US">
                <a:latin typeface="Calibri"/>
                <a:ea typeface="Calibri"/>
                <a:cs typeface="Calibri"/>
              </a:rPr>
              <a:t>Tuned parameters: </a:t>
            </a:r>
            <a:r>
              <a:rPr lang="en-US" err="1">
                <a:latin typeface="Calibri"/>
                <a:ea typeface="Calibri"/>
                <a:cs typeface="Calibri"/>
              </a:rPr>
              <a:t>n_estimators</a:t>
            </a:r>
            <a:r>
              <a:rPr lang="en-US">
                <a:latin typeface="Calibri"/>
                <a:ea typeface="Calibri"/>
                <a:cs typeface="Calibri"/>
              </a:rPr>
              <a:t> (number of trees)</a:t>
            </a:r>
          </a:p>
          <a:p>
            <a:pPr>
              <a:buNone/>
            </a:pPr>
            <a:r>
              <a:rPr lang="en-US">
                <a:latin typeface="Calibri"/>
                <a:ea typeface="Calibri"/>
                <a:cs typeface="Calibri"/>
              </a:rPr>
              <a:t>        </a:t>
            </a:r>
            <a:r>
              <a:rPr lang="en-US" err="1">
                <a:latin typeface="Calibri"/>
                <a:ea typeface="Calibri"/>
                <a:cs typeface="Calibri"/>
              </a:rPr>
              <a:t>max_depth</a:t>
            </a:r>
            <a:r>
              <a:rPr lang="en-US">
                <a:latin typeface="Calibri"/>
                <a:ea typeface="Calibri"/>
                <a:cs typeface="Calibri"/>
              </a:rPr>
              <a:t> (depth of trees)</a:t>
            </a:r>
          </a:p>
          <a:p>
            <a:pPr>
              <a:buNone/>
            </a:pPr>
            <a:r>
              <a:rPr lang="en-US">
                <a:latin typeface="Calibri"/>
                <a:ea typeface="Calibri"/>
                <a:cs typeface="Calibri"/>
              </a:rPr>
              <a:t>        </a:t>
            </a:r>
            <a:r>
              <a:rPr lang="en-US" err="1">
                <a:latin typeface="Calibri"/>
                <a:ea typeface="Calibri"/>
                <a:cs typeface="Calibri"/>
              </a:rPr>
              <a:t>min_samples_split</a:t>
            </a:r>
            <a:r>
              <a:rPr lang="en-US">
                <a:latin typeface="Calibri"/>
                <a:ea typeface="Calibri"/>
                <a:cs typeface="Calibri"/>
              </a:rPr>
              <a:t> (minimum samples to split a node)</a:t>
            </a:r>
          </a:p>
          <a:p>
            <a:pPr>
              <a:buNone/>
            </a:pPr>
            <a:r>
              <a:rPr lang="en-US">
                <a:latin typeface="Calibri"/>
                <a:ea typeface="Calibri"/>
                <a:cs typeface="Calibri"/>
              </a:rPr>
              <a:t>        </a:t>
            </a:r>
            <a:r>
              <a:rPr lang="en-US" err="1">
                <a:latin typeface="Calibri"/>
                <a:ea typeface="Calibri"/>
                <a:cs typeface="Calibri"/>
              </a:rPr>
              <a:t>min_samples_leaf</a:t>
            </a:r>
            <a:r>
              <a:rPr lang="en-US">
                <a:latin typeface="Calibri"/>
                <a:ea typeface="Calibri"/>
                <a:cs typeface="Calibri"/>
              </a:rPr>
              <a:t> (minimum samples per leaf)</a:t>
            </a:r>
          </a:p>
        </p:txBody>
      </p:sp>
    </p:spTree>
    <p:extLst>
      <p:ext uri="{BB962C8B-B14F-4D97-AF65-F5344CB8AC3E}">
        <p14:creationId xmlns:p14="http://schemas.microsoft.com/office/powerpoint/2010/main" val="2508564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latin typeface="Calibri"/>
                <a:ea typeface="Calibri"/>
                <a:cs typeface="Calibri"/>
              </a:rPr>
              <a:t>Library used: </a:t>
            </a:r>
            <a:r>
              <a:rPr lang="en-US" err="1">
                <a:latin typeface="Calibri"/>
                <a:ea typeface="Calibri"/>
                <a:cs typeface="Calibri"/>
              </a:rPr>
              <a:t>RandomForestClassifier</a:t>
            </a:r>
            <a:r>
              <a:rPr lang="en-US">
                <a:latin typeface="Calibri"/>
                <a:ea typeface="Calibri"/>
                <a:cs typeface="Calibri"/>
              </a:rPr>
              <a:t> from scikit-learn</a:t>
            </a:r>
          </a:p>
          <a:p>
            <a:pPr>
              <a:buNone/>
            </a:pPr>
            <a:r>
              <a:rPr lang="en-US">
                <a:latin typeface="Calibri"/>
                <a:ea typeface="Calibri"/>
                <a:cs typeface="Calibri"/>
              </a:rPr>
              <a:t>Tuning: </a:t>
            </a:r>
            <a:r>
              <a:rPr lang="en-US" err="1">
                <a:latin typeface="Calibri"/>
                <a:ea typeface="Calibri"/>
                <a:cs typeface="Calibri"/>
              </a:rPr>
              <a:t>RandomizedSearchCV</a:t>
            </a:r>
            <a:r>
              <a:rPr lang="en-US">
                <a:latin typeface="Calibri"/>
                <a:ea typeface="Calibri"/>
                <a:cs typeface="Calibri"/>
              </a:rPr>
              <a:t> (3-fold cross validation)</a:t>
            </a:r>
          </a:p>
          <a:p>
            <a:pPr>
              <a:buNone/>
            </a:pPr>
            <a:r>
              <a:rPr lang="en-US">
                <a:latin typeface="Calibri"/>
                <a:ea typeface="Calibri"/>
                <a:cs typeface="Calibri"/>
              </a:rPr>
              <a:t>Tuned parameters: </a:t>
            </a:r>
            <a:r>
              <a:rPr lang="en-US" err="1">
                <a:latin typeface="Calibri"/>
                <a:ea typeface="Calibri"/>
                <a:cs typeface="Calibri"/>
              </a:rPr>
              <a:t>n_estimators</a:t>
            </a:r>
            <a:r>
              <a:rPr lang="en-US">
                <a:latin typeface="Calibri"/>
                <a:ea typeface="Calibri"/>
                <a:cs typeface="Calibri"/>
              </a:rPr>
              <a:t> (number of trees)</a:t>
            </a:r>
          </a:p>
          <a:p>
            <a:pPr>
              <a:buNone/>
            </a:pPr>
            <a:r>
              <a:rPr lang="en-US">
                <a:latin typeface="Calibri"/>
                <a:ea typeface="Calibri"/>
                <a:cs typeface="Calibri"/>
              </a:rPr>
              <a:t>        </a:t>
            </a:r>
            <a:r>
              <a:rPr lang="en-US" err="1">
                <a:latin typeface="Calibri"/>
                <a:ea typeface="Calibri"/>
                <a:cs typeface="Calibri"/>
              </a:rPr>
              <a:t>max_depth</a:t>
            </a:r>
            <a:r>
              <a:rPr lang="en-US">
                <a:latin typeface="Calibri"/>
                <a:ea typeface="Calibri"/>
                <a:cs typeface="Calibri"/>
              </a:rPr>
              <a:t> (depth of trees)</a:t>
            </a:r>
          </a:p>
          <a:p>
            <a:pPr>
              <a:buNone/>
            </a:pPr>
            <a:r>
              <a:rPr lang="en-US">
                <a:latin typeface="Calibri"/>
                <a:ea typeface="Calibri"/>
                <a:cs typeface="Calibri"/>
              </a:rPr>
              <a:t>        </a:t>
            </a:r>
            <a:r>
              <a:rPr lang="en-US" err="1">
                <a:latin typeface="Calibri"/>
                <a:ea typeface="Calibri"/>
                <a:cs typeface="Calibri"/>
              </a:rPr>
              <a:t>min_samples_split</a:t>
            </a:r>
            <a:r>
              <a:rPr lang="en-US">
                <a:latin typeface="Calibri"/>
                <a:ea typeface="Calibri"/>
                <a:cs typeface="Calibri"/>
              </a:rPr>
              <a:t> (minimum samples to split a node)</a:t>
            </a:r>
          </a:p>
          <a:p>
            <a:pPr>
              <a:buNone/>
            </a:pPr>
            <a:r>
              <a:rPr lang="en-US">
                <a:latin typeface="Calibri"/>
                <a:ea typeface="Calibri"/>
                <a:cs typeface="Calibri"/>
              </a:rPr>
              <a:t>        </a:t>
            </a:r>
            <a:r>
              <a:rPr lang="en-US" err="1">
                <a:latin typeface="Calibri"/>
                <a:ea typeface="Calibri"/>
                <a:cs typeface="Calibri"/>
              </a:rPr>
              <a:t>min_samples_leaf</a:t>
            </a:r>
            <a:r>
              <a:rPr lang="en-US">
                <a:latin typeface="Calibri"/>
                <a:ea typeface="Calibri"/>
                <a:cs typeface="Calibri"/>
              </a:rPr>
              <a:t> (minimum samples per leaf)</a:t>
            </a:r>
          </a:p>
        </p:txBody>
      </p:sp>
    </p:spTree>
    <p:extLst>
      <p:ext uri="{BB962C8B-B14F-4D97-AF65-F5344CB8AC3E}">
        <p14:creationId xmlns:p14="http://schemas.microsoft.com/office/powerpoint/2010/main" val="3905463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C352D-084C-DA26-854E-D537D9188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116BD-698C-0644-8595-15F55C09349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93C024-495F-33F3-76BE-0591051660F1}"/>
              </a:ext>
            </a:extLst>
          </p:cNvPr>
          <p:cNvSpPr>
            <a:spLocks noGrp="1"/>
          </p:cNvSpPr>
          <p:nvPr>
            <p:ph type="body" idx="1"/>
          </p:nvPr>
        </p:nvSpPr>
        <p:spPr/>
        <p:txBody>
          <a:bodyPr/>
          <a:lstStyle/>
          <a:p>
            <a:pPr>
              <a:buNone/>
            </a:pPr>
            <a:r>
              <a:rPr lang="en-US">
                <a:latin typeface="Calibri"/>
                <a:ea typeface="Calibri"/>
                <a:cs typeface="Calibri"/>
              </a:rPr>
              <a:t>Library used: </a:t>
            </a:r>
            <a:r>
              <a:rPr lang="en-US" err="1">
                <a:latin typeface="Calibri"/>
                <a:ea typeface="Calibri"/>
                <a:cs typeface="Calibri"/>
              </a:rPr>
              <a:t>RandomForestClassifier</a:t>
            </a:r>
            <a:r>
              <a:rPr lang="en-US">
                <a:latin typeface="Calibri"/>
                <a:ea typeface="Calibri"/>
                <a:cs typeface="Calibri"/>
              </a:rPr>
              <a:t> from scikit-learn</a:t>
            </a:r>
          </a:p>
          <a:p>
            <a:pPr>
              <a:buNone/>
            </a:pPr>
            <a:r>
              <a:rPr lang="en-US">
                <a:latin typeface="Calibri"/>
                <a:ea typeface="Calibri"/>
                <a:cs typeface="Calibri"/>
              </a:rPr>
              <a:t>Tuning: </a:t>
            </a:r>
            <a:r>
              <a:rPr lang="en-US" err="1">
                <a:latin typeface="Calibri"/>
                <a:ea typeface="Calibri"/>
                <a:cs typeface="Calibri"/>
              </a:rPr>
              <a:t>RandomizedSearchCV</a:t>
            </a:r>
            <a:r>
              <a:rPr lang="en-US">
                <a:latin typeface="Calibri"/>
                <a:ea typeface="Calibri"/>
                <a:cs typeface="Calibri"/>
              </a:rPr>
              <a:t> (3-fold cross validation)</a:t>
            </a:r>
          </a:p>
          <a:p>
            <a:pPr>
              <a:buNone/>
            </a:pPr>
            <a:r>
              <a:rPr lang="en-US">
                <a:latin typeface="Calibri"/>
                <a:ea typeface="Calibri"/>
                <a:cs typeface="Calibri"/>
              </a:rPr>
              <a:t>Tuned parameters: </a:t>
            </a:r>
            <a:r>
              <a:rPr lang="en-US" err="1">
                <a:latin typeface="Calibri"/>
                <a:ea typeface="Calibri"/>
                <a:cs typeface="Calibri"/>
              </a:rPr>
              <a:t>n_estimators</a:t>
            </a:r>
            <a:r>
              <a:rPr lang="en-US">
                <a:latin typeface="Calibri"/>
                <a:ea typeface="Calibri"/>
                <a:cs typeface="Calibri"/>
              </a:rPr>
              <a:t> (number of trees)</a:t>
            </a:r>
          </a:p>
          <a:p>
            <a:pPr>
              <a:buNone/>
            </a:pPr>
            <a:r>
              <a:rPr lang="en-US">
                <a:latin typeface="Calibri"/>
                <a:ea typeface="Calibri"/>
                <a:cs typeface="Calibri"/>
              </a:rPr>
              <a:t>        </a:t>
            </a:r>
            <a:r>
              <a:rPr lang="en-US" err="1">
                <a:latin typeface="Calibri"/>
                <a:ea typeface="Calibri"/>
                <a:cs typeface="Calibri"/>
              </a:rPr>
              <a:t>max_depth</a:t>
            </a:r>
            <a:r>
              <a:rPr lang="en-US">
                <a:latin typeface="Calibri"/>
                <a:ea typeface="Calibri"/>
                <a:cs typeface="Calibri"/>
              </a:rPr>
              <a:t> (depth of trees)</a:t>
            </a:r>
          </a:p>
          <a:p>
            <a:pPr>
              <a:buNone/>
            </a:pPr>
            <a:r>
              <a:rPr lang="en-US">
                <a:latin typeface="Calibri"/>
                <a:ea typeface="Calibri"/>
                <a:cs typeface="Calibri"/>
              </a:rPr>
              <a:t>        </a:t>
            </a:r>
            <a:r>
              <a:rPr lang="en-US" err="1">
                <a:latin typeface="Calibri"/>
                <a:ea typeface="Calibri"/>
                <a:cs typeface="Calibri"/>
              </a:rPr>
              <a:t>min_samples_split</a:t>
            </a:r>
            <a:r>
              <a:rPr lang="en-US">
                <a:latin typeface="Calibri"/>
                <a:ea typeface="Calibri"/>
                <a:cs typeface="Calibri"/>
              </a:rPr>
              <a:t> (minimum samples to split a node)</a:t>
            </a:r>
          </a:p>
          <a:p>
            <a:pPr>
              <a:buNone/>
            </a:pPr>
            <a:r>
              <a:rPr lang="en-US">
                <a:latin typeface="Calibri"/>
                <a:ea typeface="Calibri"/>
                <a:cs typeface="Calibri"/>
              </a:rPr>
              <a:t>        </a:t>
            </a:r>
            <a:r>
              <a:rPr lang="en-US" err="1">
                <a:latin typeface="Calibri"/>
                <a:ea typeface="Calibri"/>
                <a:cs typeface="Calibri"/>
              </a:rPr>
              <a:t>min_samples_leaf</a:t>
            </a:r>
            <a:r>
              <a:rPr lang="en-US">
                <a:latin typeface="Calibri"/>
                <a:ea typeface="Calibri"/>
                <a:cs typeface="Calibri"/>
              </a:rPr>
              <a:t> (minimum samples per leaf)</a:t>
            </a:r>
          </a:p>
        </p:txBody>
      </p:sp>
    </p:spTree>
    <p:extLst>
      <p:ext uri="{BB962C8B-B14F-4D97-AF65-F5344CB8AC3E}">
        <p14:creationId xmlns:p14="http://schemas.microsoft.com/office/powerpoint/2010/main" val="575713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37219-2145-5573-B06D-9BE2D3B64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F687D-409C-CC2B-D9F6-50C5DBA7F99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0B7A362-1C6A-A628-2942-C93F9B1CCABE}"/>
              </a:ext>
            </a:extLst>
          </p:cNvPr>
          <p:cNvSpPr>
            <a:spLocks noGrp="1"/>
          </p:cNvSpPr>
          <p:nvPr>
            <p:ph type="body" idx="1"/>
          </p:nvPr>
        </p:nvSpPr>
        <p:spPr/>
        <p:txBody>
          <a:bodyPr/>
          <a:lstStyle/>
          <a:p>
            <a:pPr marL="158750" indent="0">
              <a:buNone/>
            </a:pPr>
            <a:endParaRPr lang="en-US">
              <a:latin typeface="Calibri"/>
              <a:ea typeface="Calibri"/>
              <a:cs typeface="Calibri"/>
            </a:endParaRPr>
          </a:p>
        </p:txBody>
      </p:sp>
    </p:spTree>
    <p:extLst>
      <p:ext uri="{BB962C8B-B14F-4D97-AF65-F5344CB8AC3E}">
        <p14:creationId xmlns:p14="http://schemas.microsoft.com/office/powerpoint/2010/main" val="1061295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A58F7-F70E-7CA7-D1AB-8C2A04C79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E8AEF-55E9-E120-F0D9-507D51FE48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E765831-991C-90EA-F305-6C3BC02ED8D0}"/>
              </a:ext>
            </a:extLst>
          </p:cNvPr>
          <p:cNvSpPr>
            <a:spLocks noGrp="1"/>
          </p:cNvSpPr>
          <p:nvPr>
            <p:ph type="body" idx="1"/>
          </p:nvPr>
        </p:nvSpPr>
        <p:spPr/>
        <p:txBody>
          <a:bodyPr/>
          <a:lstStyle/>
          <a:p>
            <a:pPr marL="158750" indent="0">
              <a:buNone/>
            </a:pPr>
            <a:endParaRPr lang="en-US">
              <a:latin typeface="Calibri"/>
              <a:ea typeface="Calibri"/>
              <a:cs typeface="Calibri"/>
            </a:endParaRPr>
          </a:p>
        </p:txBody>
      </p:sp>
    </p:spTree>
    <p:extLst>
      <p:ext uri="{BB962C8B-B14F-4D97-AF65-F5344CB8AC3E}">
        <p14:creationId xmlns:p14="http://schemas.microsoft.com/office/powerpoint/2010/main" val="150746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CA9F1-3CAC-E9B4-F39D-E981CD733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4C6DE-7BE7-DCA9-4E7D-0BA529134D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4B4C55-3E1C-9769-AFF5-0B777505C599}"/>
              </a:ext>
            </a:extLst>
          </p:cNvPr>
          <p:cNvSpPr>
            <a:spLocks noGrp="1"/>
          </p:cNvSpPr>
          <p:nvPr>
            <p:ph type="body" idx="1"/>
          </p:nvPr>
        </p:nvSpPr>
        <p:spPr/>
        <p:txBody>
          <a:bodyPr/>
          <a:lstStyle/>
          <a:p>
            <a:pPr marL="158750" indent="0">
              <a:buNone/>
            </a:pPr>
            <a:endParaRPr lang="en-US">
              <a:latin typeface="Calibri"/>
              <a:ea typeface="Calibri"/>
              <a:cs typeface="Calibri"/>
            </a:endParaRPr>
          </a:p>
        </p:txBody>
      </p:sp>
    </p:spTree>
    <p:extLst>
      <p:ext uri="{BB962C8B-B14F-4D97-AF65-F5344CB8AC3E}">
        <p14:creationId xmlns:p14="http://schemas.microsoft.com/office/powerpoint/2010/main" val="4062744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09E4-7B68-7A6E-FE92-7B80A7FEA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A1FED-19A7-BA33-A4A2-589393C24B1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2F3BF9-4EF7-691B-3C1F-E257ACD3B010}"/>
              </a:ext>
            </a:extLst>
          </p:cNvPr>
          <p:cNvSpPr>
            <a:spLocks noGrp="1"/>
          </p:cNvSpPr>
          <p:nvPr>
            <p:ph type="body" idx="1"/>
          </p:nvPr>
        </p:nvSpPr>
        <p:spPr/>
        <p:txBody>
          <a:bodyPr/>
          <a:lstStyle/>
          <a:p>
            <a:pPr marL="158750" indent="0">
              <a:buNone/>
            </a:pPr>
            <a:endParaRPr lang="en-US">
              <a:latin typeface="Calibri"/>
              <a:ea typeface="Calibri"/>
              <a:cs typeface="Calibri"/>
            </a:endParaRPr>
          </a:p>
        </p:txBody>
      </p:sp>
    </p:spTree>
    <p:extLst>
      <p:ext uri="{BB962C8B-B14F-4D97-AF65-F5344CB8AC3E}">
        <p14:creationId xmlns:p14="http://schemas.microsoft.com/office/powerpoint/2010/main" val="3914702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197DD6E5-1EC9-C458-1C17-026A3A4017B8}"/>
            </a:ext>
          </a:extLst>
        </p:cNvPr>
        <p:cNvGrpSpPr/>
        <p:nvPr/>
      </p:nvGrpSpPr>
      <p:grpSpPr>
        <a:xfrm>
          <a:off x="0" y="0"/>
          <a:ext cx="0" cy="0"/>
          <a:chOff x="0" y="0"/>
          <a:chExt cx="0" cy="0"/>
        </a:xfrm>
      </p:grpSpPr>
      <p:sp>
        <p:nvSpPr>
          <p:cNvPr id="521" name="Google Shape;521;p16:notes">
            <a:extLst>
              <a:ext uri="{FF2B5EF4-FFF2-40B4-BE49-F238E27FC236}">
                <a16:creationId xmlns:a16="http://schemas.microsoft.com/office/drawing/2014/main" id="{26261A60-BE68-171B-08C8-C364857FA4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a:t>MLP is a lightweight feedforward neural network widely used for classification and non-linear pattern recognition (Asani et al.,2024)</a:t>
            </a:r>
          </a:p>
          <a:p>
            <a:pPr marL="171450" lvl="0" indent="-171450" algn="l" rtl="0">
              <a:spcBef>
                <a:spcPts val="0"/>
              </a:spcBef>
              <a:spcAft>
                <a:spcPts val="0"/>
              </a:spcAft>
              <a:buFontTx/>
              <a:buChar char="-"/>
            </a:pPr>
            <a:r>
              <a:rPr lang="en-US"/>
              <a:t>Capable of extracting features </a:t>
            </a:r>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identifying anomalies, and defining non-linear decision boundaries (Reddy, 2023).</a:t>
            </a:r>
          </a:p>
          <a:p>
            <a:pPr marL="171450" lvl="0" indent="-171450" algn="l" rtl="0">
              <a:spcBef>
                <a:spcPts val="0"/>
              </a:spcBef>
              <a:spcAft>
                <a:spcPts val="0"/>
              </a:spcAft>
              <a:buFontTx/>
              <a:buChar char="-"/>
            </a:pPr>
            <a:r>
              <a:rPr lang="en-US" sz="1100" b="0" i="0" u="none" strike="noStrike" cap="none">
                <a:solidFill>
                  <a:srgbClr val="000000"/>
                </a:solidFill>
                <a:effectLst/>
                <a:latin typeface="Arial"/>
                <a:ea typeface="Arial"/>
                <a:cs typeface="Arial"/>
                <a:sym typeface="Arial"/>
              </a:rPr>
              <a:t>Especially suited for recognizing sophisticated phishing techniques that evade simpler models (Reddy, 2023).</a:t>
            </a:r>
          </a:p>
          <a:p>
            <a:pPr marL="171450" lvl="0" indent="-171450" algn="l" rtl="0">
              <a:spcBef>
                <a:spcPts val="0"/>
              </a:spcBef>
              <a:spcAft>
                <a:spcPts val="0"/>
              </a:spcAft>
              <a:buFontTx/>
              <a:buChar char="-"/>
            </a:pPr>
            <a:r>
              <a:rPr lang="en-US" sz="1100" b="0" i="0" u="none" strike="noStrike" cap="none">
                <a:solidFill>
                  <a:srgbClr val="000000"/>
                </a:solidFill>
                <a:effectLst/>
                <a:latin typeface="Arial"/>
                <a:ea typeface="Arial"/>
                <a:cs typeface="Arial"/>
                <a:sym typeface="Arial"/>
              </a:rPr>
              <a:t>Learns from updated datasets over time—improves accuracy and reduces false positives (Asani et al., 2024)</a:t>
            </a:r>
          </a:p>
          <a:p>
            <a:pPr marL="171450" lvl="0" indent="-171450" algn="l" rtl="0">
              <a:spcBef>
                <a:spcPts val="0"/>
              </a:spcBef>
              <a:spcAft>
                <a:spcPts val="0"/>
              </a:spcAft>
              <a:buFontTx/>
              <a:buChar char="-"/>
            </a:pPr>
            <a:r>
              <a:rPr lang="en-US" sz="1100" b="0" i="0" u="none" strike="noStrike" cap="none">
                <a:solidFill>
                  <a:srgbClr val="000000"/>
                </a:solidFill>
                <a:effectLst/>
                <a:latin typeface="Arial"/>
                <a:ea typeface="Arial"/>
                <a:cs typeface="Arial"/>
                <a:sym typeface="Arial"/>
              </a:rPr>
              <a:t>Supports real-time analysis, which is crucial in phishing detection (Asani et al., 2024).</a:t>
            </a:r>
          </a:p>
          <a:p>
            <a:pPr marL="171450" lvl="0" indent="-171450" algn="l" rtl="0">
              <a:spcBef>
                <a:spcPts val="0"/>
              </a:spcBef>
              <a:spcAft>
                <a:spcPts val="0"/>
              </a:spcAft>
              <a:buFontTx/>
              <a:buChar char="-"/>
            </a:pPr>
            <a:r>
              <a:rPr lang="en-US" sz="1100" b="0" i="0" u="none" strike="noStrike" cap="none">
                <a:solidFill>
                  <a:srgbClr val="000000"/>
                </a:solidFill>
                <a:effectLst/>
                <a:latin typeface="Arial"/>
                <a:ea typeface="Arial"/>
                <a:cs typeface="Arial"/>
                <a:sym typeface="Arial"/>
              </a:rPr>
              <a:t>Effective with proper parameter tuning and training on relevant phishing datasets (Reddy, 2023)</a:t>
            </a:r>
            <a:br>
              <a:rPr lang="en-US" sz="1100" b="0" i="0" u="none" strike="noStrike" cap="none">
                <a:solidFill>
                  <a:srgbClr val="000000"/>
                </a:solidFill>
                <a:effectLst/>
                <a:latin typeface="Arial"/>
                <a:ea typeface="Arial"/>
                <a:cs typeface="Arial"/>
                <a:sym typeface="Arial"/>
              </a:rPr>
            </a:br>
            <a:endParaRPr lang="en-US" sz="1100" b="0" i="0" u="none" strike="noStrike" cap="none">
              <a:solidFill>
                <a:srgbClr val="000000"/>
              </a:solidFill>
              <a:effectLst/>
              <a:latin typeface="Arial"/>
              <a:ea typeface="Arial"/>
              <a:cs typeface="Arial"/>
              <a:sym typeface="Arial"/>
            </a:endParaRPr>
          </a:p>
          <a:p>
            <a:pPr marL="171450" lvl="0" indent="-171450" algn="l" rtl="0">
              <a:spcBef>
                <a:spcPts val="0"/>
              </a:spcBef>
              <a:spcAft>
                <a:spcPts val="0"/>
              </a:spcAft>
              <a:buFontTx/>
              <a:buChar char="-"/>
            </a:pPr>
            <a:br>
              <a:rPr lang="en-US" sz="1100" b="0" i="0" u="none" strike="noStrike" cap="none">
                <a:solidFill>
                  <a:srgbClr val="000000"/>
                </a:solidFill>
                <a:effectLst/>
                <a:latin typeface="Arial"/>
                <a:ea typeface="Arial"/>
                <a:cs typeface="Arial"/>
                <a:sym typeface="Arial"/>
              </a:rPr>
            </a:br>
            <a:endParaRPr lang="en-US"/>
          </a:p>
        </p:txBody>
      </p:sp>
      <p:sp>
        <p:nvSpPr>
          <p:cNvPr id="522" name="Google Shape;522;p16:notes">
            <a:extLst>
              <a:ext uri="{FF2B5EF4-FFF2-40B4-BE49-F238E27FC236}">
                <a16:creationId xmlns:a16="http://schemas.microsoft.com/office/drawing/2014/main" id="{AC435EB2-C1DB-958E-86D8-FEADDD881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4135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3"/>
          <p:cNvGrpSpPr/>
          <p:nvPr/>
        </p:nvGrpSpPr>
        <p:grpSpPr>
          <a:xfrm>
            <a:off x="864552" y="653796"/>
            <a:ext cx="16559006" cy="8798640"/>
            <a:chOff x="0" y="-47625"/>
            <a:chExt cx="4361191" cy="2317322"/>
          </a:xfrm>
        </p:grpSpPr>
        <p:sp>
          <p:nvSpPr>
            <p:cNvPr id="11" name="Google Shape;11;p3"/>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 name="Google Shape;13;p3"/>
          <p:cNvSpPr txBox="1">
            <a:spLocks noGrp="1"/>
          </p:cNvSpPr>
          <p:nvPr>
            <p:ph type="ctrTitle"/>
          </p:nvPr>
        </p:nvSpPr>
        <p:spPr>
          <a:xfrm>
            <a:off x="2791350" y="1555250"/>
            <a:ext cx="127053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3"/>
          <p:cNvSpPr txBox="1">
            <a:spLocks noGrp="1"/>
          </p:cNvSpPr>
          <p:nvPr>
            <p:ph type="subTitle" idx="1"/>
          </p:nvPr>
        </p:nvSpPr>
        <p:spPr>
          <a:xfrm>
            <a:off x="4825200" y="5053800"/>
            <a:ext cx="86376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chemeClr val="lt1"/>
              </a:buClr>
              <a:buSzPts val="3200"/>
              <a:buNone/>
              <a:defRPr>
                <a:solidFill>
                  <a:schemeClr val="lt1"/>
                </a:solidFill>
              </a:defRPr>
            </a:lvl1pPr>
            <a:lvl2pPr lvl="1" algn="ctr">
              <a:spcBef>
                <a:spcPts val="560"/>
              </a:spcBef>
              <a:spcAft>
                <a:spcPts val="0"/>
              </a:spcAft>
              <a:buClr>
                <a:schemeClr val="lt1"/>
              </a:buClr>
              <a:buSzPts val="2800"/>
              <a:buNone/>
              <a:defRPr>
                <a:solidFill>
                  <a:schemeClr val="lt1"/>
                </a:solidFill>
              </a:defRPr>
            </a:lvl2pPr>
            <a:lvl3pPr lvl="2" algn="ctr">
              <a:spcBef>
                <a:spcPts val="480"/>
              </a:spcBef>
              <a:spcAft>
                <a:spcPts val="0"/>
              </a:spcAft>
              <a:buClr>
                <a:schemeClr val="lt1"/>
              </a:buClr>
              <a:buSzPts val="2400"/>
              <a:buNone/>
              <a:defRPr>
                <a:solidFill>
                  <a:schemeClr val="lt1"/>
                </a:solidFill>
              </a:defRPr>
            </a:lvl3pPr>
            <a:lvl4pPr lvl="3" algn="ctr">
              <a:spcBef>
                <a:spcPts val="400"/>
              </a:spcBef>
              <a:spcAft>
                <a:spcPts val="0"/>
              </a:spcAft>
              <a:buClr>
                <a:schemeClr val="lt1"/>
              </a:buClr>
              <a:buSzPts val="2000"/>
              <a:buNone/>
              <a:defRPr>
                <a:solidFill>
                  <a:schemeClr val="lt1"/>
                </a:solidFill>
              </a:defRPr>
            </a:lvl4pPr>
            <a:lvl5pPr lvl="4" algn="ctr">
              <a:spcBef>
                <a:spcPts val="400"/>
              </a:spcBef>
              <a:spcAft>
                <a:spcPts val="0"/>
              </a:spcAft>
              <a:buClr>
                <a:schemeClr val="lt1"/>
              </a:buClr>
              <a:buSzPts val="2000"/>
              <a:buNone/>
              <a:defRPr>
                <a:solidFill>
                  <a:schemeClr val="lt1"/>
                </a:solidFill>
              </a:defRPr>
            </a:lvl5pPr>
            <a:lvl6pPr lvl="5" algn="ctr">
              <a:spcBef>
                <a:spcPts val="400"/>
              </a:spcBef>
              <a:spcAft>
                <a:spcPts val="0"/>
              </a:spcAft>
              <a:buClr>
                <a:schemeClr val="lt1"/>
              </a:buClr>
              <a:buSzPts val="2000"/>
              <a:buNone/>
              <a:defRPr>
                <a:solidFill>
                  <a:schemeClr val="lt1"/>
                </a:solidFill>
              </a:defRPr>
            </a:lvl6pPr>
            <a:lvl7pPr lvl="6" algn="ctr">
              <a:spcBef>
                <a:spcPts val="400"/>
              </a:spcBef>
              <a:spcAft>
                <a:spcPts val="0"/>
              </a:spcAft>
              <a:buClr>
                <a:schemeClr val="lt1"/>
              </a:buClr>
              <a:buSzPts val="2000"/>
              <a:buNone/>
              <a:defRPr>
                <a:solidFill>
                  <a:schemeClr val="lt1"/>
                </a:solidFill>
              </a:defRPr>
            </a:lvl7pPr>
            <a:lvl8pPr lvl="7" algn="ctr">
              <a:spcBef>
                <a:spcPts val="400"/>
              </a:spcBef>
              <a:spcAft>
                <a:spcPts val="0"/>
              </a:spcAft>
              <a:buClr>
                <a:schemeClr val="lt1"/>
              </a:buClr>
              <a:buSzPts val="2000"/>
              <a:buNone/>
              <a:defRPr>
                <a:solidFill>
                  <a:schemeClr val="lt1"/>
                </a:solidFill>
              </a:defRPr>
            </a:lvl8pPr>
            <a:lvl9pPr lvl="8" algn="ctr">
              <a:spcBef>
                <a:spcPts val="400"/>
              </a:spcBef>
              <a:spcAft>
                <a:spcPts val="0"/>
              </a:spcAft>
              <a:buClr>
                <a:schemeClr val="lt1"/>
              </a:buClr>
              <a:buSzPts val="2000"/>
              <a:buNone/>
              <a:defRPr>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grpSp>
        <p:nvGrpSpPr>
          <p:cNvPr id="16" name="Google Shape;16;p4"/>
          <p:cNvGrpSpPr/>
          <p:nvPr/>
        </p:nvGrpSpPr>
        <p:grpSpPr>
          <a:xfrm>
            <a:off x="864552" y="653796"/>
            <a:ext cx="16559006" cy="8798640"/>
            <a:chOff x="0" y="-47625"/>
            <a:chExt cx="4361191" cy="2317322"/>
          </a:xfrm>
        </p:grpSpPr>
        <p:sp>
          <p:nvSpPr>
            <p:cNvPr id="17" name="Google Shape;17;p4"/>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 name="Google Shape;19;p4"/>
          <p:cNvSpPr txBox="1">
            <a:spLocks noGrp="1"/>
          </p:cNvSpPr>
          <p:nvPr>
            <p:ph type="title"/>
          </p:nvPr>
        </p:nvSpPr>
        <p:spPr>
          <a:xfrm>
            <a:off x="2742350" y="1739925"/>
            <a:ext cx="12803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5029200" y="44588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grpSp>
        <p:nvGrpSpPr>
          <p:cNvPr id="22" name="Google Shape;22;p5"/>
          <p:cNvGrpSpPr/>
          <p:nvPr/>
        </p:nvGrpSpPr>
        <p:grpSpPr>
          <a:xfrm>
            <a:off x="864552" y="653796"/>
            <a:ext cx="16559006" cy="8798640"/>
            <a:chOff x="0" y="-47625"/>
            <a:chExt cx="4361191" cy="2317322"/>
          </a:xfrm>
        </p:grpSpPr>
        <p:sp>
          <p:nvSpPr>
            <p:cNvPr id="23" name="Google Shape;23;p5"/>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 name="Google Shape;25;p5"/>
          <p:cNvSpPr txBox="1">
            <a:spLocks noGrp="1"/>
          </p:cNvSpPr>
          <p:nvPr>
            <p:ph type="title"/>
          </p:nvPr>
        </p:nvSpPr>
        <p:spPr>
          <a:xfrm>
            <a:off x="2004360" y="823700"/>
            <a:ext cx="14279400" cy="1362000"/>
          </a:xfrm>
          <a:prstGeom prst="rect">
            <a:avLst/>
          </a:prstGeom>
          <a:noFill/>
          <a:ln>
            <a:noFill/>
          </a:ln>
        </p:spPr>
        <p:txBody>
          <a:bodyPr spcFirstLastPara="1" wrap="square" lIns="91425" tIns="45700" rIns="91425" bIns="45700" anchor="t" anchorCtr="0">
            <a:normAutofit/>
          </a:bodyPr>
          <a:lstStyle>
            <a:lvl1pPr lvl="0">
              <a:spcBef>
                <a:spcPts val="0"/>
              </a:spcBef>
              <a:spcAft>
                <a:spcPts val="0"/>
              </a:spcAft>
              <a:buClr>
                <a:schemeClr val="dk1"/>
              </a:buClr>
              <a:buSzPts val="9000"/>
              <a:buFont typeface="Calibri"/>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5"/>
          <p:cNvSpPr txBox="1">
            <a:spLocks noGrp="1"/>
          </p:cNvSpPr>
          <p:nvPr>
            <p:ph type="body" idx="1"/>
          </p:nvPr>
        </p:nvSpPr>
        <p:spPr>
          <a:xfrm>
            <a:off x="5352463" y="631886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400"/>
              <a:buNone/>
              <a:defRPr/>
            </a:lvl1pPr>
            <a:lvl2pPr marL="914400" lvl="1" indent="-228600" algn="l">
              <a:spcBef>
                <a:spcPts val="360"/>
              </a:spcBef>
              <a:spcAft>
                <a:spcPts val="0"/>
              </a:spcAft>
              <a:buSzPts val="2400"/>
              <a:buNone/>
              <a:defRPr/>
            </a:lvl2pPr>
            <a:lvl3pPr marL="1371600" lvl="2" indent="-228600" algn="l">
              <a:spcBef>
                <a:spcPts val="320"/>
              </a:spcBef>
              <a:spcAft>
                <a:spcPts val="0"/>
              </a:spcAft>
              <a:buSzPts val="2400"/>
              <a:buNone/>
              <a:defRPr/>
            </a:lvl3pPr>
            <a:lvl4pPr marL="1828800" lvl="3" indent="-228600" algn="l">
              <a:spcBef>
                <a:spcPts val="280"/>
              </a:spcBef>
              <a:spcAft>
                <a:spcPts val="0"/>
              </a:spcAft>
              <a:buSzPts val="2400"/>
              <a:buNone/>
              <a:defRPr/>
            </a:lvl4pPr>
            <a:lvl5pPr marL="2286000" lvl="4" indent="-228600" algn="l">
              <a:spcBef>
                <a:spcPts val="280"/>
              </a:spcBef>
              <a:spcAft>
                <a:spcPts val="0"/>
              </a:spcAft>
              <a:buSzPts val="2400"/>
              <a:buNone/>
              <a:defRPr/>
            </a:lvl5pPr>
            <a:lvl6pPr marL="2743200" lvl="5" indent="-228600" algn="l">
              <a:spcBef>
                <a:spcPts val="280"/>
              </a:spcBef>
              <a:spcAft>
                <a:spcPts val="0"/>
              </a:spcAft>
              <a:buSzPts val="2400"/>
              <a:buNone/>
              <a:defRPr/>
            </a:lvl6pPr>
            <a:lvl7pPr marL="3200400" lvl="6" indent="-228600" algn="l">
              <a:spcBef>
                <a:spcPts val="280"/>
              </a:spcBef>
              <a:spcAft>
                <a:spcPts val="0"/>
              </a:spcAft>
              <a:buSzPts val="2400"/>
              <a:buNone/>
              <a:defRPr/>
            </a:lvl7pPr>
            <a:lvl8pPr marL="3657600" lvl="7" indent="-228600" algn="l">
              <a:spcBef>
                <a:spcPts val="280"/>
              </a:spcBef>
              <a:spcAft>
                <a:spcPts val="0"/>
              </a:spcAft>
              <a:buSzPts val="2400"/>
              <a:buNone/>
              <a:defRPr/>
            </a:lvl8pPr>
            <a:lvl9pPr marL="4114800" lvl="8" indent="-228600" algn="l">
              <a:spcBef>
                <a:spcPts val="280"/>
              </a:spcBef>
              <a:spcAft>
                <a:spcPts val="0"/>
              </a:spcAft>
              <a:buSzPts val="2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grpSp>
        <p:nvGrpSpPr>
          <p:cNvPr id="28" name="Google Shape;28;p6"/>
          <p:cNvGrpSpPr/>
          <p:nvPr/>
        </p:nvGrpSpPr>
        <p:grpSpPr>
          <a:xfrm>
            <a:off x="864552" y="653796"/>
            <a:ext cx="16559006" cy="8798640"/>
            <a:chOff x="0" y="-47625"/>
            <a:chExt cx="4361191" cy="2317322"/>
          </a:xfrm>
        </p:grpSpPr>
        <p:sp>
          <p:nvSpPr>
            <p:cNvPr id="29" name="Google Shape;29;p6"/>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 name="Google Shape;31;p6"/>
          <p:cNvSpPr txBox="1">
            <a:spLocks noGrp="1"/>
          </p:cNvSpPr>
          <p:nvPr>
            <p:ph type="title"/>
          </p:nvPr>
        </p:nvSpPr>
        <p:spPr>
          <a:xfrm>
            <a:off x="2742350" y="1663725"/>
            <a:ext cx="12803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6"/>
          <p:cNvSpPr txBox="1">
            <a:spLocks noGrp="1"/>
          </p:cNvSpPr>
          <p:nvPr>
            <p:ph type="body" idx="1"/>
          </p:nvPr>
        </p:nvSpPr>
        <p:spPr>
          <a:xfrm>
            <a:off x="2843000" y="4478950"/>
            <a:ext cx="62832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
        <p:nvSpPr>
          <p:cNvPr id="33" name="Google Shape;33;p6"/>
          <p:cNvSpPr txBox="1">
            <a:spLocks noGrp="1"/>
          </p:cNvSpPr>
          <p:nvPr>
            <p:ph type="body" idx="2"/>
          </p:nvPr>
        </p:nvSpPr>
        <p:spPr>
          <a:xfrm>
            <a:off x="9363250" y="4478950"/>
            <a:ext cx="62832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grpSp>
        <p:nvGrpSpPr>
          <p:cNvPr id="35" name="Google Shape;35;p7"/>
          <p:cNvGrpSpPr/>
          <p:nvPr/>
        </p:nvGrpSpPr>
        <p:grpSpPr>
          <a:xfrm>
            <a:off x="864552" y="653796"/>
            <a:ext cx="16559006" cy="8798640"/>
            <a:chOff x="0" y="-47625"/>
            <a:chExt cx="4361191" cy="2317322"/>
          </a:xfrm>
        </p:grpSpPr>
        <p:sp>
          <p:nvSpPr>
            <p:cNvPr id="36" name="Google Shape;36;p7"/>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7"/>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 name="Google Shape;38;p7"/>
          <p:cNvSpPr txBox="1">
            <a:spLocks noGrp="1"/>
          </p:cNvSpPr>
          <p:nvPr>
            <p:ph type="title"/>
          </p:nvPr>
        </p:nvSpPr>
        <p:spPr>
          <a:xfrm>
            <a:off x="2742350" y="1663725"/>
            <a:ext cx="12803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
          <p:cNvSpPr txBox="1">
            <a:spLocks noGrp="1"/>
          </p:cNvSpPr>
          <p:nvPr>
            <p:ph type="body" idx="1"/>
          </p:nvPr>
        </p:nvSpPr>
        <p:spPr>
          <a:xfrm>
            <a:off x="3627600" y="4630875"/>
            <a:ext cx="55344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lvl1pPr>
            <a:lvl2pPr marL="914400" lvl="1" indent="-381000" algn="l" rtl="0">
              <a:spcBef>
                <a:spcPts val="400"/>
              </a:spcBef>
              <a:spcAft>
                <a:spcPts val="0"/>
              </a:spcAft>
              <a:buClr>
                <a:schemeClr val="dk1"/>
              </a:buClr>
              <a:buSzPts val="2400"/>
              <a:buChar char="–"/>
              <a:defRPr/>
            </a:lvl2pPr>
            <a:lvl3pPr marL="1371600" lvl="2" indent="-381000" algn="l" rtl="0">
              <a:spcBef>
                <a:spcPts val="360"/>
              </a:spcBef>
              <a:spcAft>
                <a:spcPts val="0"/>
              </a:spcAft>
              <a:buClr>
                <a:schemeClr val="dk1"/>
              </a:buClr>
              <a:buSzPts val="2400"/>
              <a:buChar char="•"/>
              <a:defRPr/>
            </a:lvl3pPr>
            <a:lvl4pPr marL="1828800" lvl="3" indent="-381000" algn="l" rtl="0">
              <a:spcBef>
                <a:spcPts val="320"/>
              </a:spcBef>
              <a:spcAft>
                <a:spcPts val="0"/>
              </a:spcAft>
              <a:buClr>
                <a:schemeClr val="dk1"/>
              </a:buClr>
              <a:buSzPts val="2400"/>
              <a:buChar char="–"/>
              <a:defRPr/>
            </a:lvl4pPr>
            <a:lvl5pPr marL="2286000" lvl="4" indent="-381000" algn="l" rtl="0">
              <a:spcBef>
                <a:spcPts val="320"/>
              </a:spcBef>
              <a:spcAft>
                <a:spcPts val="0"/>
              </a:spcAft>
              <a:buClr>
                <a:schemeClr val="dk1"/>
              </a:buClr>
              <a:buSzPts val="2400"/>
              <a:buChar char="»"/>
              <a:defRPr/>
            </a:lvl5pPr>
            <a:lvl6pPr marL="2743200" lvl="5" indent="-381000" algn="l" rtl="0">
              <a:spcBef>
                <a:spcPts val="320"/>
              </a:spcBef>
              <a:spcAft>
                <a:spcPts val="0"/>
              </a:spcAft>
              <a:buClr>
                <a:schemeClr val="dk1"/>
              </a:buClr>
              <a:buSzPts val="2400"/>
              <a:buChar char="•"/>
              <a:defRPr/>
            </a:lvl6pPr>
            <a:lvl7pPr marL="3200400" lvl="6" indent="-381000" algn="l" rtl="0">
              <a:spcBef>
                <a:spcPts val="320"/>
              </a:spcBef>
              <a:spcAft>
                <a:spcPts val="0"/>
              </a:spcAft>
              <a:buClr>
                <a:schemeClr val="dk1"/>
              </a:buClr>
              <a:buSzPts val="2400"/>
              <a:buChar char="•"/>
              <a:defRPr/>
            </a:lvl7pPr>
            <a:lvl8pPr marL="3657600" lvl="7" indent="-381000" algn="l" rtl="0">
              <a:spcBef>
                <a:spcPts val="320"/>
              </a:spcBef>
              <a:spcAft>
                <a:spcPts val="0"/>
              </a:spcAft>
              <a:buClr>
                <a:schemeClr val="dk1"/>
              </a:buClr>
              <a:buSzPts val="2400"/>
              <a:buChar char="•"/>
              <a:defRPr/>
            </a:lvl8pPr>
            <a:lvl9pPr marL="4114800" lvl="8" indent="-381000" algn="l" rtl="0">
              <a:spcBef>
                <a:spcPts val="320"/>
              </a:spcBef>
              <a:spcAft>
                <a:spcPts val="0"/>
              </a:spcAft>
              <a:buClr>
                <a:schemeClr val="dk1"/>
              </a:buClr>
              <a:buSzPts val="2400"/>
              <a:buChar char="•"/>
              <a:defRPr/>
            </a:lvl9pPr>
          </a:lstStyle>
          <a:p>
            <a:endParaRPr/>
          </a:p>
        </p:txBody>
      </p:sp>
      <p:sp>
        <p:nvSpPr>
          <p:cNvPr id="40" name="Google Shape;40;p7"/>
          <p:cNvSpPr txBox="1">
            <a:spLocks noGrp="1"/>
          </p:cNvSpPr>
          <p:nvPr>
            <p:ph type="body" idx="2"/>
          </p:nvPr>
        </p:nvSpPr>
        <p:spPr>
          <a:xfrm>
            <a:off x="9364232" y="4630875"/>
            <a:ext cx="553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lvl1pPr>
            <a:lvl2pPr marL="914400" lvl="1" indent="-381000" algn="l" rtl="0">
              <a:spcBef>
                <a:spcPts val="400"/>
              </a:spcBef>
              <a:spcAft>
                <a:spcPts val="0"/>
              </a:spcAft>
              <a:buClr>
                <a:schemeClr val="dk1"/>
              </a:buClr>
              <a:buSzPts val="2400"/>
              <a:buChar char="–"/>
              <a:defRPr/>
            </a:lvl2pPr>
            <a:lvl3pPr marL="1371600" lvl="2" indent="-381000" algn="l" rtl="0">
              <a:spcBef>
                <a:spcPts val="360"/>
              </a:spcBef>
              <a:spcAft>
                <a:spcPts val="0"/>
              </a:spcAft>
              <a:buClr>
                <a:schemeClr val="dk1"/>
              </a:buClr>
              <a:buSzPts val="2400"/>
              <a:buChar char="•"/>
              <a:defRPr/>
            </a:lvl3pPr>
            <a:lvl4pPr marL="1828800" lvl="3" indent="-381000" algn="l" rtl="0">
              <a:spcBef>
                <a:spcPts val="320"/>
              </a:spcBef>
              <a:spcAft>
                <a:spcPts val="0"/>
              </a:spcAft>
              <a:buClr>
                <a:schemeClr val="dk1"/>
              </a:buClr>
              <a:buSzPts val="2400"/>
              <a:buChar char="–"/>
              <a:defRPr/>
            </a:lvl4pPr>
            <a:lvl5pPr marL="2286000" lvl="4" indent="-381000" algn="l" rtl="0">
              <a:spcBef>
                <a:spcPts val="320"/>
              </a:spcBef>
              <a:spcAft>
                <a:spcPts val="0"/>
              </a:spcAft>
              <a:buClr>
                <a:schemeClr val="dk1"/>
              </a:buClr>
              <a:buSzPts val="2400"/>
              <a:buChar char="»"/>
              <a:defRPr/>
            </a:lvl5pPr>
            <a:lvl6pPr marL="2743200" lvl="5" indent="-381000" algn="l" rtl="0">
              <a:spcBef>
                <a:spcPts val="320"/>
              </a:spcBef>
              <a:spcAft>
                <a:spcPts val="0"/>
              </a:spcAft>
              <a:buClr>
                <a:schemeClr val="dk1"/>
              </a:buClr>
              <a:buSzPts val="2400"/>
              <a:buChar char="•"/>
              <a:defRPr/>
            </a:lvl6pPr>
            <a:lvl7pPr marL="3200400" lvl="6" indent="-381000" algn="l" rtl="0">
              <a:spcBef>
                <a:spcPts val="320"/>
              </a:spcBef>
              <a:spcAft>
                <a:spcPts val="0"/>
              </a:spcAft>
              <a:buClr>
                <a:schemeClr val="dk1"/>
              </a:buClr>
              <a:buSzPts val="2400"/>
              <a:buChar char="•"/>
              <a:defRPr/>
            </a:lvl7pPr>
            <a:lvl8pPr marL="3657600" lvl="7" indent="-381000" algn="l" rtl="0">
              <a:spcBef>
                <a:spcPts val="320"/>
              </a:spcBef>
              <a:spcAft>
                <a:spcPts val="0"/>
              </a:spcAft>
              <a:buClr>
                <a:schemeClr val="dk1"/>
              </a:buClr>
              <a:buSzPts val="2400"/>
              <a:buChar char="•"/>
              <a:defRPr/>
            </a:lvl8pPr>
            <a:lvl9pPr marL="4114800" lvl="8" indent="-381000" algn="l" rtl="0">
              <a:spcBef>
                <a:spcPts val="320"/>
              </a:spcBef>
              <a:spcAft>
                <a:spcPts val="0"/>
              </a:spcAft>
              <a:buClr>
                <a:schemeClr val="dk1"/>
              </a:buClr>
              <a:buSzPts val="2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grpSp>
        <p:nvGrpSpPr>
          <p:cNvPr id="42" name="Google Shape;42;p8"/>
          <p:cNvGrpSpPr/>
          <p:nvPr/>
        </p:nvGrpSpPr>
        <p:grpSpPr>
          <a:xfrm>
            <a:off x="864552" y="653796"/>
            <a:ext cx="16559006" cy="8798640"/>
            <a:chOff x="0" y="-47625"/>
            <a:chExt cx="4361191" cy="2317322"/>
          </a:xfrm>
        </p:grpSpPr>
        <p:sp>
          <p:nvSpPr>
            <p:cNvPr id="43" name="Google Shape;43;p8"/>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8"/>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 name="Google Shape;45;p8"/>
          <p:cNvSpPr txBox="1">
            <a:spLocks noGrp="1"/>
          </p:cNvSpPr>
          <p:nvPr>
            <p:ph type="title"/>
          </p:nvPr>
        </p:nvSpPr>
        <p:spPr>
          <a:xfrm>
            <a:off x="2742350" y="1663725"/>
            <a:ext cx="128034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grpSp>
        <p:nvGrpSpPr>
          <p:cNvPr id="47" name="Google Shape;47;p9"/>
          <p:cNvGrpSpPr/>
          <p:nvPr/>
        </p:nvGrpSpPr>
        <p:grpSpPr>
          <a:xfrm>
            <a:off x="864552" y="653796"/>
            <a:ext cx="16559006" cy="8798640"/>
            <a:chOff x="0" y="-47625"/>
            <a:chExt cx="4361191" cy="2317322"/>
          </a:xfrm>
        </p:grpSpPr>
        <p:sp>
          <p:nvSpPr>
            <p:cNvPr id="48" name="Google Shape;48;p9"/>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9"/>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0" name="Google Shape;50;p9"/>
          <p:cNvSpPr txBox="1">
            <a:spLocks noGrp="1"/>
          </p:cNvSpPr>
          <p:nvPr>
            <p:ph type="title"/>
          </p:nvPr>
        </p:nvSpPr>
        <p:spPr>
          <a:xfrm>
            <a:off x="1922450" y="2582300"/>
            <a:ext cx="14343300" cy="11619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None/>
              <a:defRPr/>
            </a:lvl1pPr>
            <a:lvl2pPr lvl="1" algn="ctr">
              <a:spcBef>
                <a:spcPts val="0"/>
              </a:spcBef>
              <a:spcAft>
                <a:spcPts val="0"/>
              </a:spcAft>
              <a:buSzPts val="9000"/>
              <a:buFont typeface="Chakra Petch"/>
              <a:buNone/>
              <a:defRPr sz="9000">
                <a:latin typeface="Chakra Petch"/>
                <a:ea typeface="Chakra Petch"/>
                <a:cs typeface="Chakra Petch"/>
                <a:sym typeface="Chakra Petch"/>
              </a:defRPr>
            </a:lvl2pPr>
            <a:lvl3pPr lvl="2" algn="ctr">
              <a:spcBef>
                <a:spcPts val="0"/>
              </a:spcBef>
              <a:spcAft>
                <a:spcPts val="0"/>
              </a:spcAft>
              <a:buSzPts val="9000"/>
              <a:buFont typeface="Chakra Petch"/>
              <a:buNone/>
              <a:defRPr sz="9000">
                <a:latin typeface="Chakra Petch"/>
                <a:ea typeface="Chakra Petch"/>
                <a:cs typeface="Chakra Petch"/>
                <a:sym typeface="Chakra Petch"/>
              </a:defRPr>
            </a:lvl3pPr>
            <a:lvl4pPr lvl="3" algn="ctr">
              <a:spcBef>
                <a:spcPts val="0"/>
              </a:spcBef>
              <a:spcAft>
                <a:spcPts val="0"/>
              </a:spcAft>
              <a:buSzPts val="9000"/>
              <a:buFont typeface="Chakra Petch"/>
              <a:buNone/>
              <a:defRPr sz="9000">
                <a:latin typeface="Chakra Petch"/>
                <a:ea typeface="Chakra Petch"/>
                <a:cs typeface="Chakra Petch"/>
                <a:sym typeface="Chakra Petch"/>
              </a:defRPr>
            </a:lvl4pPr>
            <a:lvl5pPr lvl="4" algn="ctr">
              <a:spcBef>
                <a:spcPts val="0"/>
              </a:spcBef>
              <a:spcAft>
                <a:spcPts val="0"/>
              </a:spcAft>
              <a:buSzPts val="9000"/>
              <a:buFont typeface="Chakra Petch"/>
              <a:buNone/>
              <a:defRPr sz="9000">
                <a:latin typeface="Chakra Petch"/>
                <a:ea typeface="Chakra Petch"/>
                <a:cs typeface="Chakra Petch"/>
                <a:sym typeface="Chakra Petch"/>
              </a:defRPr>
            </a:lvl5pPr>
            <a:lvl6pPr lvl="5" algn="ctr">
              <a:spcBef>
                <a:spcPts val="0"/>
              </a:spcBef>
              <a:spcAft>
                <a:spcPts val="0"/>
              </a:spcAft>
              <a:buSzPts val="9000"/>
              <a:buFont typeface="Chakra Petch"/>
              <a:buNone/>
              <a:defRPr sz="9000">
                <a:latin typeface="Chakra Petch"/>
                <a:ea typeface="Chakra Petch"/>
                <a:cs typeface="Chakra Petch"/>
                <a:sym typeface="Chakra Petch"/>
              </a:defRPr>
            </a:lvl6pPr>
            <a:lvl7pPr lvl="6" algn="ctr">
              <a:spcBef>
                <a:spcPts val="0"/>
              </a:spcBef>
              <a:spcAft>
                <a:spcPts val="0"/>
              </a:spcAft>
              <a:buSzPts val="9000"/>
              <a:buFont typeface="Chakra Petch"/>
              <a:buNone/>
              <a:defRPr sz="9000">
                <a:latin typeface="Chakra Petch"/>
                <a:ea typeface="Chakra Petch"/>
                <a:cs typeface="Chakra Petch"/>
                <a:sym typeface="Chakra Petch"/>
              </a:defRPr>
            </a:lvl7pPr>
            <a:lvl8pPr lvl="7" algn="ctr">
              <a:spcBef>
                <a:spcPts val="0"/>
              </a:spcBef>
              <a:spcAft>
                <a:spcPts val="0"/>
              </a:spcAft>
              <a:buSzPts val="9000"/>
              <a:buFont typeface="Chakra Petch"/>
              <a:buNone/>
              <a:defRPr sz="9000">
                <a:latin typeface="Chakra Petch"/>
                <a:ea typeface="Chakra Petch"/>
                <a:cs typeface="Chakra Petch"/>
                <a:sym typeface="Chakra Petch"/>
              </a:defRPr>
            </a:lvl8pPr>
            <a:lvl9pPr lvl="8" algn="ctr">
              <a:spcBef>
                <a:spcPts val="0"/>
              </a:spcBef>
              <a:spcAft>
                <a:spcPts val="0"/>
              </a:spcAft>
              <a:buSzPts val="9000"/>
              <a:buFont typeface="Chakra Petch"/>
              <a:buNone/>
              <a:defRPr sz="9000">
                <a:latin typeface="Chakra Petch"/>
                <a:ea typeface="Chakra Petch"/>
                <a:cs typeface="Chakra Petch"/>
                <a:sym typeface="Chakra Petch"/>
              </a:defRPr>
            </a:lvl9pPr>
          </a:lstStyle>
          <a:p>
            <a:endParaRPr/>
          </a:p>
        </p:txBody>
      </p:sp>
      <p:sp>
        <p:nvSpPr>
          <p:cNvPr id="51" name="Google Shape;51;p9"/>
          <p:cNvSpPr txBox="1">
            <a:spLocks noGrp="1"/>
          </p:cNvSpPr>
          <p:nvPr>
            <p:ph type="body" idx="1"/>
          </p:nvPr>
        </p:nvSpPr>
        <p:spPr>
          <a:xfrm>
            <a:off x="9177900" y="4158350"/>
            <a:ext cx="5918400" cy="4107600"/>
          </a:xfrm>
          <a:prstGeom prst="rect">
            <a:avLst/>
          </a:prstGeom>
          <a:noFill/>
          <a:ln>
            <a:noFill/>
          </a:ln>
        </p:spPr>
        <p:txBody>
          <a:bodyPr spcFirstLastPara="1" wrap="square" lIns="91425" tIns="45700" rIns="91425" bIns="45700" anchor="t" anchorCtr="0">
            <a:normAutofit/>
          </a:bodyPr>
          <a:lstStyle>
            <a:lvl1pPr marL="457200" lvl="0" indent="-381000" algn="l">
              <a:spcBef>
                <a:spcPts val="640"/>
              </a:spcBef>
              <a:spcAft>
                <a:spcPts val="0"/>
              </a:spcAft>
              <a:buClr>
                <a:schemeClr val="lt1"/>
              </a:buClr>
              <a:buSzPts val="2400"/>
              <a:buChar char="•"/>
              <a:defRPr>
                <a:solidFill>
                  <a:schemeClr val="lt1"/>
                </a:solidFill>
              </a:defRPr>
            </a:lvl1pPr>
            <a:lvl2pPr marL="914400" lvl="1" indent="-381000" algn="l">
              <a:spcBef>
                <a:spcPts val="560"/>
              </a:spcBef>
              <a:spcAft>
                <a:spcPts val="0"/>
              </a:spcAft>
              <a:buClr>
                <a:schemeClr val="lt1"/>
              </a:buClr>
              <a:buSzPts val="2400"/>
              <a:buChar char="–"/>
              <a:defRPr>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81000" algn="l">
              <a:spcBef>
                <a:spcPts val="400"/>
              </a:spcBef>
              <a:spcAft>
                <a:spcPts val="0"/>
              </a:spcAft>
              <a:buClr>
                <a:schemeClr val="lt1"/>
              </a:buClr>
              <a:buSzPts val="2400"/>
              <a:buChar char="–"/>
              <a:defRPr>
                <a:solidFill>
                  <a:schemeClr val="lt1"/>
                </a:solidFill>
              </a:defRPr>
            </a:lvl4pPr>
            <a:lvl5pPr marL="2286000" lvl="4" indent="-381000" algn="l">
              <a:spcBef>
                <a:spcPts val="400"/>
              </a:spcBef>
              <a:spcAft>
                <a:spcPts val="0"/>
              </a:spcAft>
              <a:buClr>
                <a:schemeClr val="lt1"/>
              </a:buClr>
              <a:buSzPts val="2400"/>
              <a:buChar char="»"/>
              <a:defRPr>
                <a:solidFill>
                  <a:schemeClr val="lt1"/>
                </a:solidFill>
              </a:defRPr>
            </a:lvl5pPr>
            <a:lvl6pPr marL="2743200" lvl="5" indent="-381000" algn="l">
              <a:spcBef>
                <a:spcPts val="400"/>
              </a:spcBef>
              <a:spcAft>
                <a:spcPts val="0"/>
              </a:spcAft>
              <a:buClr>
                <a:schemeClr val="lt1"/>
              </a:buClr>
              <a:buSzPts val="2400"/>
              <a:buChar char="•"/>
              <a:defRPr>
                <a:solidFill>
                  <a:schemeClr val="lt1"/>
                </a:solidFill>
              </a:defRPr>
            </a:lvl6pPr>
            <a:lvl7pPr marL="3200400" lvl="6" indent="-381000" algn="l">
              <a:spcBef>
                <a:spcPts val="400"/>
              </a:spcBef>
              <a:spcAft>
                <a:spcPts val="0"/>
              </a:spcAft>
              <a:buClr>
                <a:schemeClr val="lt1"/>
              </a:buClr>
              <a:buSzPts val="2400"/>
              <a:buChar char="•"/>
              <a:defRPr>
                <a:solidFill>
                  <a:schemeClr val="lt1"/>
                </a:solidFill>
              </a:defRPr>
            </a:lvl7pPr>
            <a:lvl8pPr marL="3657600" lvl="7" indent="-381000" algn="l">
              <a:spcBef>
                <a:spcPts val="400"/>
              </a:spcBef>
              <a:spcAft>
                <a:spcPts val="0"/>
              </a:spcAft>
              <a:buClr>
                <a:schemeClr val="lt1"/>
              </a:buClr>
              <a:buSzPts val="2400"/>
              <a:buChar char="•"/>
              <a:defRPr>
                <a:solidFill>
                  <a:schemeClr val="lt1"/>
                </a:solidFill>
              </a:defRPr>
            </a:lvl8pPr>
            <a:lvl9pPr marL="4114800" lvl="8" indent="-381000" algn="l">
              <a:spcBef>
                <a:spcPts val="400"/>
              </a:spcBef>
              <a:spcAft>
                <a:spcPts val="0"/>
              </a:spcAft>
              <a:buClr>
                <a:schemeClr val="lt1"/>
              </a:buClr>
              <a:buSzPts val="2400"/>
              <a:buChar char="•"/>
              <a:defRPr>
                <a:solidFill>
                  <a:schemeClr val="lt1"/>
                </a:solidFill>
              </a:defRPr>
            </a:lvl9pPr>
          </a:lstStyle>
          <a:p>
            <a:endParaRPr/>
          </a:p>
        </p:txBody>
      </p:sp>
      <p:sp>
        <p:nvSpPr>
          <p:cNvPr id="52" name="Google Shape;52;p9"/>
          <p:cNvSpPr txBox="1">
            <a:spLocks noGrp="1"/>
          </p:cNvSpPr>
          <p:nvPr>
            <p:ph type="body" idx="2"/>
          </p:nvPr>
        </p:nvSpPr>
        <p:spPr>
          <a:xfrm>
            <a:off x="3091900" y="4253450"/>
            <a:ext cx="55965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lt1"/>
              </a:buClr>
              <a:buSzPts val="2400"/>
              <a:buNone/>
              <a:defRPr>
                <a:solidFill>
                  <a:schemeClr val="lt1"/>
                </a:solidFill>
              </a:defRPr>
            </a:lvl1pPr>
            <a:lvl2pPr marL="914400" lvl="1" indent="-228600" algn="l">
              <a:spcBef>
                <a:spcPts val="240"/>
              </a:spcBef>
              <a:spcAft>
                <a:spcPts val="0"/>
              </a:spcAft>
              <a:buClr>
                <a:schemeClr val="lt1"/>
              </a:buClr>
              <a:buSzPts val="2400"/>
              <a:buNone/>
              <a:defRPr>
                <a:solidFill>
                  <a:schemeClr val="lt1"/>
                </a:solidFill>
              </a:defRPr>
            </a:lvl2pPr>
            <a:lvl3pPr marL="1371600" lvl="2" indent="-228600" algn="l">
              <a:spcBef>
                <a:spcPts val="200"/>
              </a:spcBef>
              <a:spcAft>
                <a:spcPts val="0"/>
              </a:spcAft>
              <a:buClr>
                <a:schemeClr val="lt1"/>
              </a:buClr>
              <a:buSzPts val="2400"/>
              <a:buNone/>
              <a:defRPr>
                <a:solidFill>
                  <a:schemeClr val="lt1"/>
                </a:solidFill>
              </a:defRPr>
            </a:lvl3pPr>
            <a:lvl4pPr marL="1828800" lvl="3" indent="-228600" algn="l">
              <a:spcBef>
                <a:spcPts val="180"/>
              </a:spcBef>
              <a:spcAft>
                <a:spcPts val="0"/>
              </a:spcAft>
              <a:buClr>
                <a:schemeClr val="lt1"/>
              </a:buClr>
              <a:buSzPts val="2400"/>
              <a:buNone/>
              <a:defRPr>
                <a:solidFill>
                  <a:schemeClr val="lt1"/>
                </a:solidFill>
              </a:defRPr>
            </a:lvl4pPr>
            <a:lvl5pPr marL="2286000" lvl="4" indent="-228600" algn="l">
              <a:spcBef>
                <a:spcPts val="180"/>
              </a:spcBef>
              <a:spcAft>
                <a:spcPts val="0"/>
              </a:spcAft>
              <a:buClr>
                <a:schemeClr val="lt1"/>
              </a:buClr>
              <a:buSzPts val="2400"/>
              <a:buNone/>
              <a:defRPr>
                <a:solidFill>
                  <a:schemeClr val="lt1"/>
                </a:solidFill>
              </a:defRPr>
            </a:lvl5pPr>
            <a:lvl6pPr marL="2743200" lvl="5" indent="-228600" algn="l">
              <a:spcBef>
                <a:spcPts val="180"/>
              </a:spcBef>
              <a:spcAft>
                <a:spcPts val="0"/>
              </a:spcAft>
              <a:buClr>
                <a:schemeClr val="lt1"/>
              </a:buClr>
              <a:buSzPts val="2400"/>
              <a:buNone/>
              <a:defRPr>
                <a:solidFill>
                  <a:schemeClr val="lt1"/>
                </a:solidFill>
              </a:defRPr>
            </a:lvl6pPr>
            <a:lvl7pPr marL="3200400" lvl="6" indent="-228600" algn="l">
              <a:spcBef>
                <a:spcPts val="180"/>
              </a:spcBef>
              <a:spcAft>
                <a:spcPts val="0"/>
              </a:spcAft>
              <a:buClr>
                <a:schemeClr val="lt1"/>
              </a:buClr>
              <a:buSzPts val="2400"/>
              <a:buNone/>
              <a:defRPr>
                <a:solidFill>
                  <a:schemeClr val="lt1"/>
                </a:solidFill>
              </a:defRPr>
            </a:lvl7pPr>
            <a:lvl8pPr marL="3657600" lvl="7" indent="-228600" algn="l">
              <a:spcBef>
                <a:spcPts val="180"/>
              </a:spcBef>
              <a:spcAft>
                <a:spcPts val="0"/>
              </a:spcAft>
              <a:buClr>
                <a:schemeClr val="lt1"/>
              </a:buClr>
              <a:buSzPts val="2400"/>
              <a:buNone/>
              <a:defRPr>
                <a:solidFill>
                  <a:schemeClr val="lt1"/>
                </a:solidFill>
              </a:defRPr>
            </a:lvl8pPr>
            <a:lvl9pPr marL="4114800" lvl="8" indent="-228600" algn="l">
              <a:spcBef>
                <a:spcPts val="180"/>
              </a:spcBef>
              <a:spcAft>
                <a:spcPts val="0"/>
              </a:spcAft>
              <a:buClr>
                <a:schemeClr val="lt1"/>
              </a:buClr>
              <a:buSzPts val="2400"/>
              <a:buNone/>
              <a:defRPr>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grpSp>
        <p:nvGrpSpPr>
          <p:cNvPr id="54" name="Google Shape;54;p10"/>
          <p:cNvGrpSpPr/>
          <p:nvPr/>
        </p:nvGrpSpPr>
        <p:grpSpPr>
          <a:xfrm>
            <a:off x="864552" y="653796"/>
            <a:ext cx="16559006" cy="8798640"/>
            <a:chOff x="0" y="-47625"/>
            <a:chExt cx="4361191" cy="2317322"/>
          </a:xfrm>
        </p:grpSpPr>
        <p:sp>
          <p:nvSpPr>
            <p:cNvPr id="55" name="Google Shape;55;p10"/>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p:nvPr/>
          </p:nvSpPr>
          <p:spPr>
            <a:xfrm>
              <a:off x="0" y="-47625"/>
              <a:ext cx="4361100" cy="23172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 name="Google Shape;57;p10"/>
          <p:cNvSpPr txBox="1">
            <a:spLocks noGrp="1"/>
          </p:cNvSpPr>
          <p:nvPr>
            <p:ph type="title"/>
          </p:nvPr>
        </p:nvSpPr>
        <p:spPr>
          <a:xfrm>
            <a:off x="1778752" y="3214425"/>
            <a:ext cx="14578200" cy="566700"/>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9000"/>
              <a:buNone/>
              <a:defRPr/>
            </a:lvl1pPr>
            <a:lvl2pPr lvl="1" algn="ctr">
              <a:spcBef>
                <a:spcPts val="0"/>
              </a:spcBef>
              <a:spcAft>
                <a:spcPts val="0"/>
              </a:spcAft>
              <a:buSzPts val="9000"/>
              <a:buFont typeface="Chakra Petch"/>
              <a:buNone/>
              <a:defRPr sz="9000">
                <a:latin typeface="Chakra Petch"/>
                <a:ea typeface="Chakra Petch"/>
                <a:cs typeface="Chakra Petch"/>
                <a:sym typeface="Chakra Petch"/>
              </a:defRPr>
            </a:lvl2pPr>
            <a:lvl3pPr lvl="2" algn="ctr">
              <a:spcBef>
                <a:spcPts val="0"/>
              </a:spcBef>
              <a:spcAft>
                <a:spcPts val="0"/>
              </a:spcAft>
              <a:buSzPts val="9000"/>
              <a:buFont typeface="Chakra Petch"/>
              <a:buNone/>
              <a:defRPr sz="9000">
                <a:latin typeface="Chakra Petch"/>
                <a:ea typeface="Chakra Petch"/>
                <a:cs typeface="Chakra Petch"/>
                <a:sym typeface="Chakra Petch"/>
              </a:defRPr>
            </a:lvl3pPr>
            <a:lvl4pPr lvl="3" algn="ctr">
              <a:spcBef>
                <a:spcPts val="0"/>
              </a:spcBef>
              <a:spcAft>
                <a:spcPts val="0"/>
              </a:spcAft>
              <a:buSzPts val="9000"/>
              <a:buFont typeface="Chakra Petch"/>
              <a:buNone/>
              <a:defRPr sz="9000">
                <a:latin typeface="Chakra Petch"/>
                <a:ea typeface="Chakra Petch"/>
                <a:cs typeface="Chakra Petch"/>
                <a:sym typeface="Chakra Petch"/>
              </a:defRPr>
            </a:lvl4pPr>
            <a:lvl5pPr lvl="4" algn="ctr">
              <a:spcBef>
                <a:spcPts val="0"/>
              </a:spcBef>
              <a:spcAft>
                <a:spcPts val="0"/>
              </a:spcAft>
              <a:buSzPts val="9000"/>
              <a:buFont typeface="Chakra Petch"/>
              <a:buNone/>
              <a:defRPr sz="9000">
                <a:latin typeface="Chakra Petch"/>
                <a:ea typeface="Chakra Petch"/>
                <a:cs typeface="Chakra Petch"/>
                <a:sym typeface="Chakra Petch"/>
              </a:defRPr>
            </a:lvl5pPr>
            <a:lvl6pPr lvl="5" algn="ctr">
              <a:spcBef>
                <a:spcPts val="0"/>
              </a:spcBef>
              <a:spcAft>
                <a:spcPts val="0"/>
              </a:spcAft>
              <a:buSzPts val="9000"/>
              <a:buFont typeface="Chakra Petch"/>
              <a:buNone/>
              <a:defRPr sz="9000">
                <a:latin typeface="Chakra Petch"/>
                <a:ea typeface="Chakra Petch"/>
                <a:cs typeface="Chakra Petch"/>
                <a:sym typeface="Chakra Petch"/>
              </a:defRPr>
            </a:lvl6pPr>
            <a:lvl7pPr lvl="6" algn="ctr">
              <a:spcBef>
                <a:spcPts val="0"/>
              </a:spcBef>
              <a:spcAft>
                <a:spcPts val="0"/>
              </a:spcAft>
              <a:buSzPts val="9000"/>
              <a:buFont typeface="Chakra Petch"/>
              <a:buNone/>
              <a:defRPr sz="9000">
                <a:latin typeface="Chakra Petch"/>
                <a:ea typeface="Chakra Petch"/>
                <a:cs typeface="Chakra Petch"/>
                <a:sym typeface="Chakra Petch"/>
              </a:defRPr>
            </a:lvl7pPr>
            <a:lvl8pPr lvl="7" algn="ctr">
              <a:spcBef>
                <a:spcPts val="0"/>
              </a:spcBef>
              <a:spcAft>
                <a:spcPts val="0"/>
              </a:spcAft>
              <a:buSzPts val="9000"/>
              <a:buFont typeface="Chakra Petch"/>
              <a:buNone/>
              <a:defRPr sz="9000">
                <a:latin typeface="Chakra Petch"/>
                <a:ea typeface="Chakra Petch"/>
                <a:cs typeface="Chakra Petch"/>
                <a:sym typeface="Chakra Petch"/>
              </a:defRPr>
            </a:lvl8pPr>
            <a:lvl9pPr lvl="8" algn="ctr">
              <a:spcBef>
                <a:spcPts val="0"/>
              </a:spcBef>
              <a:spcAft>
                <a:spcPts val="0"/>
              </a:spcAft>
              <a:buSzPts val="9000"/>
              <a:buFont typeface="Chakra Petch"/>
              <a:buNone/>
              <a:defRPr sz="9000">
                <a:latin typeface="Chakra Petch"/>
                <a:ea typeface="Chakra Petch"/>
                <a:cs typeface="Chakra Petch"/>
                <a:sym typeface="Chakra Petch"/>
              </a:defRPr>
            </a:lvl9pPr>
          </a:lstStyle>
          <a:p>
            <a:endParaRPr/>
          </a:p>
        </p:txBody>
      </p:sp>
      <p:sp>
        <p:nvSpPr>
          <p:cNvPr id="58" name="Google Shape;58;p10"/>
          <p:cNvSpPr>
            <a:spLocks noGrp="1"/>
          </p:cNvSpPr>
          <p:nvPr>
            <p:ph type="pic" idx="2"/>
          </p:nvPr>
        </p:nvSpPr>
        <p:spPr>
          <a:xfrm>
            <a:off x="11136527" y="4656725"/>
            <a:ext cx="3933000" cy="2949600"/>
          </a:xfrm>
          <a:prstGeom prst="rect">
            <a:avLst/>
          </a:prstGeom>
          <a:noFill/>
          <a:ln>
            <a:noFill/>
          </a:ln>
        </p:spPr>
      </p:sp>
      <p:sp>
        <p:nvSpPr>
          <p:cNvPr id="59" name="Google Shape;59;p10"/>
          <p:cNvSpPr txBox="1">
            <a:spLocks noGrp="1"/>
          </p:cNvSpPr>
          <p:nvPr>
            <p:ph type="body" idx="1"/>
          </p:nvPr>
        </p:nvSpPr>
        <p:spPr>
          <a:xfrm>
            <a:off x="2667888" y="442118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lt1"/>
              </a:buClr>
              <a:buSzPts val="2400"/>
              <a:buNone/>
              <a:defRPr>
                <a:solidFill>
                  <a:schemeClr val="lt1"/>
                </a:solidFill>
              </a:defRPr>
            </a:lvl1pPr>
            <a:lvl2pPr marL="914400" lvl="1" indent="-228600" algn="l">
              <a:spcBef>
                <a:spcPts val="240"/>
              </a:spcBef>
              <a:spcAft>
                <a:spcPts val="0"/>
              </a:spcAft>
              <a:buClr>
                <a:schemeClr val="lt1"/>
              </a:buClr>
              <a:buSzPts val="2400"/>
              <a:buNone/>
              <a:defRPr>
                <a:solidFill>
                  <a:schemeClr val="lt1"/>
                </a:solidFill>
              </a:defRPr>
            </a:lvl2pPr>
            <a:lvl3pPr marL="1371600" lvl="2" indent="-228600" algn="l">
              <a:spcBef>
                <a:spcPts val="200"/>
              </a:spcBef>
              <a:spcAft>
                <a:spcPts val="0"/>
              </a:spcAft>
              <a:buClr>
                <a:schemeClr val="lt1"/>
              </a:buClr>
              <a:buSzPts val="2400"/>
              <a:buNone/>
              <a:defRPr>
                <a:solidFill>
                  <a:schemeClr val="lt1"/>
                </a:solidFill>
              </a:defRPr>
            </a:lvl3pPr>
            <a:lvl4pPr marL="1828800" lvl="3" indent="-228600" algn="l">
              <a:spcBef>
                <a:spcPts val="180"/>
              </a:spcBef>
              <a:spcAft>
                <a:spcPts val="0"/>
              </a:spcAft>
              <a:buClr>
                <a:schemeClr val="lt1"/>
              </a:buClr>
              <a:buSzPts val="2400"/>
              <a:buNone/>
              <a:defRPr>
                <a:solidFill>
                  <a:schemeClr val="lt1"/>
                </a:solidFill>
              </a:defRPr>
            </a:lvl4pPr>
            <a:lvl5pPr marL="2286000" lvl="4" indent="-228600" algn="l">
              <a:spcBef>
                <a:spcPts val="180"/>
              </a:spcBef>
              <a:spcAft>
                <a:spcPts val="0"/>
              </a:spcAft>
              <a:buClr>
                <a:schemeClr val="lt1"/>
              </a:buClr>
              <a:buSzPts val="2400"/>
              <a:buNone/>
              <a:defRPr>
                <a:solidFill>
                  <a:schemeClr val="lt1"/>
                </a:solidFill>
              </a:defRPr>
            </a:lvl5pPr>
            <a:lvl6pPr marL="2743200" lvl="5" indent="-228600" algn="l">
              <a:spcBef>
                <a:spcPts val="180"/>
              </a:spcBef>
              <a:spcAft>
                <a:spcPts val="0"/>
              </a:spcAft>
              <a:buClr>
                <a:schemeClr val="lt1"/>
              </a:buClr>
              <a:buSzPts val="2400"/>
              <a:buNone/>
              <a:defRPr>
                <a:solidFill>
                  <a:schemeClr val="lt1"/>
                </a:solidFill>
              </a:defRPr>
            </a:lvl6pPr>
            <a:lvl7pPr marL="3200400" lvl="6" indent="-228600" algn="l">
              <a:spcBef>
                <a:spcPts val="180"/>
              </a:spcBef>
              <a:spcAft>
                <a:spcPts val="0"/>
              </a:spcAft>
              <a:buClr>
                <a:schemeClr val="lt1"/>
              </a:buClr>
              <a:buSzPts val="2400"/>
              <a:buNone/>
              <a:defRPr>
                <a:solidFill>
                  <a:schemeClr val="lt1"/>
                </a:solidFill>
              </a:defRPr>
            </a:lvl7pPr>
            <a:lvl8pPr marL="3657600" lvl="7" indent="-228600" algn="l">
              <a:spcBef>
                <a:spcPts val="180"/>
              </a:spcBef>
              <a:spcAft>
                <a:spcPts val="0"/>
              </a:spcAft>
              <a:buClr>
                <a:schemeClr val="lt1"/>
              </a:buClr>
              <a:buSzPts val="2400"/>
              <a:buNone/>
              <a:defRPr>
                <a:solidFill>
                  <a:schemeClr val="lt1"/>
                </a:solidFill>
              </a:defRPr>
            </a:lvl8pPr>
            <a:lvl9pPr marL="4114800" lvl="8" indent="-228600" algn="l">
              <a:spcBef>
                <a:spcPts val="180"/>
              </a:spcBef>
              <a:spcAft>
                <a:spcPts val="0"/>
              </a:spcAft>
              <a:buClr>
                <a:schemeClr val="lt1"/>
              </a:buClr>
              <a:buSzPts val="2400"/>
              <a:buNone/>
              <a:defRPr>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742350" y="1663725"/>
            <a:ext cx="128034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accent1"/>
              </a:buClr>
              <a:buSzPts val="9000"/>
              <a:buFont typeface="Chakra Petch"/>
              <a:buNone/>
              <a:defRPr sz="9000" i="0" u="none" strike="noStrike" cap="none">
                <a:solidFill>
                  <a:schemeClr val="accent1"/>
                </a:solidFill>
                <a:latin typeface="Chakra Petch"/>
                <a:ea typeface="Chakra Petch"/>
                <a:cs typeface="Chakra Petch"/>
                <a:sym typeface="Chakra Petch"/>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029200" y="4458800"/>
            <a:ext cx="8229600" cy="45261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1pPr>
            <a:lvl2pPr marL="914400" marR="0" lvl="1" indent="-381000" algn="l" rtl="0">
              <a:spcBef>
                <a:spcPts val="56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2pPr>
            <a:lvl3pPr marL="1371600" marR="0" lvl="2" indent="-381000" algn="l" rtl="0">
              <a:spcBef>
                <a:spcPts val="48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3pPr>
            <a:lvl4pPr marL="1828800" marR="0" lvl="3"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4pPr>
            <a:lvl5pPr marL="2286000" marR="0" lvl="4"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5pPr>
            <a:lvl6pPr marL="2743200" marR="0" lvl="5"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6pPr>
            <a:lvl7pPr marL="3200400" marR="0" lvl="6"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7pPr>
            <a:lvl8pPr marL="3657600" marR="0" lvl="7"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8pPr>
            <a:lvl9pPr marL="4114800" marR="0" lvl="8" indent="-381000" algn="l" rtl="0">
              <a:spcBef>
                <a:spcPts val="400"/>
              </a:spcBef>
              <a:spcAft>
                <a:spcPts val="0"/>
              </a:spcAft>
              <a:buClr>
                <a:schemeClr val="lt1"/>
              </a:buClr>
              <a:buSzPts val="2400"/>
              <a:buFont typeface="Chakra Petch"/>
              <a:buChar char="•"/>
              <a:defRPr sz="2400" i="0" u="none" strike="noStrike" cap="none">
                <a:solidFill>
                  <a:schemeClr val="lt1"/>
                </a:solidFill>
                <a:latin typeface="Chakra Petch"/>
                <a:ea typeface="Chakra Petch"/>
                <a:cs typeface="Chakra Petch"/>
                <a:sym typeface="Chakra Petc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statista.com/statistics/266155/number-of-phishing-attacks-worldwide/"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sitepoint.com/random-forest-algorithm-in-machine-learning/" TargetMode="External"/><Relationship Id="rId5" Type="http://schemas.openxmlformats.org/officeDocument/2006/relationships/hyperlink" Target="https://data.mendeley.com/datasets/6tm2d6sz7p/1" TargetMode="External"/><Relationship Id="rId4" Type="http://schemas.openxmlformats.org/officeDocument/2006/relationships/hyperlink" Target="https://medium.com/data-science/https-medium-com-vishalmorde-xgboost-algorithm-long-she-may-rein-edd9f99be63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hook&#10;&#10;AI-generated content may be incorrect.">
            <a:extLst>
              <a:ext uri="{FF2B5EF4-FFF2-40B4-BE49-F238E27FC236}">
                <a16:creationId xmlns:a16="http://schemas.microsoft.com/office/drawing/2014/main" id="{854C0327-8E71-D5A9-C4B0-53A510AB23A2}"/>
              </a:ext>
            </a:extLst>
          </p:cNvPr>
          <p:cNvPicPr>
            <a:picLocks noChangeAspect="1"/>
          </p:cNvPicPr>
          <p:nvPr/>
        </p:nvPicPr>
        <p:blipFill>
          <a:blip r:embed="rId2"/>
          <a:stretch>
            <a:fillRect/>
          </a:stretch>
        </p:blipFill>
        <p:spPr>
          <a:xfrm>
            <a:off x="1275849" y="1199524"/>
            <a:ext cx="3526092" cy="3588160"/>
          </a:xfrm>
          <a:prstGeom prst="rect">
            <a:avLst/>
          </a:prstGeom>
        </p:spPr>
      </p:pic>
      <p:grpSp>
        <p:nvGrpSpPr>
          <p:cNvPr id="16" name="Google Shape;75;p11">
            <a:extLst>
              <a:ext uri="{FF2B5EF4-FFF2-40B4-BE49-F238E27FC236}">
                <a16:creationId xmlns:a16="http://schemas.microsoft.com/office/drawing/2014/main" id="{5134E5DA-C638-5F38-16BB-C63F0A308C03}"/>
              </a:ext>
            </a:extLst>
          </p:cNvPr>
          <p:cNvGrpSpPr/>
          <p:nvPr/>
        </p:nvGrpSpPr>
        <p:grpSpPr>
          <a:xfrm>
            <a:off x="14977666" y="8274386"/>
            <a:ext cx="2224406" cy="1120887"/>
            <a:chOff x="0" y="-156767"/>
            <a:chExt cx="2965875" cy="1494515"/>
          </a:xfrm>
        </p:grpSpPr>
        <p:grpSp>
          <p:nvGrpSpPr>
            <p:cNvPr id="7" name="Google Shape;76;p11">
              <a:extLst>
                <a:ext uri="{FF2B5EF4-FFF2-40B4-BE49-F238E27FC236}">
                  <a16:creationId xmlns:a16="http://schemas.microsoft.com/office/drawing/2014/main" id="{BD0199C1-BB28-22AD-8888-7EC8DB4DF342}"/>
                </a:ext>
              </a:extLst>
            </p:cNvPr>
            <p:cNvGrpSpPr/>
            <p:nvPr/>
          </p:nvGrpSpPr>
          <p:grpSpPr>
            <a:xfrm>
              <a:off x="2170400" y="-156767"/>
              <a:ext cx="795475" cy="1494515"/>
              <a:chOff x="0" y="-47625"/>
              <a:chExt cx="241661" cy="454025"/>
            </a:xfrm>
          </p:grpSpPr>
          <p:sp>
            <p:nvSpPr>
              <p:cNvPr id="14" name="Google Shape;77;p11">
                <a:extLst>
                  <a:ext uri="{FF2B5EF4-FFF2-40B4-BE49-F238E27FC236}">
                    <a16:creationId xmlns:a16="http://schemas.microsoft.com/office/drawing/2014/main" id="{B65FC4A0-09CA-A1E4-FBAD-0A0885DD9C3D}"/>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15" name="Google Shape;78;p11">
                <a:extLst>
                  <a:ext uri="{FF2B5EF4-FFF2-40B4-BE49-F238E27FC236}">
                    <a16:creationId xmlns:a16="http://schemas.microsoft.com/office/drawing/2014/main" id="{B10206CF-BF92-C029-36BB-1DE55F169895}"/>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79;p11">
              <a:extLst>
                <a:ext uri="{FF2B5EF4-FFF2-40B4-BE49-F238E27FC236}">
                  <a16:creationId xmlns:a16="http://schemas.microsoft.com/office/drawing/2014/main" id="{183A6E30-347C-63F2-5C04-565B74732DFE}"/>
                </a:ext>
              </a:extLst>
            </p:cNvPr>
            <p:cNvGrpSpPr/>
            <p:nvPr/>
          </p:nvGrpSpPr>
          <p:grpSpPr>
            <a:xfrm>
              <a:off x="1085200" y="-156767"/>
              <a:ext cx="795475" cy="1494515"/>
              <a:chOff x="0" y="-47625"/>
              <a:chExt cx="241661" cy="454025"/>
            </a:xfrm>
          </p:grpSpPr>
          <p:sp>
            <p:nvSpPr>
              <p:cNvPr id="12" name="Google Shape;80;p11">
                <a:extLst>
                  <a:ext uri="{FF2B5EF4-FFF2-40B4-BE49-F238E27FC236}">
                    <a16:creationId xmlns:a16="http://schemas.microsoft.com/office/drawing/2014/main" id="{4854438F-BFE6-53EE-2934-50E78BF1BA22}"/>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13" name="Google Shape;81;p11">
                <a:extLst>
                  <a:ext uri="{FF2B5EF4-FFF2-40B4-BE49-F238E27FC236}">
                    <a16:creationId xmlns:a16="http://schemas.microsoft.com/office/drawing/2014/main" id="{52B185A0-4969-C913-9F9F-3C2BEFB3F502}"/>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82;p11">
              <a:extLst>
                <a:ext uri="{FF2B5EF4-FFF2-40B4-BE49-F238E27FC236}">
                  <a16:creationId xmlns:a16="http://schemas.microsoft.com/office/drawing/2014/main" id="{B9D9AC59-75DE-0F23-72DD-D93AADD5624C}"/>
                </a:ext>
              </a:extLst>
            </p:cNvPr>
            <p:cNvGrpSpPr/>
            <p:nvPr/>
          </p:nvGrpSpPr>
          <p:grpSpPr>
            <a:xfrm>
              <a:off x="0" y="-156767"/>
              <a:ext cx="795475" cy="1494515"/>
              <a:chOff x="0" y="-47625"/>
              <a:chExt cx="241661" cy="454025"/>
            </a:xfrm>
          </p:grpSpPr>
          <p:sp>
            <p:nvSpPr>
              <p:cNvPr id="10" name="Google Shape;83;p11">
                <a:extLst>
                  <a:ext uri="{FF2B5EF4-FFF2-40B4-BE49-F238E27FC236}">
                    <a16:creationId xmlns:a16="http://schemas.microsoft.com/office/drawing/2014/main" id="{25A771B8-22DD-8E27-4436-CB2D8187A831}"/>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11" name="Google Shape;84;p11">
                <a:extLst>
                  <a:ext uri="{FF2B5EF4-FFF2-40B4-BE49-F238E27FC236}">
                    <a16:creationId xmlns:a16="http://schemas.microsoft.com/office/drawing/2014/main" id="{D9D7423C-0283-7FE3-42A3-431F5B2FE0C8}"/>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8" name="Google Shape;85;p11">
            <a:extLst>
              <a:ext uri="{FF2B5EF4-FFF2-40B4-BE49-F238E27FC236}">
                <a16:creationId xmlns:a16="http://schemas.microsoft.com/office/drawing/2014/main" id="{53DD5C26-A036-EC0D-75B2-E983D96B1B2B}"/>
              </a:ext>
            </a:extLst>
          </p:cNvPr>
          <p:cNvSpPr txBox="1"/>
          <p:nvPr/>
        </p:nvSpPr>
        <p:spPr>
          <a:xfrm>
            <a:off x="6222884" y="1707665"/>
            <a:ext cx="10070100" cy="5353389"/>
          </a:xfrm>
          <a:prstGeom prst="rect">
            <a:avLst/>
          </a:prstGeom>
          <a:noFill/>
          <a:ln>
            <a:noFill/>
          </a:ln>
        </p:spPr>
        <p:txBody>
          <a:bodyPr spcFirstLastPara="1" wrap="square" lIns="0" tIns="0" rIns="0" bIns="0" anchor="t" anchorCtr="0">
            <a:spAutoFit/>
          </a:bodyPr>
          <a:lstStyle/>
          <a:p>
            <a:pPr algn="ctr">
              <a:lnSpc>
                <a:spcPct val="104003"/>
              </a:lnSpc>
            </a:pPr>
            <a:r>
              <a:rPr lang="en-US" sz="1115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hakra Petch"/>
                <a:cs typeface="Chakra Petch"/>
              </a:rPr>
              <a:t>Phishing Detection</a:t>
            </a:r>
            <a:endParaRPr lang="en-US" sz="1115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ctr">
              <a:lnSpc>
                <a:spcPct val="104003"/>
              </a:lnSpc>
            </a:pPr>
            <a:endParaRPr lang="en-US" sz="11150" b="1">
              <a:solidFill>
                <a:srgbClr val="FFFE00"/>
              </a:solidFill>
              <a:latin typeface="Chakra Petch"/>
              <a:cs typeface="Chakra Petch"/>
            </a:endParaRPr>
          </a:p>
        </p:txBody>
      </p:sp>
      <p:sp>
        <p:nvSpPr>
          <p:cNvPr id="31" name="Google Shape;142;p13">
            <a:extLst>
              <a:ext uri="{FF2B5EF4-FFF2-40B4-BE49-F238E27FC236}">
                <a16:creationId xmlns:a16="http://schemas.microsoft.com/office/drawing/2014/main" id="{66A62A4F-8502-E6A5-E14F-CFD4F05CEC64}"/>
              </a:ext>
            </a:extLst>
          </p:cNvPr>
          <p:cNvSpPr txBox="1"/>
          <p:nvPr/>
        </p:nvSpPr>
        <p:spPr>
          <a:xfrm>
            <a:off x="801871" y="9421740"/>
            <a:ext cx="3348784" cy="720197"/>
          </a:xfrm>
          <a:prstGeom prst="rect">
            <a:avLst/>
          </a:prstGeom>
          <a:noFill/>
          <a:ln>
            <a:noFill/>
          </a:ln>
        </p:spPr>
        <p:txBody>
          <a:bodyPr spcFirstLastPara="1" wrap="square" lIns="0" tIns="0" rIns="0" bIns="0" anchor="t" anchorCtr="0">
            <a:spAutoFit/>
          </a:bodyPr>
          <a:lstStyle/>
          <a:p>
            <a:pPr algn="ctr">
              <a:lnSpc>
                <a:spcPct val="130000"/>
              </a:lnSpc>
            </a:pPr>
            <a:r>
              <a:rPr lang="en-US" sz="1800">
                <a:solidFill>
                  <a:srgbClr val="FFFF00"/>
                </a:solidFill>
                <a:latin typeface="Inter"/>
                <a:ea typeface="Inter"/>
                <a:cs typeface="Inter"/>
                <a:sym typeface="Inter"/>
              </a:rPr>
              <a:t>Nathan</a:t>
            </a:r>
            <a:r>
              <a:rPr lang="en-US" sz="1800" b="0" i="0" u="none" strike="noStrike" cap="none">
                <a:solidFill>
                  <a:srgbClr val="FFFF00"/>
                </a:solidFill>
                <a:latin typeface="Inter"/>
                <a:ea typeface="Inter"/>
                <a:cs typeface="Inter"/>
                <a:sym typeface="Inter"/>
              </a:rPr>
              <a:t> </a:t>
            </a:r>
            <a:r>
              <a:rPr lang="en-US" sz="1800">
                <a:solidFill>
                  <a:srgbClr val="FFFF00"/>
                </a:solidFill>
                <a:latin typeface="Inter"/>
                <a:ea typeface="Inter"/>
                <a:cs typeface="Inter"/>
                <a:sym typeface="Inter"/>
              </a:rPr>
              <a:t>Poch</a:t>
            </a:r>
            <a:endParaRPr lang="en-US" sz="1800">
              <a:solidFill>
                <a:srgbClr val="FFFF00"/>
              </a:solidFill>
              <a:latin typeface="Inter"/>
              <a:ea typeface="Inter"/>
              <a:cs typeface="Inter"/>
            </a:endParaRPr>
          </a:p>
          <a:p>
            <a:pPr algn="ctr">
              <a:lnSpc>
                <a:spcPct val="130000"/>
              </a:lnSpc>
            </a:pPr>
            <a:r>
              <a:rPr lang="en-US" sz="1800">
                <a:solidFill>
                  <a:srgbClr val="FFFF00"/>
                </a:solidFill>
                <a:latin typeface="Inter"/>
                <a:ea typeface="Inter"/>
                <a:cs typeface="Inter"/>
                <a:sym typeface="Inter"/>
              </a:rPr>
              <a:t>Masters in Cyber Security </a:t>
            </a:r>
            <a:endParaRPr sz="1800">
              <a:solidFill>
                <a:srgbClr val="FFFF00"/>
              </a:solidFill>
            </a:endParaRPr>
          </a:p>
        </p:txBody>
      </p:sp>
      <p:sp>
        <p:nvSpPr>
          <p:cNvPr id="33" name="TextBox 32">
            <a:extLst>
              <a:ext uri="{FF2B5EF4-FFF2-40B4-BE49-F238E27FC236}">
                <a16:creationId xmlns:a16="http://schemas.microsoft.com/office/drawing/2014/main" id="{884FB825-FFDA-C4FA-C987-30FDAAE56DD4}"/>
              </a:ext>
            </a:extLst>
          </p:cNvPr>
          <p:cNvSpPr txBox="1"/>
          <p:nvPr/>
        </p:nvSpPr>
        <p:spPr>
          <a:xfrm>
            <a:off x="4290727" y="9419160"/>
            <a:ext cx="312876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a:solidFill>
                  <a:srgbClr val="FFFF00"/>
                </a:solidFill>
                <a:latin typeface="Inter"/>
                <a:ea typeface="Inter"/>
              </a:rPr>
              <a:t>Maurisa Dacosta</a:t>
            </a:r>
          </a:p>
          <a:p>
            <a:pPr algn="ctr"/>
            <a:r>
              <a:rPr lang="en-US" sz="1800">
                <a:solidFill>
                  <a:srgbClr val="FFFF00"/>
                </a:solidFill>
                <a:latin typeface="Inter"/>
                <a:ea typeface="Inter"/>
              </a:rPr>
              <a:t>Masters in Computer Science</a:t>
            </a:r>
          </a:p>
        </p:txBody>
      </p:sp>
      <p:sp>
        <p:nvSpPr>
          <p:cNvPr id="35" name="TextBox 34">
            <a:extLst>
              <a:ext uri="{FF2B5EF4-FFF2-40B4-BE49-F238E27FC236}">
                <a16:creationId xmlns:a16="http://schemas.microsoft.com/office/drawing/2014/main" id="{82CC5E17-8B0E-8BCF-9C8D-5BAA6EB99F06}"/>
              </a:ext>
            </a:extLst>
          </p:cNvPr>
          <p:cNvSpPr txBox="1"/>
          <p:nvPr/>
        </p:nvSpPr>
        <p:spPr>
          <a:xfrm>
            <a:off x="7413760" y="9426786"/>
            <a:ext cx="3250965"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a:solidFill>
                  <a:srgbClr val="FFFF00"/>
                </a:solidFill>
                <a:latin typeface="Inter"/>
                <a:ea typeface="Inter"/>
              </a:rPr>
              <a:t>Rodrigo Arguello </a:t>
            </a:r>
          </a:p>
          <a:p>
            <a:pPr algn="ctr"/>
            <a:r>
              <a:rPr lang="en-US" sz="1800">
                <a:solidFill>
                  <a:srgbClr val="FFFF00"/>
                </a:solidFill>
                <a:latin typeface="Inter"/>
                <a:ea typeface="Inter"/>
              </a:rPr>
              <a:t>Masters in Computer Science</a:t>
            </a:r>
          </a:p>
          <a:p>
            <a:pPr algn="ctr"/>
            <a:endParaRPr lang="en-US" sz="1100">
              <a:solidFill>
                <a:srgbClr val="FFFF00"/>
              </a:solidFill>
            </a:endParaRPr>
          </a:p>
        </p:txBody>
      </p:sp>
      <p:pic>
        <p:nvPicPr>
          <p:cNvPr id="37" name="Picture 36" descr="A person with long hair and beards&#10;&#10;AI-generated content may be incorrect.">
            <a:extLst>
              <a:ext uri="{FF2B5EF4-FFF2-40B4-BE49-F238E27FC236}">
                <a16:creationId xmlns:a16="http://schemas.microsoft.com/office/drawing/2014/main" id="{9BAB0439-C7DD-B4B6-FA4A-EFD616BF543F}"/>
              </a:ext>
            </a:extLst>
          </p:cNvPr>
          <p:cNvPicPr>
            <a:picLocks noChangeAspect="1"/>
          </p:cNvPicPr>
          <p:nvPr/>
        </p:nvPicPr>
        <p:blipFill>
          <a:blip r:embed="rId3"/>
          <a:srcRect l="73" t="5698" r="366" b="12297"/>
          <a:stretch>
            <a:fillRect/>
          </a:stretch>
        </p:blipFill>
        <p:spPr>
          <a:xfrm>
            <a:off x="1085928" y="6101313"/>
            <a:ext cx="2812887" cy="3090036"/>
          </a:xfrm>
          <a:prstGeom prst="rect">
            <a:avLst/>
          </a:prstGeom>
        </p:spPr>
      </p:pic>
      <p:pic>
        <p:nvPicPr>
          <p:cNvPr id="39" name="Picture 38" descr="A person wearing glasses and a black shirt&#10;&#10;AI-generated content may be incorrect.">
            <a:extLst>
              <a:ext uri="{FF2B5EF4-FFF2-40B4-BE49-F238E27FC236}">
                <a16:creationId xmlns:a16="http://schemas.microsoft.com/office/drawing/2014/main" id="{78EC6922-D04E-AAE5-AB73-5F4DB7FE56F2}"/>
              </a:ext>
            </a:extLst>
          </p:cNvPr>
          <p:cNvPicPr>
            <a:picLocks noChangeAspect="1"/>
          </p:cNvPicPr>
          <p:nvPr/>
        </p:nvPicPr>
        <p:blipFill>
          <a:blip r:embed="rId4"/>
          <a:stretch>
            <a:fillRect/>
          </a:stretch>
        </p:blipFill>
        <p:spPr>
          <a:xfrm>
            <a:off x="7481119" y="6543214"/>
            <a:ext cx="3288891" cy="2583733"/>
          </a:xfrm>
          <a:prstGeom prst="rect">
            <a:avLst/>
          </a:prstGeom>
        </p:spPr>
      </p:pic>
      <p:pic>
        <p:nvPicPr>
          <p:cNvPr id="40" name="Picture 39" descr="A close-up of a young person&#10;&#10;AI-generated content may be incorrect.">
            <a:extLst>
              <a:ext uri="{FF2B5EF4-FFF2-40B4-BE49-F238E27FC236}">
                <a16:creationId xmlns:a16="http://schemas.microsoft.com/office/drawing/2014/main" id="{19FA97A0-63BC-FD3F-DFC2-95BAFF03EBA3}"/>
              </a:ext>
            </a:extLst>
          </p:cNvPr>
          <p:cNvPicPr>
            <a:picLocks noChangeAspect="1"/>
          </p:cNvPicPr>
          <p:nvPr/>
        </p:nvPicPr>
        <p:blipFill>
          <a:blip r:embed="rId5"/>
          <a:stretch>
            <a:fillRect/>
          </a:stretch>
        </p:blipFill>
        <p:spPr>
          <a:xfrm>
            <a:off x="4162732" y="6100762"/>
            <a:ext cx="3122972" cy="3099927"/>
          </a:xfrm>
          <a:prstGeom prst="rect">
            <a:avLst/>
          </a:prstGeom>
        </p:spPr>
      </p:pic>
    </p:spTree>
    <p:extLst>
      <p:ext uri="{BB962C8B-B14F-4D97-AF65-F5344CB8AC3E}">
        <p14:creationId xmlns:p14="http://schemas.microsoft.com/office/powerpoint/2010/main" val="3075407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182">
          <a:extLst>
            <a:ext uri="{FF2B5EF4-FFF2-40B4-BE49-F238E27FC236}">
              <a16:creationId xmlns:a16="http://schemas.microsoft.com/office/drawing/2014/main" id="{D59FA209-1DAA-302E-B617-6E47B0ED662A}"/>
            </a:ext>
          </a:extLst>
        </p:cNvPr>
        <p:cNvGrpSpPr/>
        <p:nvPr/>
      </p:nvGrpSpPr>
      <p:grpSpPr>
        <a:xfrm>
          <a:off x="0" y="0"/>
          <a:ext cx="0" cy="0"/>
          <a:chOff x="0" y="0"/>
          <a:chExt cx="0" cy="0"/>
        </a:xfrm>
      </p:grpSpPr>
      <p:pic>
        <p:nvPicPr>
          <p:cNvPr id="183" name="Google Shape;183;p15">
            <a:extLst>
              <a:ext uri="{FF2B5EF4-FFF2-40B4-BE49-F238E27FC236}">
                <a16:creationId xmlns:a16="http://schemas.microsoft.com/office/drawing/2014/main" id="{00A4664E-CEEC-58BB-669E-E32EB18CA478}"/>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185" name="Google Shape;185;p15">
            <a:extLst>
              <a:ext uri="{FF2B5EF4-FFF2-40B4-BE49-F238E27FC236}">
                <a16:creationId xmlns:a16="http://schemas.microsoft.com/office/drawing/2014/main" id="{C29366A0-6943-867B-4330-53231241F75A}"/>
              </a:ext>
            </a:extLst>
          </p:cNvPr>
          <p:cNvSpPr/>
          <p:nvPr/>
        </p:nvSpPr>
        <p:spPr>
          <a:xfrm>
            <a:off x="620607" y="569522"/>
            <a:ext cx="16558897" cy="9287363"/>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 name="Google Shape;205;p15">
            <a:extLst>
              <a:ext uri="{FF2B5EF4-FFF2-40B4-BE49-F238E27FC236}">
                <a16:creationId xmlns:a16="http://schemas.microsoft.com/office/drawing/2014/main" id="{07C97FE7-202D-F46E-A882-E56D3FB328F3}"/>
              </a:ext>
            </a:extLst>
          </p:cNvPr>
          <p:cNvGrpSpPr/>
          <p:nvPr/>
        </p:nvGrpSpPr>
        <p:grpSpPr>
          <a:xfrm rot="-5400000">
            <a:off x="1367825" y="8202682"/>
            <a:ext cx="780553" cy="1821165"/>
            <a:chOff x="0" y="-111248"/>
            <a:chExt cx="1040738" cy="2428219"/>
          </a:xfrm>
        </p:grpSpPr>
        <p:grpSp>
          <p:nvGrpSpPr>
            <p:cNvPr id="206" name="Google Shape;206;p15">
              <a:extLst>
                <a:ext uri="{FF2B5EF4-FFF2-40B4-BE49-F238E27FC236}">
                  <a16:creationId xmlns:a16="http://schemas.microsoft.com/office/drawing/2014/main" id="{69676FD1-49BA-5C50-12DD-37067FA77472}"/>
                </a:ext>
              </a:extLst>
            </p:cNvPr>
            <p:cNvGrpSpPr/>
            <p:nvPr/>
          </p:nvGrpSpPr>
          <p:grpSpPr>
            <a:xfrm>
              <a:off x="0" y="572578"/>
              <a:ext cx="564500" cy="1060566"/>
              <a:chOff x="0" y="-47625"/>
              <a:chExt cx="241661" cy="454025"/>
            </a:xfrm>
          </p:grpSpPr>
          <p:sp>
            <p:nvSpPr>
              <p:cNvPr id="207" name="Google Shape;207;p15">
                <a:extLst>
                  <a:ext uri="{FF2B5EF4-FFF2-40B4-BE49-F238E27FC236}">
                    <a16:creationId xmlns:a16="http://schemas.microsoft.com/office/drawing/2014/main" id="{6397EB5F-6F5B-291F-3C38-EEDBD61E3026}"/>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08" name="Google Shape;208;p15">
                <a:extLst>
                  <a:ext uri="{FF2B5EF4-FFF2-40B4-BE49-F238E27FC236}">
                    <a16:creationId xmlns:a16="http://schemas.microsoft.com/office/drawing/2014/main" id="{687EFCC9-3244-A46C-FD66-69D09343D05C}"/>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9" name="Google Shape;209;p15">
              <a:extLst>
                <a:ext uri="{FF2B5EF4-FFF2-40B4-BE49-F238E27FC236}">
                  <a16:creationId xmlns:a16="http://schemas.microsoft.com/office/drawing/2014/main" id="{745CB0F9-AD24-CD8C-B5C9-26DEE3C073F8}"/>
                </a:ext>
              </a:extLst>
            </p:cNvPr>
            <p:cNvGrpSpPr/>
            <p:nvPr/>
          </p:nvGrpSpPr>
          <p:grpSpPr>
            <a:xfrm>
              <a:off x="476238" y="-111248"/>
              <a:ext cx="564500" cy="1060566"/>
              <a:chOff x="0" y="-47625"/>
              <a:chExt cx="241661" cy="454025"/>
            </a:xfrm>
          </p:grpSpPr>
          <p:sp>
            <p:nvSpPr>
              <p:cNvPr id="210" name="Google Shape;210;p15">
                <a:extLst>
                  <a:ext uri="{FF2B5EF4-FFF2-40B4-BE49-F238E27FC236}">
                    <a16:creationId xmlns:a16="http://schemas.microsoft.com/office/drawing/2014/main" id="{8D860709-0778-8AAB-8E88-C3BEB1C8DE10}"/>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11" name="Google Shape;211;p15">
                <a:extLst>
                  <a:ext uri="{FF2B5EF4-FFF2-40B4-BE49-F238E27FC236}">
                    <a16:creationId xmlns:a16="http://schemas.microsoft.com/office/drawing/2014/main" id="{328F96D9-3C6D-C979-B586-AE97B7D9BC0F}"/>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2" name="Google Shape;212;p15">
              <a:extLst>
                <a:ext uri="{FF2B5EF4-FFF2-40B4-BE49-F238E27FC236}">
                  <a16:creationId xmlns:a16="http://schemas.microsoft.com/office/drawing/2014/main" id="{C3025F92-70C4-AC2C-702D-1213CA3DD5FD}"/>
                </a:ext>
              </a:extLst>
            </p:cNvPr>
            <p:cNvGrpSpPr/>
            <p:nvPr/>
          </p:nvGrpSpPr>
          <p:grpSpPr>
            <a:xfrm>
              <a:off x="476238" y="1256405"/>
              <a:ext cx="564500" cy="1060566"/>
              <a:chOff x="0" y="-47625"/>
              <a:chExt cx="241661" cy="454025"/>
            </a:xfrm>
          </p:grpSpPr>
          <p:sp>
            <p:nvSpPr>
              <p:cNvPr id="213" name="Google Shape;213;p15">
                <a:extLst>
                  <a:ext uri="{FF2B5EF4-FFF2-40B4-BE49-F238E27FC236}">
                    <a16:creationId xmlns:a16="http://schemas.microsoft.com/office/drawing/2014/main" id="{8624CF1E-D050-5C83-87B1-3005AB09E9F0}"/>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14" name="Google Shape;214;p15">
                <a:extLst>
                  <a:ext uri="{FF2B5EF4-FFF2-40B4-BE49-F238E27FC236}">
                    <a16:creationId xmlns:a16="http://schemas.microsoft.com/office/drawing/2014/main" id="{6F90C411-E822-F330-21A0-6BB2F2105436}"/>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15" name="Google Shape;215;p15">
            <a:extLst>
              <a:ext uri="{FF2B5EF4-FFF2-40B4-BE49-F238E27FC236}">
                <a16:creationId xmlns:a16="http://schemas.microsoft.com/office/drawing/2014/main" id="{E4B008CD-09FF-708E-B050-38C2271C9C39}"/>
              </a:ext>
            </a:extLst>
          </p:cNvPr>
          <p:cNvGrpSpPr/>
          <p:nvPr/>
        </p:nvGrpSpPr>
        <p:grpSpPr>
          <a:xfrm rot="5400000">
            <a:off x="15501776" y="863769"/>
            <a:ext cx="780553" cy="1821165"/>
            <a:chOff x="0" y="-111248"/>
            <a:chExt cx="1040738" cy="2428219"/>
          </a:xfrm>
        </p:grpSpPr>
        <p:grpSp>
          <p:nvGrpSpPr>
            <p:cNvPr id="216" name="Google Shape;216;p15">
              <a:extLst>
                <a:ext uri="{FF2B5EF4-FFF2-40B4-BE49-F238E27FC236}">
                  <a16:creationId xmlns:a16="http://schemas.microsoft.com/office/drawing/2014/main" id="{A5DBAA38-FA67-C890-0B41-54EC992E89B6}"/>
                </a:ext>
              </a:extLst>
            </p:cNvPr>
            <p:cNvGrpSpPr/>
            <p:nvPr/>
          </p:nvGrpSpPr>
          <p:grpSpPr>
            <a:xfrm>
              <a:off x="0" y="572578"/>
              <a:ext cx="564500" cy="1060566"/>
              <a:chOff x="0" y="-47625"/>
              <a:chExt cx="241661" cy="454025"/>
            </a:xfrm>
          </p:grpSpPr>
          <p:sp>
            <p:nvSpPr>
              <p:cNvPr id="217" name="Google Shape;217;p15">
                <a:extLst>
                  <a:ext uri="{FF2B5EF4-FFF2-40B4-BE49-F238E27FC236}">
                    <a16:creationId xmlns:a16="http://schemas.microsoft.com/office/drawing/2014/main" id="{D0B52A05-570B-FE82-ECC7-BB2C38783EE7}"/>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18" name="Google Shape;218;p15">
                <a:extLst>
                  <a:ext uri="{FF2B5EF4-FFF2-40B4-BE49-F238E27FC236}">
                    <a16:creationId xmlns:a16="http://schemas.microsoft.com/office/drawing/2014/main" id="{DD801F60-C645-9843-7DB1-4487C66CF29B}"/>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9" name="Google Shape;219;p15">
              <a:extLst>
                <a:ext uri="{FF2B5EF4-FFF2-40B4-BE49-F238E27FC236}">
                  <a16:creationId xmlns:a16="http://schemas.microsoft.com/office/drawing/2014/main" id="{99F148CE-B685-BC0E-2B7E-F2C20DF6C29C}"/>
                </a:ext>
              </a:extLst>
            </p:cNvPr>
            <p:cNvGrpSpPr/>
            <p:nvPr/>
          </p:nvGrpSpPr>
          <p:grpSpPr>
            <a:xfrm>
              <a:off x="476238" y="-111248"/>
              <a:ext cx="564500" cy="1060566"/>
              <a:chOff x="0" y="-47625"/>
              <a:chExt cx="241661" cy="454025"/>
            </a:xfrm>
          </p:grpSpPr>
          <p:sp>
            <p:nvSpPr>
              <p:cNvPr id="220" name="Google Shape;220;p15">
                <a:extLst>
                  <a:ext uri="{FF2B5EF4-FFF2-40B4-BE49-F238E27FC236}">
                    <a16:creationId xmlns:a16="http://schemas.microsoft.com/office/drawing/2014/main" id="{2CBCBB35-A0E2-00F3-634C-FC20291D6F8A}"/>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21" name="Google Shape;221;p15">
                <a:extLst>
                  <a:ext uri="{FF2B5EF4-FFF2-40B4-BE49-F238E27FC236}">
                    <a16:creationId xmlns:a16="http://schemas.microsoft.com/office/drawing/2014/main" id="{53E804AD-9423-EB75-6816-D61CB7776A76}"/>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15">
              <a:extLst>
                <a:ext uri="{FF2B5EF4-FFF2-40B4-BE49-F238E27FC236}">
                  <a16:creationId xmlns:a16="http://schemas.microsoft.com/office/drawing/2014/main" id="{3FBDCC64-75F3-80FB-4EF4-F5EDE93AB67C}"/>
                </a:ext>
              </a:extLst>
            </p:cNvPr>
            <p:cNvGrpSpPr/>
            <p:nvPr/>
          </p:nvGrpSpPr>
          <p:grpSpPr>
            <a:xfrm>
              <a:off x="476238" y="1256405"/>
              <a:ext cx="564500" cy="1060566"/>
              <a:chOff x="0" y="-47625"/>
              <a:chExt cx="241661" cy="454025"/>
            </a:xfrm>
          </p:grpSpPr>
          <p:sp>
            <p:nvSpPr>
              <p:cNvPr id="223" name="Google Shape;223;p15">
                <a:extLst>
                  <a:ext uri="{FF2B5EF4-FFF2-40B4-BE49-F238E27FC236}">
                    <a16:creationId xmlns:a16="http://schemas.microsoft.com/office/drawing/2014/main" id="{5F9364B1-F9D1-E1F2-416E-C5C76A61890B}"/>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224" name="Google Shape;224;p15">
                <a:extLst>
                  <a:ext uri="{FF2B5EF4-FFF2-40B4-BE49-F238E27FC236}">
                    <a16:creationId xmlns:a16="http://schemas.microsoft.com/office/drawing/2014/main" id="{A96A85FD-9214-B8E0-BD11-D73867BAAB4D}"/>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226" name="Google Shape;226;p15">
            <a:extLst>
              <a:ext uri="{FF2B5EF4-FFF2-40B4-BE49-F238E27FC236}">
                <a16:creationId xmlns:a16="http://schemas.microsoft.com/office/drawing/2014/main" id="{3AF878BD-BBD5-2F3F-A5CE-FB34271B2FFA}"/>
              </a:ext>
            </a:extLst>
          </p:cNvPr>
          <p:cNvPicPr preferRelativeResize="0"/>
          <p:nvPr/>
        </p:nvPicPr>
        <p:blipFill>
          <a:blip r:embed="rId4">
            <a:alphaModFix/>
          </a:blip>
          <a:stretch>
            <a:fillRect/>
          </a:stretch>
        </p:blipFill>
        <p:spPr>
          <a:xfrm>
            <a:off x="15125791" y="8545875"/>
            <a:ext cx="1532525" cy="1532525"/>
          </a:xfrm>
          <a:prstGeom prst="rect">
            <a:avLst/>
          </a:prstGeom>
          <a:noFill/>
          <a:ln>
            <a:noFill/>
          </a:ln>
        </p:spPr>
      </p:pic>
      <p:pic>
        <p:nvPicPr>
          <p:cNvPr id="1028" name="Picture 4">
            <a:extLst>
              <a:ext uri="{FF2B5EF4-FFF2-40B4-BE49-F238E27FC236}">
                <a16:creationId xmlns:a16="http://schemas.microsoft.com/office/drawing/2014/main" id="{4325FC44-FD99-28F5-673D-92E2B6641C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73213" y="3180306"/>
            <a:ext cx="5500479" cy="3661333"/>
          </a:xfrm>
          <a:prstGeom prst="rect">
            <a:avLst/>
          </a:prstGeom>
          <a:ln w="127000" cap="rnd">
            <a:solidFill>
              <a:srgbClr val="FFFFFF"/>
            </a:solidFill>
          </a:ln>
          <a:effectLst>
            <a:outerShdw blurRad="50800" dist="38100" dir="18900000" algn="bl" rotWithShape="0">
              <a:schemeClr val="accent1">
                <a:alpha val="40000"/>
              </a:schemeClr>
            </a:outerShdw>
          </a:effectLst>
          <a:scene3d>
            <a:camera prst="orthographicFront"/>
            <a:lightRig rig="twoPt" dir="t">
              <a:rot lat="0" lon="0" rev="7800000"/>
            </a:lightRig>
          </a:scene3d>
          <a:sp3d contourW="6350">
            <a:bevelT w="50800" h="16510"/>
            <a:contourClr>
              <a:srgbClr val="C0C0C0"/>
            </a:contourClr>
          </a:sp3d>
        </p:spPr>
      </p:pic>
      <p:sp>
        <p:nvSpPr>
          <p:cNvPr id="5" name="TextBox 4">
            <a:extLst>
              <a:ext uri="{FF2B5EF4-FFF2-40B4-BE49-F238E27FC236}">
                <a16:creationId xmlns:a16="http://schemas.microsoft.com/office/drawing/2014/main" id="{4F46B7CD-AD34-5EB0-6DEB-10CE8E1789C2}"/>
              </a:ext>
            </a:extLst>
          </p:cNvPr>
          <p:cNvSpPr txBox="1"/>
          <p:nvPr/>
        </p:nvSpPr>
        <p:spPr>
          <a:xfrm>
            <a:off x="11426183" y="7321990"/>
            <a:ext cx="4664465" cy="738664"/>
          </a:xfrm>
          <a:prstGeom prst="rect">
            <a:avLst/>
          </a:prstGeom>
          <a:noFill/>
        </p:spPr>
        <p:txBody>
          <a:bodyPr wrap="square" rtlCol="0">
            <a:spAutoFit/>
          </a:bodyPr>
          <a:lstStyle/>
          <a:p>
            <a:r>
              <a:rPr lang="en-US">
                <a:solidFill>
                  <a:srgbClr val="FFFF00"/>
                </a:solidFill>
              </a:rPr>
              <a:t>The number of detected phishing sites across the world in each quarter from the 3rd quarter of 2013 to the 4th quarter of 2024 </a:t>
            </a:r>
            <a:r>
              <a:rPr lang="en-US" u="sng">
                <a:hlinkClick r:id="rId6"/>
              </a:rPr>
              <a:t>(Statista, 2025)</a:t>
            </a:r>
            <a:r>
              <a:rPr lang="en-US"/>
              <a:t>.</a:t>
            </a:r>
          </a:p>
        </p:txBody>
      </p:sp>
      <p:pic>
        <p:nvPicPr>
          <p:cNvPr id="6" name="Picture 5" descr="A screenshot of a computer screen&#10;&#10;AI-generated content may be incorrect.">
            <a:extLst>
              <a:ext uri="{FF2B5EF4-FFF2-40B4-BE49-F238E27FC236}">
                <a16:creationId xmlns:a16="http://schemas.microsoft.com/office/drawing/2014/main" id="{5DDE1449-A514-3E7D-1981-377789A12C55}"/>
              </a:ext>
            </a:extLst>
          </p:cNvPr>
          <p:cNvPicPr>
            <a:picLocks noChangeAspect="1"/>
          </p:cNvPicPr>
          <p:nvPr/>
        </p:nvPicPr>
        <p:blipFill>
          <a:blip r:embed="rId7"/>
          <a:stretch>
            <a:fillRect/>
          </a:stretch>
        </p:blipFill>
        <p:spPr>
          <a:xfrm>
            <a:off x="836173" y="2138046"/>
            <a:ext cx="9103506" cy="5373597"/>
          </a:xfrm>
          <a:prstGeom prst="rect">
            <a:avLst/>
          </a:prstGeom>
        </p:spPr>
      </p:pic>
      <p:sp>
        <p:nvSpPr>
          <p:cNvPr id="7" name="Google Shape;188;p15">
            <a:extLst>
              <a:ext uri="{FF2B5EF4-FFF2-40B4-BE49-F238E27FC236}">
                <a16:creationId xmlns:a16="http://schemas.microsoft.com/office/drawing/2014/main" id="{D61D3687-3FAD-AE3B-2296-4AF6A1695252}"/>
              </a:ext>
            </a:extLst>
          </p:cNvPr>
          <p:cNvSpPr txBox="1"/>
          <p:nvPr/>
        </p:nvSpPr>
        <p:spPr>
          <a:xfrm>
            <a:off x="2594541" y="1936560"/>
            <a:ext cx="4846405" cy="59093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200" b="1" i="0" u="none" strike="noStrike">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hakra Petch"/>
                <a:ea typeface="Chakra Petch"/>
                <a:cs typeface="Chakra Petch"/>
                <a:sym typeface="Chakra Petch"/>
              </a:rPr>
              <a:t>Common Phishing Types</a:t>
            </a:r>
            <a:endParaRPr sz="32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174657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523">
          <a:extLst>
            <a:ext uri="{FF2B5EF4-FFF2-40B4-BE49-F238E27FC236}">
              <a16:creationId xmlns:a16="http://schemas.microsoft.com/office/drawing/2014/main" id="{32B7BA71-5641-D819-9936-CA2094484909}"/>
            </a:ext>
          </a:extLst>
        </p:cNvPr>
        <p:cNvGrpSpPr/>
        <p:nvPr/>
      </p:nvGrpSpPr>
      <p:grpSpPr>
        <a:xfrm>
          <a:off x="0" y="0"/>
          <a:ext cx="0" cy="0"/>
          <a:chOff x="0" y="0"/>
          <a:chExt cx="0" cy="0"/>
        </a:xfrm>
      </p:grpSpPr>
      <p:pic>
        <p:nvPicPr>
          <p:cNvPr id="524" name="Google Shape;524;p26">
            <a:extLst>
              <a:ext uri="{FF2B5EF4-FFF2-40B4-BE49-F238E27FC236}">
                <a16:creationId xmlns:a16="http://schemas.microsoft.com/office/drawing/2014/main" id="{51D0B5F0-6F73-39E2-F293-49F6F0FEC6E4}"/>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grpSp>
        <p:nvGrpSpPr>
          <p:cNvPr id="525" name="Google Shape;525;p26">
            <a:extLst>
              <a:ext uri="{FF2B5EF4-FFF2-40B4-BE49-F238E27FC236}">
                <a16:creationId xmlns:a16="http://schemas.microsoft.com/office/drawing/2014/main" id="{CA91AC37-427F-56A1-4534-CCB7C0B0959E}"/>
              </a:ext>
            </a:extLst>
          </p:cNvPr>
          <p:cNvGrpSpPr/>
          <p:nvPr/>
        </p:nvGrpSpPr>
        <p:grpSpPr>
          <a:xfrm>
            <a:off x="864551" y="626903"/>
            <a:ext cx="16558897" cy="8798580"/>
            <a:chOff x="0" y="-47625"/>
            <a:chExt cx="4361191" cy="2317322"/>
          </a:xfrm>
        </p:grpSpPr>
        <p:sp>
          <p:nvSpPr>
            <p:cNvPr id="526" name="Google Shape;526;p26">
              <a:extLst>
                <a:ext uri="{FF2B5EF4-FFF2-40B4-BE49-F238E27FC236}">
                  <a16:creationId xmlns:a16="http://schemas.microsoft.com/office/drawing/2014/main" id="{1AA20697-54B2-9408-B74C-7560D9B2E96E}"/>
                </a:ext>
              </a:extLst>
            </p:cNvPr>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a:extLst>
                <a:ext uri="{FF2B5EF4-FFF2-40B4-BE49-F238E27FC236}">
                  <a16:creationId xmlns:a16="http://schemas.microsoft.com/office/drawing/2014/main" id="{B223DB07-E111-0459-A336-AB64ABA7EC98}"/>
                </a:ext>
              </a:extLst>
            </p:cNvPr>
            <p:cNvSpPr txBox="1"/>
            <p:nvPr/>
          </p:nvSpPr>
          <p:spPr>
            <a:xfrm>
              <a:off x="0" y="-47625"/>
              <a:ext cx="4361191" cy="231732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0" name="Google Shape;530;p26">
            <a:extLst>
              <a:ext uri="{FF2B5EF4-FFF2-40B4-BE49-F238E27FC236}">
                <a16:creationId xmlns:a16="http://schemas.microsoft.com/office/drawing/2014/main" id="{F1859A80-AF83-FDBE-A702-00AFEC8520AD}"/>
              </a:ext>
            </a:extLst>
          </p:cNvPr>
          <p:cNvGrpSpPr/>
          <p:nvPr/>
        </p:nvGrpSpPr>
        <p:grpSpPr>
          <a:xfrm rot="10800000">
            <a:off x="15878010" y="6622486"/>
            <a:ext cx="780553" cy="1821165"/>
            <a:chOff x="0" y="-111248"/>
            <a:chExt cx="1040738" cy="2428219"/>
          </a:xfrm>
        </p:grpSpPr>
        <p:grpSp>
          <p:nvGrpSpPr>
            <p:cNvPr id="531" name="Google Shape;531;p26">
              <a:extLst>
                <a:ext uri="{FF2B5EF4-FFF2-40B4-BE49-F238E27FC236}">
                  <a16:creationId xmlns:a16="http://schemas.microsoft.com/office/drawing/2014/main" id="{B480C085-FA79-A978-8C73-EBC987109F03}"/>
                </a:ext>
              </a:extLst>
            </p:cNvPr>
            <p:cNvGrpSpPr/>
            <p:nvPr/>
          </p:nvGrpSpPr>
          <p:grpSpPr>
            <a:xfrm>
              <a:off x="0" y="572578"/>
              <a:ext cx="564500" cy="1060566"/>
              <a:chOff x="0" y="-47625"/>
              <a:chExt cx="241661" cy="454025"/>
            </a:xfrm>
          </p:grpSpPr>
          <p:sp>
            <p:nvSpPr>
              <p:cNvPr id="532" name="Google Shape;532;p26">
                <a:extLst>
                  <a:ext uri="{FF2B5EF4-FFF2-40B4-BE49-F238E27FC236}">
                    <a16:creationId xmlns:a16="http://schemas.microsoft.com/office/drawing/2014/main" id="{787EF425-0793-5514-4DFE-FC377239A3A5}"/>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3" name="Google Shape;533;p26">
                <a:extLst>
                  <a:ext uri="{FF2B5EF4-FFF2-40B4-BE49-F238E27FC236}">
                    <a16:creationId xmlns:a16="http://schemas.microsoft.com/office/drawing/2014/main" id="{39B25CC2-AFF7-3A03-1CFF-7CE2EDAEB2C4}"/>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4" name="Google Shape;534;p26">
              <a:extLst>
                <a:ext uri="{FF2B5EF4-FFF2-40B4-BE49-F238E27FC236}">
                  <a16:creationId xmlns:a16="http://schemas.microsoft.com/office/drawing/2014/main" id="{D7F6D2BA-CCBF-F54B-333F-403D9EA4DCCC}"/>
                </a:ext>
              </a:extLst>
            </p:cNvPr>
            <p:cNvGrpSpPr/>
            <p:nvPr/>
          </p:nvGrpSpPr>
          <p:grpSpPr>
            <a:xfrm>
              <a:off x="476238" y="-111248"/>
              <a:ext cx="564500" cy="1060566"/>
              <a:chOff x="0" y="-47625"/>
              <a:chExt cx="241661" cy="454025"/>
            </a:xfrm>
          </p:grpSpPr>
          <p:sp>
            <p:nvSpPr>
              <p:cNvPr id="535" name="Google Shape;535;p26">
                <a:extLst>
                  <a:ext uri="{FF2B5EF4-FFF2-40B4-BE49-F238E27FC236}">
                    <a16:creationId xmlns:a16="http://schemas.microsoft.com/office/drawing/2014/main" id="{EA070510-45E6-7B8C-43EE-18756DB22041}"/>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6" name="Google Shape;536;p26">
                <a:extLst>
                  <a:ext uri="{FF2B5EF4-FFF2-40B4-BE49-F238E27FC236}">
                    <a16:creationId xmlns:a16="http://schemas.microsoft.com/office/drawing/2014/main" id="{1315AA7C-D05D-E964-80D2-B202321566B5}"/>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7" name="Google Shape;537;p26">
              <a:extLst>
                <a:ext uri="{FF2B5EF4-FFF2-40B4-BE49-F238E27FC236}">
                  <a16:creationId xmlns:a16="http://schemas.microsoft.com/office/drawing/2014/main" id="{7575E874-CB61-B4EB-0866-D4A1207A18D1}"/>
                </a:ext>
              </a:extLst>
            </p:cNvPr>
            <p:cNvGrpSpPr/>
            <p:nvPr/>
          </p:nvGrpSpPr>
          <p:grpSpPr>
            <a:xfrm>
              <a:off x="476238" y="1256405"/>
              <a:ext cx="564500" cy="1060566"/>
              <a:chOff x="0" y="-47625"/>
              <a:chExt cx="241661" cy="454025"/>
            </a:xfrm>
          </p:grpSpPr>
          <p:sp>
            <p:nvSpPr>
              <p:cNvPr id="538" name="Google Shape;538;p26">
                <a:extLst>
                  <a:ext uri="{FF2B5EF4-FFF2-40B4-BE49-F238E27FC236}">
                    <a16:creationId xmlns:a16="http://schemas.microsoft.com/office/drawing/2014/main" id="{8465CEA5-F7CA-D4F0-2406-4B1A026B471A}"/>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9" name="Google Shape;539;p26">
                <a:extLst>
                  <a:ext uri="{FF2B5EF4-FFF2-40B4-BE49-F238E27FC236}">
                    <a16:creationId xmlns:a16="http://schemas.microsoft.com/office/drawing/2014/main" id="{69074E98-4151-3ACC-B934-AD94DAB2B633}"/>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40" name="Google Shape;540;p26">
            <a:extLst>
              <a:ext uri="{FF2B5EF4-FFF2-40B4-BE49-F238E27FC236}">
                <a16:creationId xmlns:a16="http://schemas.microsoft.com/office/drawing/2014/main" id="{2056E7A0-2985-E952-DCF6-4F9B537D1E6C}"/>
              </a:ext>
            </a:extLst>
          </p:cNvPr>
          <p:cNvGrpSpPr/>
          <p:nvPr/>
        </p:nvGrpSpPr>
        <p:grpSpPr>
          <a:xfrm>
            <a:off x="1783278" y="1507635"/>
            <a:ext cx="780553" cy="1821165"/>
            <a:chOff x="0" y="-111248"/>
            <a:chExt cx="1040738" cy="2428219"/>
          </a:xfrm>
        </p:grpSpPr>
        <p:grpSp>
          <p:nvGrpSpPr>
            <p:cNvPr id="541" name="Google Shape;541;p26">
              <a:extLst>
                <a:ext uri="{FF2B5EF4-FFF2-40B4-BE49-F238E27FC236}">
                  <a16:creationId xmlns:a16="http://schemas.microsoft.com/office/drawing/2014/main" id="{B24162AE-A36E-7743-9125-7D6ED1E39536}"/>
                </a:ext>
              </a:extLst>
            </p:cNvPr>
            <p:cNvGrpSpPr/>
            <p:nvPr/>
          </p:nvGrpSpPr>
          <p:grpSpPr>
            <a:xfrm>
              <a:off x="0" y="572578"/>
              <a:ext cx="564500" cy="1060566"/>
              <a:chOff x="0" y="-47625"/>
              <a:chExt cx="241661" cy="454025"/>
            </a:xfrm>
          </p:grpSpPr>
          <p:sp>
            <p:nvSpPr>
              <p:cNvPr id="542" name="Google Shape;542;p26">
                <a:extLst>
                  <a:ext uri="{FF2B5EF4-FFF2-40B4-BE49-F238E27FC236}">
                    <a16:creationId xmlns:a16="http://schemas.microsoft.com/office/drawing/2014/main" id="{9CB8EC41-A34B-5E72-4FE1-E523DCB3A4C5}"/>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3" name="Google Shape;543;p26">
                <a:extLst>
                  <a:ext uri="{FF2B5EF4-FFF2-40B4-BE49-F238E27FC236}">
                    <a16:creationId xmlns:a16="http://schemas.microsoft.com/office/drawing/2014/main" id="{05F4ACA7-E597-357B-4CD0-F55ABBC0D8A9}"/>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4" name="Google Shape;544;p26">
              <a:extLst>
                <a:ext uri="{FF2B5EF4-FFF2-40B4-BE49-F238E27FC236}">
                  <a16:creationId xmlns:a16="http://schemas.microsoft.com/office/drawing/2014/main" id="{1D6AB17A-58FB-D938-55B0-88BBD1BA56B2}"/>
                </a:ext>
              </a:extLst>
            </p:cNvPr>
            <p:cNvGrpSpPr/>
            <p:nvPr/>
          </p:nvGrpSpPr>
          <p:grpSpPr>
            <a:xfrm>
              <a:off x="476238" y="-111248"/>
              <a:ext cx="564500" cy="1060566"/>
              <a:chOff x="0" y="-47625"/>
              <a:chExt cx="241661" cy="454025"/>
            </a:xfrm>
          </p:grpSpPr>
          <p:sp>
            <p:nvSpPr>
              <p:cNvPr id="545" name="Google Shape;545;p26">
                <a:extLst>
                  <a:ext uri="{FF2B5EF4-FFF2-40B4-BE49-F238E27FC236}">
                    <a16:creationId xmlns:a16="http://schemas.microsoft.com/office/drawing/2014/main" id="{FD941571-D622-57F0-3E60-358B99B9C98B}"/>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6" name="Google Shape;546;p26">
                <a:extLst>
                  <a:ext uri="{FF2B5EF4-FFF2-40B4-BE49-F238E27FC236}">
                    <a16:creationId xmlns:a16="http://schemas.microsoft.com/office/drawing/2014/main" id="{F4466C35-0FAB-8E09-4BC3-2C846B7D0028}"/>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7" name="Google Shape;547;p26">
              <a:extLst>
                <a:ext uri="{FF2B5EF4-FFF2-40B4-BE49-F238E27FC236}">
                  <a16:creationId xmlns:a16="http://schemas.microsoft.com/office/drawing/2014/main" id="{E6C3972D-FCA2-3D0F-FF7A-22CCEFDCA0CC}"/>
                </a:ext>
              </a:extLst>
            </p:cNvPr>
            <p:cNvGrpSpPr/>
            <p:nvPr/>
          </p:nvGrpSpPr>
          <p:grpSpPr>
            <a:xfrm>
              <a:off x="476238" y="1256405"/>
              <a:ext cx="564500" cy="1060566"/>
              <a:chOff x="0" y="-47625"/>
              <a:chExt cx="241661" cy="454025"/>
            </a:xfrm>
          </p:grpSpPr>
          <p:sp>
            <p:nvSpPr>
              <p:cNvPr id="548" name="Google Shape;548;p26">
                <a:extLst>
                  <a:ext uri="{FF2B5EF4-FFF2-40B4-BE49-F238E27FC236}">
                    <a16:creationId xmlns:a16="http://schemas.microsoft.com/office/drawing/2014/main" id="{9B7372EE-B4E4-DDFD-FC59-6756690A93AA}"/>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9" name="Google Shape;549;p26">
                <a:extLst>
                  <a:ext uri="{FF2B5EF4-FFF2-40B4-BE49-F238E27FC236}">
                    <a16:creationId xmlns:a16="http://schemas.microsoft.com/office/drawing/2014/main" id="{BFED0EA4-0DA8-EE45-5C36-3C4D6A3E7F29}"/>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 name="Title 2">
            <a:extLst>
              <a:ext uri="{FF2B5EF4-FFF2-40B4-BE49-F238E27FC236}">
                <a16:creationId xmlns:a16="http://schemas.microsoft.com/office/drawing/2014/main" id="{1F5B9D66-10BC-0D59-D641-A62748D3E866}"/>
              </a:ext>
            </a:extLst>
          </p:cNvPr>
          <p:cNvSpPr>
            <a:spLocks noGrp="1"/>
          </p:cNvSpPr>
          <p:nvPr>
            <p:ph type="title"/>
          </p:nvPr>
        </p:nvSpPr>
        <p:spPr>
          <a:xfrm>
            <a:off x="2586315" y="1740878"/>
            <a:ext cx="13960683" cy="1291235"/>
          </a:xfrm>
        </p:spPr>
        <p:txBody>
          <a:bodyPr>
            <a:noAutofit/>
          </a:bodyPr>
          <a:lstStyle/>
          <a:p>
            <a:r>
              <a:rPr lang="en-US" sz="72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Feature Extraction Using </a:t>
            </a:r>
            <a:r>
              <a:rPr lang="en-US" sz="7200" b="1"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DistilBERT</a:t>
            </a:r>
            <a:endParaRPr lang="en-US" sz="72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2" name="TextBox 1">
            <a:extLst>
              <a:ext uri="{FF2B5EF4-FFF2-40B4-BE49-F238E27FC236}">
                <a16:creationId xmlns:a16="http://schemas.microsoft.com/office/drawing/2014/main" id="{FDBDD7C9-23BD-267C-2B83-D770B8D679B2}"/>
              </a:ext>
            </a:extLst>
          </p:cNvPr>
          <p:cNvSpPr txBox="1"/>
          <p:nvPr/>
        </p:nvSpPr>
        <p:spPr>
          <a:xfrm>
            <a:off x="1225759" y="8599006"/>
            <a:ext cx="8646459" cy="1000274"/>
          </a:xfrm>
          <a:prstGeom prst="rect">
            <a:avLst/>
          </a:prstGeom>
          <a:noFill/>
        </p:spPr>
        <p:txBody>
          <a:bodyPr wrap="square" lIns="91440" tIns="45720" rIns="91440" bIns="45720" rtlCol="0" anchor="t">
            <a:spAutoFit/>
          </a:bodyPr>
          <a:lstStyle/>
          <a:p>
            <a:pPr marL="285750" indent="-285750">
              <a:buClr>
                <a:srgbClr val="FFFF00"/>
              </a:buClr>
              <a:buFont typeface="Wingdings" panose="05000000000000000000" pitchFamily="2" charset="2"/>
              <a:buChar char="v"/>
            </a:pPr>
            <a:r>
              <a:rPr lang="en-US" sz="1600">
                <a:solidFill>
                  <a:srgbClr val="FFFF00"/>
                </a:solidFill>
              </a:rPr>
              <a:t>40% smaller, 60% faster than BERT</a:t>
            </a:r>
          </a:p>
          <a:p>
            <a:pPr marL="285750" indent="-285750">
              <a:buClr>
                <a:srgbClr val="FFFF00"/>
              </a:buClr>
              <a:buFont typeface="Wingdings" panose="05000000000000000000" pitchFamily="2" charset="2"/>
              <a:buChar char="v"/>
            </a:pPr>
            <a:r>
              <a:rPr lang="en-US" sz="1600">
                <a:solidFill>
                  <a:srgbClr val="FFFF00"/>
                </a:solidFill>
              </a:rPr>
              <a:t>97% of BERT’s performance</a:t>
            </a:r>
          </a:p>
          <a:p>
            <a:pPr marL="285750" indent="-285750">
              <a:buClr>
                <a:srgbClr val="FFFF00"/>
              </a:buClr>
              <a:buFont typeface="Wingdings" panose="05000000000000000000" pitchFamily="2" charset="2"/>
              <a:buChar char="v"/>
            </a:pPr>
            <a:r>
              <a:rPr lang="en-US" sz="1600">
                <a:solidFill>
                  <a:srgbClr val="FFFF00"/>
                </a:solidFill>
              </a:rPr>
              <a:t>Extracts semantic features from phishing emails/URLS</a:t>
            </a:r>
          </a:p>
          <a:p>
            <a:endParaRPr lang="en-US" sz="1100"/>
          </a:p>
        </p:txBody>
      </p:sp>
      <p:pic>
        <p:nvPicPr>
          <p:cNvPr id="4" name="Picture 3">
            <a:extLst>
              <a:ext uri="{FF2B5EF4-FFF2-40B4-BE49-F238E27FC236}">
                <a16:creationId xmlns:a16="http://schemas.microsoft.com/office/drawing/2014/main" id="{1231AAED-4FAB-994E-38D3-963A628C3E85}"/>
              </a:ext>
            </a:extLst>
          </p:cNvPr>
          <p:cNvPicPr>
            <a:picLocks noChangeAspect="1"/>
          </p:cNvPicPr>
          <p:nvPr/>
        </p:nvPicPr>
        <p:blipFill>
          <a:blip r:embed="rId4"/>
          <a:stretch>
            <a:fillRect/>
          </a:stretch>
        </p:blipFill>
        <p:spPr>
          <a:xfrm>
            <a:off x="990971" y="5661653"/>
            <a:ext cx="5279282" cy="29356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descr="A black and white text with numbers&#10;&#10;AI-generated content may be incorrect.">
            <a:extLst>
              <a:ext uri="{FF2B5EF4-FFF2-40B4-BE49-F238E27FC236}">
                <a16:creationId xmlns:a16="http://schemas.microsoft.com/office/drawing/2014/main" id="{76C2CEEC-EA85-C518-2106-83684AB1D937}"/>
              </a:ext>
            </a:extLst>
          </p:cNvPr>
          <p:cNvPicPr>
            <a:picLocks noChangeAspect="1"/>
          </p:cNvPicPr>
          <p:nvPr/>
        </p:nvPicPr>
        <p:blipFill>
          <a:blip r:embed="rId5"/>
          <a:stretch>
            <a:fillRect/>
          </a:stretch>
        </p:blipFill>
        <p:spPr>
          <a:xfrm>
            <a:off x="6617366" y="5635676"/>
            <a:ext cx="4326727" cy="29525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descr="A mathematical equation with black text&#10;&#10;AI-generated content may be incorrect.">
            <a:extLst>
              <a:ext uri="{FF2B5EF4-FFF2-40B4-BE49-F238E27FC236}">
                <a16:creationId xmlns:a16="http://schemas.microsoft.com/office/drawing/2014/main" id="{4B255006-43DC-0FA1-81E4-C039F05731C1}"/>
              </a:ext>
            </a:extLst>
          </p:cNvPr>
          <p:cNvPicPr>
            <a:picLocks noChangeAspect="1"/>
          </p:cNvPicPr>
          <p:nvPr/>
        </p:nvPicPr>
        <p:blipFill>
          <a:blip r:embed="rId6"/>
          <a:stretch>
            <a:fillRect/>
          </a:stretch>
        </p:blipFill>
        <p:spPr>
          <a:xfrm>
            <a:off x="3420341" y="4024744"/>
            <a:ext cx="2654012" cy="1094510"/>
          </a:xfrm>
          <a:prstGeom prst="rect">
            <a:avLst/>
          </a:prstGeom>
        </p:spPr>
      </p:pic>
      <p:pic>
        <p:nvPicPr>
          <p:cNvPr id="7" name="Picture 6" descr="A close-up of a sign&#10;&#10;AI-generated content may be incorrect.">
            <a:extLst>
              <a:ext uri="{FF2B5EF4-FFF2-40B4-BE49-F238E27FC236}">
                <a16:creationId xmlns:a16="http://schemas.microsoft.com/office/drawing/2014/main" id="{4D1F024F-322D-F4DF-FEBC-664A26F02B6D}"/>
              </a:ext>
            </a:extLst>
          </p:cNvPr>
          <p:cNvPicPr>
            <a:picLocks noChangeAspect="1"/>
          </p:cNvPicPr>
          <p:nvPr/>
        </p:nvPicPr>
        <p:blipFill>
          <a:blip r:embed="rId7"/>
          <a:stretch>
            <a:fillRect/>
          </a:stretch>
        </p:blipFill>
        <p:spPr>
          <a:xfrm>
            <a:off x="11170227" y="3656734"/>
            <a:ext cx="2880880" cy="677142"/>
          </a:xfrm>
          <a:prstGeom prst="rect">
            <a:avLst/>
          </a:prstGeom>
        </p:spPr>
      </p:pic>
      <p:pic>
        <p:nvPicPr>
          <p:cNvPr id="8" name="Picture 7" descr="A close-up of a white background&#10;&#10;AI-generated content may be incorrect.">
            <a:extLst>
              <a:ext uri="{FF2B5EF4-FFF2-40B4-BE49-F238E27FC236}">
                <a16:creationId xmlns:a16="http://schemas.microsoft.com/office/drawing/2014/main" id="{14593F32-64FD-E505-F754-7D5DEE38B4F5}"/>
              </a:ext>
            </a:extLst>
          </p:cNvPr>
          <p:cNvPicPr>
            <a:picLocks noChangeAspect="1"/>
          </p:cNvPicPr>
          <p:nvPr/>
        </p:nvPicPr>
        <p:blipFill>
          <a:blip r:embed="rId8"/>
          <a:stretch>
            <a:fillRect/>
          </a:stretch>
        </p:blipFill>
        <p:spPr>
          <a:xfrm>
            <a:off x="11165898" y="5327938"/>
            <a:ext cx="6109855" cy="852055"/>
          </a:xfrm>
          <a:prstGeom prst="rect">
            <a:avLst/>
          </a:prstGeom>
        </p:spPr>
      </p:pic>
      <p:pic>
        <p:nvPicPr>
          <p:cNvPr id="9" name="Picture 8">
            <a:extLst>
              <a:ext uri="{FF2B5EF4-FFF2-40B4-BE49-F238E27FC236}">
                <a16:creationId xmlns:a16="http://schemas.microsoft.com/office/drawing/2014/main" id="{9A847E15-B8E8-EE63-E165-684BF65E706A}"/>
              </a:ext>
            </a:extLst>
          </p:cNvPr>
          <p:cNvPicPr>
            <a:picLocks noChangeAspect="1"/>
          </p:cNvPicPr>
          <p:nvPr/>
        </p:nvPicPr>
        <p:blipFill>
          <a:blip r:embed="rId9"/>
          <a:stretch>
            <a:fillRect/>
          </a:stretch>
        </p:blipFill>
        <p:spPr>
          <a:xfrm>
            <a:off x="11174557" y="4531303"/>
            <a:ext cx="3498274" cy="586222"/>
          </a:xfrm>
          <a:prstGeom prst="rect">
            <a:avLst/>
          </a:prstGeom>
        </p:spPr>
      </p:pic>
      <p:sp>
        <p:nvSpPr>
          <p:cNvPr id="10" name="TextBox 9">
            <a:extLst>
              <a:ext uri="{FF2B5EF4-FFF2-40B4-BE49-F238E27FC236}">
                <a16:creationId xmlns:a16="http://schemas.microsoft.com/office/drawing/2014/main" id="{03315C14-63E4-72A8-DE15-FC0AB116050A}"/>
              </a:ext>
            </a:extLst>
          </p:cNvPr>
          <p:cNvSpPr txBox="1"/>
          <p:nvPr/>
        </p:nvSpPr>
        <p:spPr>
          <a:xfrm>
            <a:off x="3377045" y="402647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err="1">
                <a:solidFill>
                  <a:schemeClr val="tx1"/>
                </a:solidFill>
              </a:rPr>
              <a:t>Softmax</a:t>
            </a:r>
            <a:endParaRPr lang="en-US" sz="1800">
              <a:solidFill>
                <a:schemeClr val="tx1"/>
              </a:solidFill>
            </a:endParaRPr>
          </a:p>
        </p:txBody>
      </p:sp>
    </p:spTree>
    <p:extLst>
      <p:ext uri="{BB962C8B-B14F-4D97-AF65-F5344CB8AC3E}">
        <p14:creationId xmlns:p14="http://schemas.microsoft.com/office/powerpoint/2010/main" val="3579769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A504-1288-E04A-E761-FF421F0EBC58}"/>
              </a:ext>
            </a:extLst>
          </p:cNvPr>
          <p:cNvSpPr>
            <a:spLocks noGrp="1"/>
          </p:cNvSpPr>
          <p:nvPr>
            <p:ph type="ctrTitle"/>
          </p:nvPr>
        </p:nvSpPr>
        <p:spPr/>
        <p:txBody>
          <a:bodyPr/>
          <a:lstStyle/>
          <a:p>
            <a:r>
              <a:rPr lang="en-US"/>
              <a:t>Architecture Overview</a:t>
            </a:r>
          </a:p>
        </p:txBody>
      </p:sp>
      <p:sp>
        <p:nvSpPr>
          <p:cNvPr id="3" name="Subtitle 2">
            <a:extLst>
              <a:ext uri="{FF2B5EF4-FFF2-40B4-BE49-F238E27FC236}">
                <a16:creationId xmlns:a16="http://schemas.microsoft.com/office/drawing/2014/main" id="{2BDE7BDE-54D2-31B6-6CF7-C83566A1BEC3}"/>
              </a:ext>
            </a:extLst>
          </p:cNvPr>
          <p:cNvSpPr>
            <a:spLocks noGrp="1"/>
          </p:cNvSpPr>
          <p:nvPr>
            <p:ph type="subTitle" idx="1"/>
          </p:nvPr>
        </p:nvSpPr>
        <p:spPr>
          <a:xfrm>
            <a:off x="8577691" y="3220687"/>
            <a:ext cx="8637600" cy="1752600"/>
          </a:xfrm>
        </p:spPr>
        <p:txBody>
          <a:bodyPr/>
          <a:lstStyle/>
          <a:p>
            <a:endParaRPr lang="en-US"/>
          </a:p>
        </p:txBody>
      </p:sp>
      <p:pic>
        <p:nvPicPr>
          <p:cNvPr id="4" name="Picture 3" descr="A flowchart of a program&#10;&#10;AI-generated content may be incorrect.">
            <a:extLst>
              <a:ext uri="{FF2B5EF4-FFF2-40B4-BE49-F238E27FC236}">
                <a16:creationId xmlns:a16="http://schemas.microsoft.com/office/drawing/2014/main" id="{E837FCCC-C034-E41E-5498-58A1C9C2C051}"/>
              </a:ext>
            </a:extLst>
          </p:cNvPr>
          <p:cNvPicPr>
            <a:picLocks noChangeAspect="1"/>
          </p:cNvPicPr>
          <p:nvPr/>
        </p:nvPicPr>
        <p:blipFill>
          <a:blip r:embed="rId2"/>
          <a:stretch>
            <a:fillRect/>
          </a:stretch>
        </p:blipFill>
        <p:spPr>
          <a:xfrm>
            <a:off x="1077942" y="3223943"/>
            <a:ext cx="7505700" cy="6038850"/>
          </a:xfrm>
          <a:prstGeom prst="rect">
            <a:avLst/>
          </a:prstGeom>
        </p:spPr>
      </p:pic>
    </p:spTree>
    <p:extLst>
      <p:ext uri="{BB962C8B-B14F-4D97-AF65-F5344CB8AC3E}">
        <p14:creationId xmlns:p14="http://schemas.microsoft.com/office/powerpoint/2010/main" val="14248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33A0C-69FA-1010-89D9-0757B7399AB8}"/>
              </a:ext>
            </a:extLst>
          </p:cNvPr>
          <p:cNvSpPr>
            <a:spLocks noGrp="1"/>
          </p:cNvSpPr>
          <p:nvPr>
            <p:ph type="ctrTitle"/>
          </p:nvPr>
        </p:nvSpPr>
        <p:spPr/>
        <p:txBody>
          <a:bodyPr/>
          <a:lstStyle/>
          <a:p>
            <a:r>
              <a:rPr lang="en-US"/>
              <a:t>The Data (Pre-Cleaning)</a:t>
            </a:r>
          </a:p>
        </p:txBody>
      </p:sp>
      <p:pic>
        <p:nvPicPr>
          <p:cNvPr id="4" name="Picture 3" descr="A screenshot of a computer program&#10;&#10;AI-generated content may be incorrect.">
            <a:extLst>
              <a:ext uri="{FF2B5EF4-FFF2-40B4-BE49-F238E27FC236}">
                <a16:creationId xmlns:a16="http://schemas.microsoft.com/office/drawing/2014/main" id="{7D3C9897-055E-DCF0-3447-50362ED64673}"/>
              </a:ext>
            </a:extLst>
          </p:cNvPr>
          <p:cNvPicPr>
            <a:picLocks noChangeAspect="1"/>
          </p:cNvPicPr>
          <p:nvPr/>
        </p:nvPicPr>
        <p:blipFill>
          <a:blip r:embed="rId2"/>
          <a:stretch>
            <a:fillRect/>
          </a:stretch>
        </p:blipFill>
        <p:spPr>
          <a:xfrm>
            <a:off x="933923" y="3625884"/>
            <a:ext cx="7101639" cy="3243513"/>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80020AA4-4092-501D-5537-B671BE5D0CFE}"/>
              </a:ext>
            </a:extLst>
          </p:cNvPr>
          <p:cNvPicPr>
            <a:picLocks noChangeAspect="1"/>
          </p:cNvPicPr>
          <p:nvPr/>
        </p:nvPicPr>
        <p:blipFill>
          <a:blip r:embed="rId3"/>
          <a:stretch>
            <a:fillRect/>
          </a:stretch>
        </p:blipFill>
        <p:spPr>
          <a:xfrm>
            <a:off x="10252910" y="3621756"/>
            <a:ext cx="7106652" cy="2126080"/>
          </a:xfrm>
          <a:prstGeom prst="rect">
            <a:avLst/>
          </a:prstGeom>
        </p:spPr>
      </p:pic>
      <p:sp>
        <p:nvSpPr>
          <p:cNvPr id="6" name="TextBox 5">
            <a:extLst>
              <a:ext uri="{FF2B5EF4-FFF2-40B4-BE49-F238E27FC236}">
                <a16:creationId xmlns:a16="http://schemas.microsoft.com/office/drawing/2014/main" id="{B94BC627-8B7E-E8A7-0FEA-8FF2D1154A9B}"/>
              </a:ext>
            </a:extLst>
          </p:cNvPr>
          <p:cNvSpPr txBox="1"/>
          <p:nvPr/>
        </p:nvSpPr>
        <p:spPr>
          <a:xfrm>
            <a:off x="1985211" y="4587039"/>
            <a:ext cx="11490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0000"/>
                </a:solidFill>
              </a:rPr>
              <a:t>Drop</a:t>
            </a:r>
          </a:p>
        </p:txBody>
      </p:sp>
      <p:sp>
        <p:nvSpPr>
          <p:cNvPr id="7" name="TextBox 6">
            <a:extLst>
              <a:ext uri="{FF2B5EF4-FFF2-40B4-BE49-F238E27FC236}">
                <a16:creationId xmlns:a16="http://schemas.microsoft.com/office/drawing/2014/main" id="{DE975058-20A3-7E47-FA71-118D26B65E7F}"/>
              </a:ext>
            </a:extLst>
          </p:cNvPr>
          <p:cNvSpPr txBox="1"/>
          <p:nvPr/>
        </p:nvSpPr>
        <p:spPr>
          <a:xfrm>
            <a:off x="1985210" y="4857749"/>
            <a:ext cx="11490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0000"/>
                </a:solidFill>
              </a:rPr>
              <a:t>Drop</a:t>
            </a:r>
          </a:p>
        </p:txBody>
      </p:sp>
      <p:sp>
        <p:nvSpPr>
          <p:cNvPr id="8" name="TextBox 7">
            <a:extLst>
              <a:ext uri="{FF2B5EF4-FFF2-40B4-BE49-F238E27FC236}">
                <a16:creationId xmlns:a16="http://schemas.microsoft.com/office/drawing/2014/main" id="{7403D7A7-DA7A-3BDD-266E-1D15E17C3D13}"/>
              </a:ext>
            </a:extLst>
          </p:cNvPr>
          <p:cNvSpPr txBox="1"/>
          <p:nvPr/>
        </p:nvSpPr>
        <p:spPr>
          <a:xfrm>
            <a:off x="1985211" y="5128461"/>
            <a:ext cx="11490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0000"/>
                </a:solidFill>
              </a:rPr>
              <a:t>Drop</a:t>
            </a:r>
          </a:p>
        </p:txBody>
      </p:sp>
      <p:sp>
        <p:nvSpPr>
          <p:cNvPr id="9" name="TextBox 8">
            <a:extLst>
              <a:ext uri="{FF2B5EF4-FFF2-40B4-BE49-F238E27FC236}">
                <a16:creationId xmlns:a16="http://schemas.microsoft.com/office/drawing/2014/main" id="{503D5AB1-069D-1F7F-0B58-A4AB679A5E94}"/>
              </a:ext>
            </a:extLst>
          </p:cNvPr>
          <p:cNvSpPr txBox="1"/>
          <p:nvPr/>
        </p:nvSpPr>
        <p:spPr>
          <a:xfrm>
            <a:off x="1985211" y="5940591"/>
            <a:ext cx="420202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rPr>
              <a:t>Replace (</a:t>
            </a:r>
            <a:r>
              <a:rPr lang="en-US" err="1">
                <a:solidFill>
                  <a:srgbClr val="FF0000"/>
                </a:solidFill>
              </a:rPr>
              <a:t>url_count</a:t>
            </a:r>
            <a:r>
              <a:rPr lang="en-US">
                <a:solidFill>
                  <a:srgbClr val="FF0000"/>
                </a:solidFill>
              </a:rPr>
              <a:t>, </a:t>
            </a:r>
            <a:r>
              <a:rPr lang="en-US" err="1">
                <a:solidFill>
                  <a:srgbClr val="FF0000"/>
                </a:solidFill>
              </a:rPr>
              <a:t>distinct_url_count</a:t>
            </a:r>
            <a:r>
              <a:rPr lang="en-US">
                <a:solidFill>
                  <a:srgbClr val="FF0000"/>
                </a:solidFill>
              </a:rPr>
              <a:t>)</a:t>
            </a:r>
          </a:p>
        </p:txBody>
      </p:sp>
      <p:sp>
        <p:nvSpPr>
          <p:cNvPr id="10" name="TextBox 9">
            <a:extLst>
              <a:ext uri="{FF2B5EF4-FFF2-40B4-BE49-F238E27FC236}">
                <a16:creationId xmlns:a16="http://schemas.microsoft.com/office/drawing/2014/main" id="{F92F3EEA-AC36-DFD8-B777-3097F902F724}"/>
              </a:ext>
            </a:extLst>
          </p:cNvPr>
          <p:cNvSpPr txBox="1"/>
          <p:nvPr/>
        </p:nvSpPr>
        <p:spPr>
          <a:xfrm>
            <a:off x="10151643" y="4496802"/>
            <a:ext cx="27432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a:solidFill>
                  <a:srgbClr val="FF0000"/>
                </a:solidFill>
              </a:rPr>
              <a:t>{</a:t>
            </a:r>
          </a:p>
        </p:txBody>
      </p:sp>
      <p:sp>
        <p:nvSpPr>
          <p:cNvPr id="12" name="TextBox 11">
            <a:extLst>
              <a:ext uri="{FF2B5EF4-FFF2-40B4-BE49-F238E27FC236}">
                <a16:creationId xmlns:a16="http://schemas.microsoft.com/office/drawing/2014/main" id="{924C26DF-8AFF-E22D-13FB-341EA6278DA7}"/>
              </a:ext>
            </a:extLst>
          </p:cNvPr>
          <p:cNvSpPr txBox="1"/>
          <p:nvPr/>
        </p:nvSpPr>
        <p:spPr>
          <a:xfrm>
            <a:off x="8256670" y="3519236"/>
            <a:ext cx="200626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solidFill>
                  <a:srgbClr val="FF0000"/>
                </a:solidFill>
              </a:rPr>
              <a:t>1) Combined </a:t>
            </a:r>
            <a:endParaRPr lang="en-US"/>
          </a:p>
          <a:p>
            <a:pPr algn="r"/>
            <a:r>
              <a:rPr lang="en-US">
                <a:solidFill>
                  <a:srgbClr val="FF0000"/>
                </a:solidFill>
              </a:rPr>
              <a:t>(subject + " " + body).</a:t>
            </a:r>
            <a:endParaRPr lang="en-US"/>
          </a:p>
          <a:p>
            <a:pPr algn="r"/>
            <a:r>
              <a:rPr lang="en-US">
                <a:solidFill>
                  <a:srgbClr val="FF0000"/>
                </a:solidFill>
              </a:rPr>
              <a:t>2) Passed to </a:t>
            </a:r>
            <a:r>
              <a:rPr lang="en-US" err="1">
                <a:solidFill>
                  <a:srgbClr val="FF0000"/>
                </a:solidFill>
              </a:rPr>
              <a:t>DistilBERT</a:t>
            </a:r>
            <a:r>
              <a:rPr lang="en-US">
                <a:solidFill>
                  <a:srgbClr val="FF0000"/>
                </a:solidFill>
              </a:rPr>
              <a:t> for embeddings</a:t>
            </a:r>
          </a:p>
          <a:p>
            <a:pPr algn="r"/>
            <a:r>
              <a:rPr lang="en-US">
                <a:solidFill>
                  <a:srgbClr val="FF0000"/>
                </a:solidFill>
              </a:rPr>
              <a:t>3) Embeddings passed through PCA (95% entropy)</a:t>
            </a:r>
          </a:p>
        </p:txBody>
      </p:sp>
      <p:sp>
        <p:nvSpPr>
          <p:cNvPr id="14" name="TextBox 13">
            <a:extLst>
              <a:ext uri="{FF2B5EF4-FFF2-40B4-BE49-F238E27FC236}">
                <a16:creationId xmlns:a16="http://schemas.microsoft.com/office/drawing/2014/main" id="{54E33BEE-C5BF-FBD9-324B-2D678C54BA05}"/>
              </a:ext>
            </a:extLst>
          </p:cNvPr>
          <p:cNvSpPr txBox="1"/>
          <p:nvPr/>
        </p:nvSpPr>
        <p:spPr>
          <a:xfrm>
            <a:off x="9128960" y="700839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4F7167E7-BA4E-DB27-2856-F1432BD164A6}"/>
              </a:ext>
            </a:extLst>
          </p:cNvPr>
          <p:cNvSpPr txBox="1"/>
          <p:nvPr/>
        </p:nvSpPr>
        <p:spPr>
          <a:xfrm rot="-10800000" flipV="1">
            <a:off x="7835563" y="5594683"/>
            <a:ext cx="26680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a:solidFill>
                  <a:srgbClr val="FF0000"/>
                </a:solidFill>
              </a:rPr>
              <a:t>}</a:t>
            </a:r>
          </a:p>
        </p:txBody>
      </p:sp>
      <p:sp>
        <p:nvSpPr>
          <p:cNvPr id="19" name="TextBox 18">
            <a:extLst>
              <a:ext uri="{FF2B5EF4-FFF2-40B4-BE49-F238E27FC236}">
                <a16:creationId xmlns:a16="http://schemas.microsoft.com/office/drawing/2014/main" id="{5F9110FE-22E8-3924-44D4-C32CED0EB1A9}"/>
              </a:ext>
            </a:extLst>
          </p:cNvPr>
          <p:cNvSpPr txBox="1"/>
          <p:nvPr/>
        </p:nvSpPr>
        <p:spPr>
          <a:xfrm>
            <a:off x="7988406" y="569542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rPr>
              <a:t>URL extraction and replacement (all URLs replaces with &lt;</a:t>
            </a:r>
            <a:r>
              <a:rPr lang="en-US" err="1">
                <a:solidFill>
                  <a:srgbClr val="FF0000"/>
                </a:solidFill>
              </a:rPr>
              <a:t>url</a:t>
            </a:r>
            <a:r>
              <a:rPr lang="en-US">
                <a:solidFill>
                  <a:srgbClr val="FF0000"/>
                </a:solidFill>
              </a:rPr>
              <a:t>&gt;)</a:t>
            </a:r>
          </a:p>
        </p:txBody>
      </p:sp>
      <p:sp>
        <p:nvSpPr>
          <p:cNvPr id="3" name="TextBox 2">
            <a:extLst>
              <a:ext uri="{FF2B5EF4-FFF2-40B4-BE49-F238E27FC236}">
                <a16:creationId xmlns:a16="http://schemas.microsoft.com/office/drawing/2014/main" id="{EE5F6728-3676-2DF6-D22E-E2CA39134FDA}"/>
              </a:ext>
            </a:extLst>
          </p:cNvPr>
          <p:cNvSpPr txBox="1"/>
          <p:nvPr/>
        </p:nvSpPr>
        <p:spPr>
          <a:xfrm>
            <a:off x="4576107" y="3039270"/>
            <a:ext cx="1016191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bg1"/>
                </a:solidFill>
              </a:rPr>
              <a:t>https://www.kaggle.com/datasets/naserabdullahalam/phishing-email-dataset/data</a:t>
            </a:r>
          </a:p>
          <a:p>
            <a:pPr algn="l"/>
            <a:endParaRPr lang="en-US"/>
          </a:p>
        </p:txBody>
      </p:sp>
    </p:spTree>
    <p:extLst>
      <p:ext uri="{BB962C8B-B14F-4D97-AF65-F5344CB8AC3E}">
        <p14:creationId xmlns:p14="http://schemas.microsoft.com/office/powerpoint/2010/main" val="1699012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CC2B8-E0F8-9043-C696-C7F5FCB1EDEE}"/>
              </a:ext>
            </a:extLst>
          </p:cNvPr>
          <p:cNvSpPr>
            <a:spLocks noGrp="1"/>
          </p:cNvSpPr>
          <p:nvPr>
            <p:ph type="ctrTitle"/>
          </p:nvPr>
        </p:nvSpPr>
        <p:spPr/>
        <p:txBody>
          <a:bodyPr>
            <a:normAutofit fontScale="90000"/>
          </a:bodyPr>
          <a:lstStyle/>
          <a:p>
            <a:r>
              <a:rPr lang="en-US"/>
              <a:t>Feature Extraction with </a:t>
            </a:r>
            <a:r>
              <a:rPr lang="en-US" err="1"/>
              <a:t>DistilBERT</a:t>
            </a:r>
            <a:r>
              <a:rPr lang="en-US"/>
              <a:t> and PCA</a:t>
            </a:r>
          </a:p>
        </p:txBody>
      </p:sp>
      <p:sp>
        <p:nvSpPr>
          <p:cNvPr id="3" name="Subtitle 2">
            <a:extLst>
              <a:ext uri="{FF2B5EF4-FFF2-40B4-BE49-F238E27FC236}">
                <a16:creationId xmlns:a16="http://schemas.microsoft.com/office/drawing/2014/main" id="{0DE7F91A-D417-659D-BC7A-17589FE52B8C}"/>
              </a:ext>
            </a:extLst>
          </p:cNvPr>
          <p:cNvSpPr>
            <a:spLocks noGrp="1"/>
          </p:cNvSpPr>
          <p:nvPr>
            <p:ph type="subTitle" idx="1"/>
          </p:nvPr>
        </p:nvSpPr>
        <p:spPr/>
        <p:txBody>
          <a:bodyPr/>
          <a:lstStyle/>
          <a:p>
            <a:endParaRPr lang="en-US"/>
          </a:p>
        </p:txBody>
      </p:sp>
      <p:pic>
        <p:nvPicPr>
          <p:cNvPr id="4" name="Picture 3" descr="A computer screen shot of a program code&#10;&#10;AI-generated content may be incorrect.">
            <a:extLst>
              <a:ext uri="{FF2B5EF4-FFF2-40B4-BE49-F238E27FC236}">
                <a16:creationId xmlns:a16="http://schemas.microsoft.com/office/drawing/2014/main" id="{E3794E21-CA87-0946-4CD7-5588750884F2}"/>
              </a:ext>
            </a:extLst>
          </p:cNvPr>
          <p:cNvPicPr>
            <a:picLocks noChangeAspect="1"/>
          </p:cNvPicPr>
          <p:nvPr/>
        </p:nvPicPr>
        <p:blipFill>
          <a:blip r:embed="rId2"/>
          <a:srcRect l="7876" t="41589" r="43179" b="39720"/>
          <a:stretch>
            <a:fillRect/>
          </a:stretch>
        </p:blipFill>
        <p:spPr>
          <a:xfrm>
            <a:off x="1017072" y="3666259"/>
            <a:ext cx="6412440" cy="739531"/>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BF1721F2-6F40-AE47-E82A-DF9B9D538415}"/>
              </a:ext>
            </a:extLst>
          </p:cNvPr>
          <p:cNvPicPr>
            <a:picLocks noChangeAspect="1"/>
          </p:cNvPicPr>
          <p:nvPr/>
        </p:nvPicPr>
        <p:blipFill>
          <a:blip r:embed="rId3"/>
          <a:srcRect t="50843" r="19891" b="7022"/>
          <a:stretch>
            <a:fillRect/>
          </a:stretch>
        </p:blipFill>
        <p:spPr>
          <a:xfrm>
            <a:off x="1025662" y="4414231"/>
            <a:ext cx="8744755" cy="4441314"/>
          </a:xfrm>
          <a:prstGeom prst="rect">
            <a:avLst/>
          </a:prstGeom>
        </p:spPr>
      </p:pic>
      <p:pic>
        <p:nvPicPr>
          <p:cNvPr id="6" name="Picture 5">
            <a:extLst>
              <a:ext uri="{FF2B5EF4-FFF2-40B4-BE49-F238E27FC236}">
                <a16:creationId xmlns:a16="http://schemas.microsoft.com/office/drawing/2014/main" id="{2F1CCE3A-CDAC-E36D-FE47-D864249894E1}"/>
              </a:ext>
            </a:extLst>
          </p:cNvPr>
          <p:cNvPicPr>
            <a:picLocks noChangeAspect="1"/>
          </p:cNvPicPr>
          <p:nvPr/>
        </p:nvPicPr>
        <p:blipFill>
          <a:blip r:embed="rId4"/>
          <a:stretch>
            <a:fillRect/>
          </a:stretch>
        </p:blipFill>
        <p:spPr>
          <a:xfrm>
            <a:off x="9826745" y="3845854"/>
            <a:ext cx="7282491" cy="373991"/>
          </a:xfrm>
          <a:prstGeom prst="rect">
            <a:avLst/>
          </a:prstGeom>
        </p:spPr>
      </p:pic>
    </p:spTree>
    <p:extLst>
      <p:ext uri="{BB962C8B-B14F-4D97-AF65-F5344CB8AC3E}">
        <p14:creationId xmlns:p14="http://schemas.microsoft.com/office/powerpoint/2010/main" val="3255034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523">
          <a:extLst>
            <a:ext uri="{FF2B5EF4-FFF2-40B4-BE49-F238E27FC236}">
              <a16:creationId xmlns:a16="http://schemas.microsoft.com/office/drawing/2014/main" id="{DA8F50AF-FD82-82A7-09E2-9E57D7268402}"/>
            </a:ext>
          </a:extLst>
        </p:cNvPr>
        <p:cNvGrpSpPr/>
        <p:nvPr/>
      </p:nvGrpSpPr>
      <p:grpSpPr>
        <a:xfrm>
          <a:off x="0" y="0"/>
          <a:ext cx="0" cy="0"/>
          <a:chOff x="0" y="0"/>
          <a:chExt cx="0" cy="0"/>
        </a:xfrm>
      </p:grpSpPr>
      <p:pic>
        <p:nvPicPr>
          <p:cNvPr id="524" name="Google Shape;524;p26">
            <a:extLst>
              <a:ext uri="{FF2B5EF4-FFF2-40B4-BE49-F238E27FC236}">
                <a16:creationId xmlns:a16="http://schemas.microsoft.com/office/drawing/2014/main" id="{C408BE93-C97C-20BE-BBF8-C7BBA5820052}"/>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grpSp>
        <p:nvGrpSpPr>
          <p:cNvPr id="525" name="Google Shape;525;p26">
            <a:extLst>
              <a:ext uri="{FF2B5EF4-FFF2-40B4-BE49-F238E27FC236}">
                <a16:creationId xmlns:a16="http://schemas.microsoft.com/office/drawing/2014/main" id="{8D807421-D16A-B39A-6535-7E805DA6D12A}"/>
              </a:ext>
            </a:extLst>
          </p:cNvPr>
          <p:cNvGrpSpPr/>
          <p:nvPr/>
        </p:nvGrpSpPr>
        <p:grpSpPr>
          <a:xfrm>
            <a:off x="864551" y="626903"/>
            <a:ext cx="16558897" cy="8798580"/>
            <a:chOff x="0" y="-47625"/>
            <a:chExt cx="4361191" cy="2317322"/>
          </a:xfrm>
        </p:grpSpPr>
        <p:sp>
          <p:nvSpPr>
            <p:cNvPr id="526" name="Google Shape;526;p26">
              <a:extLst>
                <a:ext uri="{FF2B5EF4-FFF2-40B4-BE49-F238E27FC236}">
                  <a16:creationId xmlns:a16="http://schemas.microsoft.com/office/drawing/2014/main" id="{80A76080-3DA9-0DBE-595A-07AFD1D08E4B}"/>
                </a:ext>
              </a:extLst>
            </p:cNvPr>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a:extLst>
                <a:ext uri="{FF2B5EF4-FFF2-40B4-BE49-F238E27FC236}">
                  <a16:creationId xmlns:a16="http://schemas.microsoft.com/office/drawing/2014/main" id="{5F4E3CD0-5CA8-9373-7850-A0F43E37E508}"/>
                </a:ext>
              </a:extLst>
            </p:cNvPr>
            <p:cNvSpPr txBox="1"/>
            <p:nvPr/>
          </p:nvSpPr>
          <p:spPr>
            <a:xfrm>
              <a:off x="0" y="-47625"/>
              <a:ext cx="4361191" cy="231732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0" name="Google Shape;530;p26">
            <a:extLst>
              <a:ext uri="{FF2B5EF4-FFF2-40B4-BE49-F238E27FC236}">
                <a16:creationId xmlns:a16="http://schemas.microsoft.com/office/drawing/2014/main" id="{44B59749-AD8D-E2E8-E70A-0371C9A87E91}"/>
              </a:ext>
            </a:extLst>
          </p:cNvPr>
          <p:cNvGrpSpPr/>
          <p:nvPr/>
        </p:nvGrpSpPr>
        <p:grpSpPr>
          <a:xfrm rot="10800000">
            <a:off x="15878010" y="6622486"/>
            <a:ext cx="780553" cy="1821165"/>
            <a:chOff x="0" y="-111248"/>
            <a:chExt cx="1040738" cy="2428219"/>
          </a:xfrm>
        </p:grpSpPr>
        <p:grpSp>
          <p:nvGrpSpPr>
            <p:cNvPr id="531" name="Google Shape;531;p26">
              <a:extLst>
                <a:ext uri="{FF2B5EF4-FFF2-40B4-BE49-F238E27FC236}">
                  <a16:creationId xmlns:a16="http://schemas.microsoft.com/office/drawing/2014/main" id="{0B76D587-316C-C44E-C77F-391C6A0DA58B}"/>
                </a:ext>
              </a:extLst>
            </p:cNvPr>
            <p:cNvGrpSpPr/>
            <p:nvPr/>
          </p:nvGrpSpPr>
          <p:grpSpPr>
            <a:xfrm>
              <a:off x="0" y="572578"/>
              <a:ext cx="564500" cy="1060566"/>
              <a:chOff x="0" y="-47625"/>
              <a:chExt cx="241661" cy="454025"/>
            </a:xfrm>
          </p:grpSpPr>
          <p:sp>
            <p:nvSpPr>
              <p:cNvPr id="532" name="Google Shape;532;p26">
                <a:extLst>
                  <a:ext uri="{FF2B5EF4-FFF2-40B4-BE49-F238E27FC236}">
                    <a16:creationId xmlns:a16="http://schemas.microsoft.com/office/drawing/2014/main" id="{6F34FFCD-D321-FC41-53A7-DC7218BC99C0}"/>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3" name="Google Shape;533;p26">
                <a:extLst>
                  <a:ext uri="{FF2B5EF4-FFF2-40B4-BE49-F238E27FC236}">
                    <a16:creationId xmlns:a16="http://schemas.microsoft.com/office/drawing/2014/main" id="{7A488C74-D92B-D023-8702-3535D462F4D1}"/>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4" name="Google Shape;534;p26">
              <a:extLst>
                <a:ext uri="{FF2B5EF4-FFF2-40B4-BE49-F238E27FC236}">
                  <a16:creationId xmlns:a16="http://schemas.microsoft.com/office/drawing/2014/main" id="{C7B10D3E-CD43-2D28-B868-6314B66B8265}"/>
                </a:ext>
              </a:extLst>
            </p:cNvPr>
            <p:cNvGrpSpPr/>
            <p:nvPr/>
          </p:nvGrpSpPr>
          <p:grpSpPr>
            <a:xfrm>
              <a:off x="476238" y="-111248"/>
              <a:ext cx="564500" cy="1060566"/>
              <a:chOff x="0" y="-47625"/>
              <a:chExt cx="241661" cy="454025"/>
            </a:xfrm>
          </p:grpSpPr>
          <p:sp>
            <p:nvSpPr>
              <p:cNvPr id="535" name="Google Shape;535;p26">
                <a:extLst>
                  <a:ext uri="{FF2B5EF4-FFF2-40B4-BE49-F238E27FC236}">
                    <a16:creationId xmlns:a16="http://schemas.microsoft.com/office/drawing/2014/main" id="{A6B21B7D-57C0-492D-530A-105E5BB63CE6}"/>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6" name="Google Shape;536;p26">
                <a:extLst>
                  <a:ext uri="{FF2B5EF4-FFF2-40B4-BE49-F238E27FC236}">
                    <a16:creationId xmlns:a16="http://schemas.microsoft.com/office/drawing/2014/main" id="{8A1EA549-7119-2E56-0CFA-FC321790E9B7}"/>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7" name="Google Shape;537;p26">
              <a:extLst>
                <a:ext uri="{FF2B5EF4-FFF2-40B4-BE49-F238E27FC236}">
                  <a16:creationId xmlns:a16="http://schemas.microsoft.com/office/drawing/2014/main" id="{CE4182C0-A087-1D08-4EC0-9AAC213CEC0D}"/>
                </a:ext>
              </a:extLst>
            </p:cNvPr>
            <p:cNvGrpSpPr/>
            <p:nvPr/>
          </p:nvGrpSpPr>
          <p:grpSpPr>
            <a:xfrm>
              <a:off x="476238" y="1256405"/>
              <a:ext cx="564500" cy="1060566"/>
              <a:chOff x="0" y="-47625"/>
              <a:chExt cx="241661" cy="454025"/>
            </a:xfrm>
          </p:grpSpPr>
          <p:sp>
            <p:nvSpPr>
              <p:cNvPr id="538" name="Google Shape;538;p26">
                <a:extLst>
                  <a:ext uri="{FF2B5EF4-FFF2-40B4-BE49-F238E27FC236}">
                    <a16:creationId xmlns:a16="http://schemas.microsoft.com/office/drawing/2014/main" id="{BF000130-ED54-16B4-6F60-345AB2D96D81}"/>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9" name="Google Shape;539;p26">
                <a:extLst>
                  <a:ext uri="{FF2B5EF4-FFF2-40B4-BE49-F238E27FC236}">
                    <a16:creationId xmlns:a16="http://schemas.microsoft.com/office/drawing/2014/main" id="{89F8E531-5A95-79C0-3709-C1F7813F8D56}"/>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40" name="Google Shape;540;p26">
            <a:extLst>
              <a:ext uri="{FF2B5EF4-FFF2-40B4-BE49-F238E27FC236}">
                <a16:creationId xmlns:a16="http://schemas.microsoft.com/office/drawing/2014/main" id="{91F8284D-92EC-CECF-7B67-EA5909F49161}"/>
              </a:ext>
            </a:extLst>
          </p:cNvPr>
          <p:cNvGrpSpPr/>
          <p:nvPr/>
        </p:nvGrpSpPr>
        <p:grpSpPr>
          <a:xfrm>
            <a:off x="1783278" y="1507635"/>
            <a:ext cx="780553" cy="1821165"/>
            <a:chOff x="0" y="-111248"/>
            <a:chExt cx="1040738" cy="2428219"/>
          </a:xfrm>
        </p:grpSpPr>
        <p:grpSp>
          <p:nvGrpSpPr>
            <p:cNvPr id="541" name="Google Shape;541;p26">
              <a:extLst>
                <a:ext uri="{FF2B5EF4-FFF2-40B4-BE49-F238E27FC236}">
                  <a16:creationId xmlns:a16="http://schemas.microsoft.com/office/drawing/2014/main" id="{49EF9D07-E931-049D-4FC9-FA88395DCE70}"/>
                </a:ext>
              </a:extLst>
            </p:cNvPr>
            <p:cNvGrpSpPr/>
            <p:nvPr/>
          </p:nvGrpSpPr>
          <p:grpSpPr>
            <a:xfrm>
              <a:off x="0" y="572578"/>
              <a:ext cx="564500" cy="1060566"/>
              <a:chOff x="0" y="-47625"/>
              <a:chExt cx="241661" cy="454025"/>
            </a:xfrm>
          </p:grpSpPr>
          <p:sp>
            <p:nvSpPr>
              <p:cNvPr id="542" name="Google Shape;542;p26">
                <a:extLst>
                  <a:ext uri="{FF2B5EF4-FFF2-40B4-BE49-F238E27FC236}">
                    <a16:creationId xmlns:a16="http://schemas.microsoft.com/office/drawing/2014/main" id="{B3B2C2DA-D86D-E9A5-30E4-4E114048FFFB}"/>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3" name="Google Shape;543;p26">
                <a:extLst>
                  <a:ext uri="{FF2B5EF4-FFF2-40B4-BE49-F238E27FC236}">
                    <a16:creationId xmlns:a16="http://schemas.microsoft.com/office/drawing/2014/main" id="{382F40DD-EF5E-B06C-3C8B-AD5FE8E33D4D}"/>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4" name="Google Shape;544;p26">
              <a:extLst>
                <a:ext uri="{FF2B5EF4-FFF2-40B4-BE49-F238E27FC236}">
                  <a16:creationId xmlns:a16="http://schemas.microsoft.com/office/drawing/2014/main" id="{9C7B455E-40EF-42EB-58EF-E6F80FB88ECE}"/>
                </a:ext>
              </a:extLst>
            </p:cNvPr>
            <p:cNvGrpSpPr/>
            <p:nvPr/>
          </p:nvGrpSpPr>
          <p:grpSpPr>
            <a:xfrm>
              <a:off x="476238" y="-111248"/>
              <a:ext cx="564500" cy="1060566"/>
              <a:chOff x="0" y="-47625"/>
              <a:chExt cx="241661" cy="454025"/>
            </a:xfrm>
          </p:grpSpPr>
          <p:sp>
            <p:nvSpPr>
              <p:cNvPr id="545" name="Google Shape;545;p26">
                <a:extLst>
                  <a:ext uri="{FF2B5EF4-FFF2-40B4-BE49-F238E27FC236}">
                    <a16:creationId xmlns:a16="http://schemas.microsoft.com/office/drawing/2014/main" id="{A3366C80-1DEA-6B5A-AF54-2B92A5D0BE8D}"/>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6" name="Google Shape;546;p26">
                <a:extLst>
                  <a:ext uri="{FF2B5EF4-FFF2-40B4-BE49-F238E27FC236}">
                    <a16:creationId xmlns:a16="http://schemas.microsoft.com/office/drawing/2014/main" id="{B33F1929-B782-455E-9B46-7FDA2F49A5ED}"/>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7" name="Google Shape;547;p26">
              <a:extLst>
                <a:ext uri="{FF2B5EF4-FFF2-40B4-BE49-F238E27FC236}">
                  <a16:creationId xmlns:a16="http://schemas.microsoft.com/office/drawing/2014/main" id="{635BB200-138C-7126-3216-622696606E62}"/>
                </a:ext>
              </a:extLst>
            </p:cNvPr>
            <p:cNvGrpSpPr/>
            <p:nvPr/>
          </p:nvGrpSpPr>
          <p:grpSpPr>
            <a:xfrm>
              <a:off x="476238" y="1256405"/>
              <a:ext cx="564500" cy="1060566"/>
              <a:chOff x="0" y="-47625"/>
              <a:chExt cx="241661" cy="454025"/>
            </a:xfrm>
          </p:grpSpPr>
          <p:sp>
            <p:nvSpPr>
              <p:cNvPr id="548" name="Google Shape;548;p26">
                <a:extLst>
                  <a:ext uri="{FF2B5EF4-FFF2-40B4-BE49-F238E27FC236}">
                    <a16:creationId xmlns:a16="http://schemas.microsoft.com/office/drawing/2014/main" id="{26E8D135-C892-71CA-0016-D3232F3F910C}"/>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9" name="Google Shape;549;p26">
                <a:extLst>
                  <a:ext uri="{FF2B5EF4-FFF2-40B4-BE49-F238E27FC236}">
                    <a16:creationId xmlns:a16="http://schemas.microsoft.com/office/drawing/2014/main" id="{8A42C0E5-68B3-5FEE-AC06-E09BAB2559D9}"/>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 name="Title 2">
            <a:extLst>
              <a:ext uri="{FF2B5EF4-FFF2-40B4-BE49-F238E27FC236}">
                <a16:creationId xmlns:a16="http://schemas.microsoft.com/office/drawing/2014/main" id="{AC9F98D4-FE94-FB64-582A-1D5A1950CBB8}"/>
              </a:ext>
            </a:extLst>
          </p:cNvPr>
          <p:cNvSpPr>
            <a:spLocks noGrp="1"/>
          </p:cNvSpPr>
          <p:nvPr>
            <p:ph type="title"/>
          </p:nvPr>
        </p:nvSpPr>
        <p:spPr>
          <a:xfrm>
            <a:off x="2563831" y="1888436"/>
            <a:ext cx="12803400" cy="1143000"/>
          </a:xfrm>
        </p:spPr>
        <p:txBody>
          <a:bodyPr>
            <a:normAutofit fontScale="90000"/>
          </a:bodyPr>
          <a:lstStyle/>
          <a:p>
            <a:r>
              <a:rPr lang="en-US"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Why XG Boost ?</a:t>
            </a:r>
          </a:p>
        </p:txBody>
      </p:sp>
      <p:pic>
        <p:nvPicPr>
          <p:cNvPr id="9" name="Picture 8" descr="A screen shot of a computer&#10;&#10;AI-generated content may be incorrect.">
            <a:extLst>
              <a:ext uri="{FF2B5EF4-FFF2-40B4-BE49-F238E27FC236}">
                <a16:creationId xmlns:a16="http://schemas.microsoft.com/office/drawing/2014/main" id="{5BF7E87F-00DE-E51E-A5FF-30EF7B8F94BA}"/>
              </a:ext>
            </a:extLst>
          </p:cNvPr>
          <p:cNvPicPr>
            <a:picLocks noChangeAspect="1"/>
          </p:cNvPicPr>
          <p:nvPr/>
        </p:nvPicPr>
        <p:blipFill>
          <a:blip r:embed="rId4"/>
          <a:stretch>
            <a:fillRect/>
          </a:stretch>
        </p:blipFill>
        <p:spPr>
          <a:xfrm>
            <a:off x="4121485" y="3613638"/>
            <a:ext cx="8142550" cy="4233707"/>
          </a:xfrm>
          <a:prstGeom prst="rect">
            <a:avLst/>
          </a:prstGeom>
        </p:spPr>
      </p:pic>
    </p:spTree>
    <p:extLst>
      <p:ext uri="{BB962C8B-B14F-4D97-AF65-F5344CB8AC3E}">
        <p14:creationId xmlns:p14="http://schemas.microsoft.com/office/powerpoint/2010/main" val="420765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523">
          <a:extLst>
            <a:ext uri="{FF2B5EF4-FFF2-40B4-BE49-F238E27FC236}">
              <a16:creationId xmlns:a16="http://schemas.microsoft.com/office/drawing/2014/main" id="{D3D00112-A1F9-C072-972B-09BFECE8DD4F}"/>
            </a:ext>
          </a:extLst>
        </p:cNvPr>
        <p:cNvGrpSpPr/>
        <p:nvPr/>
      </p:nvGrpSpPr>
      <p:grpSpPr>
        <a:xfrm>
          <a:off x="0" y="0"/>
          <a:ext cx="0" cy="0"/>
          <a:chOff x="0" y="0"/>
          <a:chExt cx="0" cy="0"/>
        </a:xfrm>
      </p:grpSpPr>
      <p:pic>
        <p:nvPicPr>
          <p:cNvPr id="524" name="Google Shape;524;p26">
            <a:extLst>
              <a:ext uri="{FF2B5EF4-FFF2-40B4-BE49-F238E27FC236}">
                <a16:creationId xmlns:a16="http://schemas.microsoft.com/office/drawing/2014/main" id="{A2F47347-82D9-7CD6-A84B-9BDC2D70458A}"/>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grpSp>
        <p:nvGrpSpPr>
          <p:cNvPr id="525" name="Google Shape;525;p26">
            <a:extLst>
              <a:ext uri="{FF2B5EF4-FFF2-40B4-BE49-F238E27FC236}">
                <a16:creationId xmlns:a16="http://schemas.microsoft.com/office/drawing/2014/main" id="{16F9BD4B-50E2-902C-DF3A-E21790C9DA20}"/>
              </a:ext>
            </a:extLst>
          </p:cNvPr>
          <p:cNvGrpSpPr/>
          <p:nvPr/>
        </p:nvGrpSpPr>
        <p:grpSpPr>
          <a:xfrm>
            <a:off x="864551" y="626903"/>
            <a:ext cx="16558897" cy="8798580"/>
            <a:chOff x="0" y="-47625"/>
            <a:chExt cx="4361191" cy="2317322"/>
          </a:xfrm>
        </p:grpSpPr>
        <p:sp>
          <p:nvSpPr>
            <p:cNvPr id="526" name="Google Shape;526;p26">
              <a:extLst>
                <a:ext uri="{FF2B5EF4-FFF2-40B4-BE49-F238E27FC236}">
                  <a16:creationId xmlns:a16="http://schemas.microsoft.com/office/drawing/2014/main" id="{4F41492B-9B4F-EBBF-5158-3D183A67EDCD}"/>
                </a:ext>
              </a:extLst>
            </p:cNvPr>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a:extLst>
                <a:ext uri="{FF2B5EF4-FFF2-40B4-BE49-F238E27FC236}">
                  <a16:creationId xmlns:a16="http://schemas.microsoft.com/office/drawing/2014/main" id="{437CFA15-27AB-A4C2-111A-B5B6B24DD3C2}"/>
                </a:ext>
              </a:extLst>
            </p:cNvPr>
            <p:cNvSpPr txBox="1"/>
            <p:nvPr/>
          </p:nvSpPr>
          <p:spPr>
            <a:xfrm>
              <a:off x="0" y="-47625"/>
              <a:ext cx="4361191" cy="231732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0" name="Google Shape;530;p26">
            <a:extLst>
              <a:ext uri="{FF2B5EF4-FFF2-40B4-BE49-F238E27FC236}">
                <a16:creationId xmlns:a16="http://schemas.microsoft.com/office/drawing/2014/main" id="{5771FE18-9054-3D56-A148-E4188141EC66}"/>
              </a:ext>
            </a:extLst>
          </p:cNvPr>
          <p:cNvGrpSpPr/>
          <p:nvPr/>
        </p:nvGrpSpPr>
        <p:grpSpPr>
          <a:xfrm rot="10800000">
            <a:off x="15878010" y="6622486"/>
            <a:ext cx="780553" cy="1821165"/>
            <a:chOff x="0" y="-111248"/>
            <a:chExt cx="1040738" cy="2428219"/>
          </a:xfrm>
        </p:grpSpPr>
        <p:grpSp>
          <p:nvGrpSpPr>
            <p:cNvPr id="531" name="Google Shape;531;p26">
              <a:extLst>
                <a:ext uri="{FF2B5EF4-FFF2-40B4-BE49-F238E27FC236}">
                  <a16:creationId xmlns:a16="http://schemas.microsoft.com/office/drawing/2014/main" id="{DC97F706-850F-6938-219A-AAFB825D9AD9}"/>
                </a:ext>
              </a:extLst>
            </p:cNvPr>
            <p:cNvGrpSpPr/>
            <p:nvPr/>
          </p:nvGrpSpPr>
          <p:grpSpPr>
            <a:xfrm>
              <a:off x="0" y="572578"/>
              <a:ext cx="564500" cy="1060566"/>
              <a:chOff x="0" y="-47625"/>
              <a:chExt cx="241661" cy="454025"/>
            </a:xfrm>
          </p:grpSpPr>
          <p:sp>
            <p:nvSpPr>
              <p:cNvPr id="532" name="Google Shape;532;p26">
                <a:extLst>
                  <a:ext uri="{FF2B5EF4-FFF2-40B4-BE49-F238E27FC236}">
                    <a16:creationId xmlns:a16="http://schemas.microsoft.com/office/drawing/2014/main" id="{8BC039F7-69F6-673F-2FAD-9B58E9940E08}"/>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3" name="Google Shape;533;p26">
                <a:extLst>
                  <a:ext uri="{FF2B5EF4-FFF2-40B4-BE49-F238E27FC236}">
                    <a16:creationId xmlns:a16="http://schemas.microsoft.com/office/drawing/2014/main" id="{501D1B75-41B4-C8D7-68AD-71E0E39273EC}"/>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4" name="Google Shape;534;p26">
              <a:extLst>
                <a:ext uri="{FF2B5EF4-FFF2-40B4-BE49-F238E27FC236}">
                  <a16:creationId xmlns:a16="http://schemas.microsoft.com/office/drawing/2014/main" id="{28FFDF59-8386-22E9-0613-BB24B424B88A}"/>
                </a:ext>
              </a:extLst>
            </p:cNvPr>
            <p:cNvGrpSpPr/>
            <p:nvPr/>
          </p:nvGrpSpPr>
          <p:grpSpPr>
            <a:xfrm>
              <a:off x="476238" y="-111248"/>
              <a:ext cx="564500" cy="1060566"/>
              <a:chOff x="0" y="-47625"/>
              <a:chExt cx="241661" cy="454025"/>
            </a:xfrm>
          </p:grpSpPr>
          <p:sp>
            <p:nvSpPr>
              <p:cNvPr id="535" name="Google Shape;535;p26">
                <a:extLst>
                  <a:ext uri="{FF2B5EF4-FFF2-40B4-BE49-F238E27FC236}">
                    <a16:creationId xmlns:a16="http://schemas.microsoft.com/office/drawing/2014/main" id="{339670D6-4B89-C0D4-87E5-3301817DBA68}"/>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6" name="Google Shape;536;p26">
                <a:extLst>
                  <a:ext uri="{FF2B5EF4-FFF2-40B4-BE49-F238E27FC236}">
                    <a16:creationId xmlns:a16="http://schemas.microsoft.com/office/drawing/2014/main" id="{1D5FD830-9CFA-E976-5279-0CE902D1110A}"/>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7" name="Google Shape;537;p26">
              <a:extLst>
                <a:ext uri="{FF2B5EF4-FFF2-40B4-BE49-F238E27FC236}">
                  <a16:creationId xmlns:a16="http://schemas.microsoft.com/office/drawing/2014/main" id="{22681DAF-F16A-66E1-8237-2E0B1C5D702E}"/>
                </a:ext>
              </a:extLst>
            </p:cNvPr>
            <p:cNvGrpSpPr/>
            <p:nvPr/>
          </p:nvGrpSpPr>
          <p:grpSpPr>
            <a:xfrm>
              <a:off x="476238" y="1256405"/>
              <a:ext cx="564500" cy="1060566"/>
              <a:chOff x="0" y="-47625"/>
              <a:chExt cx="241661" cy="454025"/>
            </a:xfrm>
          </p:grpSpPr>
          <p:sp>
            <p:nvSpPr>
              <p:cNvPr id="538" name="Google Shape;538;p26">
                <a:extLst>
                  <a:ext uri="{FF2B5EF4-FFF2-40B4-BE49-F238E27FC236}">
                    <a16:creationId xmlns:a16="http://schemas.microsoft.com/office/drawing/2014/main" id="{C3B3943D-E0C0-7329-D033-037D7E178AA7}"/>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9" name="Google Shape;539;p26">
                <a:extLst>
                  <a:ext uri="{FF2B5EF4-FFF2-40B4-BE49-F238E27FC236}">
                    <a16:creationId xmlns:a16="http://schemas.microsoft.com/office/drawing/2014/main" id="{7922A26B-B246-2C72-ED8C-FA8B2D8AEB71}"/>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40" name="Google Shape;540;p26">
            <a:extLst>
              <a:ext uri="{FF2B5EF4-FFF2-40B4-BE49-F238E27FC236}">
                <a16:creationId xmlns:a16="http://schemas.microsoft.com/office/drawing/2014/main" id="{5A887E5E-DCF5-A6BD-3788-BFBF628822E2}"/>
              </a:ext>
            </a:extLst>
          </p:cNvPr>
          <p:cNvGrpSpPr/>
          <p:nvPr/>
        </p:nvGrpSpPr>
        <p:grpSpPr>
          <a:xfrm>
            <a:off x="1783278" y="1507635"/>
            <a:ext cx="780553" cy="1821165"/>
            <a:chOff x="0" y="-111248"/>
            <a:chExt cx="1040738" cy="2428219"/>
          </a:xfrm>
        </p:grpSpPr>
        <p:grpSp>
          <p:nvGrpSpPr>
            <p:cNvPr id="541" name="Google Shape;541;p26">
              <a:extLst>
                <a:ext uri="{FF2B5EF4-FFF2-40B4-BE49-F238E27FC236}">
                  <a16:creationId xmlns:a16="http://schemas.microsoft.com/office/drawing/2014/main" id="{E7A4A34F-0BE6-C56E-EE4A-5A781F20856E}"/>
                </a:ext>
              </a:extLst>
            </p:cNvPr>
            <p:cNvGrpSpPr/>
            <p:nvPr/>
          </p:nvGrpSpPr>
          <p:grpSpPr>
            <a:xfrm>
              <a:off x="0" y="572578"/>
              <a:ext cx="564500" cy="1060566"/>
              <a:chOff x="0" y="-47625"/>
              <a:chExt cx="241661" cy="454025"/>
            </a:xfrm>
          </p:grpSpPr>
          <p:sp>
            <p:nvSpPr>
              <p:cNvPr id="542" name="Google Shape;542;p26">
                <a:extLst>
                  <a:ext uri="{FF2B5EF4-FFF2-40B4-BE49-F238E27FC236}">
                    <a16:creationId xmlns:a16="http://schemas.microsoft.com/office/drawing/2014/main" id="{38E57032-0D19-3C7E-8510-862054A79D13}"/>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3" name="Google Shape;543;p26">
                <a:extLst>
                  <a:ext uri="{FF2B5EF4-FFF2-40B4-BE49-F238E27FC236}">
                    <a16:creationId xmlns:a16="http://schemas.microsoft.com/office/drawing/2014/main" id="{0CB875AC-3669-88D8-DEF8-9E5C9C81C9B3}"/>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4" name="Google Shape;544;p26">
              <a:extLst>
                <a:ext uri="{FF2B5EF4-FFF2-40B4-BE49-F238E27FC236}">
                  <a16:creationId xmlns:a16="http://schemas.microsoft.com/office/drawing/2014/main" id="{60A3AA00-047B-6C42-EA67-74B4FEBEB958}"/>
                </a:ext>
              </a:extLst>
            </p:cNvPr>
            <p:cNvGrpSpPr/>
            <p:nvPr/>
          </p:nvGrpSpPr>
          <p:grpSpPr>
            <a:xfrm>
              <a:off x="476238" y="-111248"/>
              <a:ext cx="564500" cy="1060566"/>
              <a:chOff x="0" y="-47625"/>
              <a:chExt cx="241661" cy="454025"/>
            </a:xfrm>
          </p:grpSpPr>
          <p:sp>
            <p:nvSpPr>
              <p:cNvPr id="545" name="Google Shape;545;p26">
                <a:extLst>
                  <a:ext uri="{FF2B5EF4-FFF2-40B4-BE49-F238E27FC236}">
                    <a16:creationId xmlns:a16="http://schemas.microsoft.com/office/drawing/2014/main" id="{6B7B810E-DB32-E26C-2370-A3EAC84B0703}"/>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6" name="Google Shape;546;p26">
                <a:extLst>
                  <a:ext uri="{FF2B5EF4-FFF2-40B4-BE49-F238E27FC236}">
                    <a16:creationId xmlns:a16="http://schemas.microsoft.com/office/drawing/2014/main" id="{CE58DFEC-3ECA-6AC0-BFF9-87F12FD6E1F7}"/>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7" name="Google Shape;547;p26">
              <a:extLst>
                <a:ext uri="{FF2B5EF4-FFF2-40B4-BE49-F238E27FC236}">
                  <a16:creationId xmlns:a16="http://schemas.microsoft.com/office/drawing/2014/main" id="{0E364872-1929-CFB3-229D-74EEF8FAF8F6}"/>
                </a:ext>
              </a:extLst>
            </p:cNvPr>
            <p:cNvGrpSpPr/>
            <p:nvPr/>
          </p:nvGrpSpPr>
          <p:grpSpPr>
            <a:xfrm>
              <a:off x="476238" y="1256405"/>
              <a:ext cx="564500" cy="1060566"/>
              <a:chOff x="0" y="-47625"/>
              <a:chExt cx="241661" cy="454025"/>
            </a:xfrm>
          </p:grpSpPr>
          <p:sp>
            <p:nvSpPr>
              <p:cNvPr id="548" name="Google Shape;548;p26">
                <a:extLst>
                  <a:ext uri="{FF2B5EF4-FFF2-40B4-BE49-F238E27FC236}">
                    <a16:creationId xmlns:a16="http://schemas.microsoft.com/office/drawing/2014/main" id="{8E9FD2FD-17E3-3D59-89EF-C25AE99AA5BB}"/>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9" name="Google Shape;549;p26">
                <a:extLst>
                  <a:ext uri="{FF2B5EF4-FFF2-40B4-BE49-F238E27FC236}">
                    <a16:creationId xmlns:a16="http://schemas.microsoft.com/office/drawing/2014/main" id="{339559B7-2021-099A-FFA3-F73899C39FF2}"/>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 name="Title 2">
            <a:extLst>
              <a:ext uri="{FF2B5EF4-FFF2-40B4-BE49-F238E27FC236}">
                <a16:creationId xmlns:a16="http://schemas.microsoft.com/office/drawing/2014/main" id="{9EC458E6-8FBA-8AFD-8FCB-46E848F60E88}"/>
              </a:ext>
            </a:extLst>
          </p:cNvPr>
          <p:cNvSpPr>
            <a:spLocks noGrp="1"/>
          </p:cNvSpPr>
          <p:nvPr>
            <p:ph type="title"/>
          </p:nvPr>
        </p:nvSpPr>
        <p:spPr>
          <a:xfrm>
            <a:off x="2697880" y="1524695"/>
            <a:ext cx="12803400" cy="1143000"/>
          </a:xfrm>
        </p:spPr>
        <p:txBody>
          <a:bodyPr>
            <a:normAutofit fontScale="90000"/>
          </a:bodyPr>
          <a:lstStyle/>
          <a:p>
            <a:r>
              <a:rPr lang="en-US"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Why Random Forest ?</a:t>
            </a:r>
          </a:p>
        </p:txBody>
      </p:sp>
      <p:pic>
        <p:nvPicPr>
          <p:cNvPr id="4" name="Picture 3" descr="A diagram of different types of data&#10;&#10;AI-generated content may be incorrect.">
            <a:extLst>
              <a:ext uri="{FF2B5EF4-FFF2-40B4-BE49-F238E27FC236}">
                <a16:creationId xmlns:a16="http://schemas.microsoft.com/office/drawing/2014/main" id="{D62658BF-755F-7FA2-EFB7-77D665A6E4BB}"/>
              </a:ext>
            </a:extLst>
          </p:cNvPr>
          <p:cNvPicPr>
            <a:picLocks noChangeAspect="1"/>
          </p:cNvPicPr>
          <p:nvPr/>
        </p:nvPicPr>
        <p:blipFill>
          <a:blip r:embed="rId4"/>
          <a:stretch>
            <a:fillRect/>
          </a:stretch>
        </p:blipFill>
        <p:spPr>
          <a:xfrm>
            <a:off x="4241987" y="3131764"/>
            <a:ext cx="9239250" cy="6067425"/>
          </a:xfrm>
          <a:prstGeom prst="rect">
            <a:avLst/>
          </a:prstGeom>
        </p:spPr>
      </p:pic>
    </p:spTree>
    <p:extLst>
      <p:ext uri="{BB962C8B-B14F-4D97-AF65-F5344CB8AC3E}">
        <p14:creationId xmlns:p14="http://schemas.microsoft.com/office/powerpoint/2010/main" val="4019796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5AF02-6516-8104-33A4-7B7E3B53C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3FD2B-BA4B-F720-B7F2-18C252B7EA64}"/>
              </a:ext>
            </a:extLst>
          </p:cNvPr>
          <p:cNvSpPr>
            <a:spLocks noGrp="1"/>
          </p:cNvSpPr>
          <p:nvPr>
            <p:ph type="ctrTitle"/>
          </p:nvPr>
        </p:nvSpPr>
        <p:spPr>
          <a:xfrm>
            <a:off x="2798955" y="1096932"/>
            <a:ext cx="12705300" cy="1470000"/>
          </a:xfrm>
        </p:spPr>
        <p:txBody>
          <a:bodyPr spcFirstLastPara="1" wrap="square" lIns="91425" tIns="45700" rIns="91425" bIns="45700" anchor="ctr" anchorCtr="0">
            <a:noAutofit/>
          </a:bodyPr>
          <a:lstStyle/>
          <a:p>
            <a:r>
              <a:rPr lang="en-US" sz="5500"/>
              <a:t>Random Forest &amp; </a:t>
            </a:r>
            <a:r>
              <a:rPr lang="en-US" sz="5500" err="1"/>
              <a:t>XGBoost</a:t>
            </a:r>
            <a:r>
              <a:rPr lang="en-US" sz="5500"/>
              <a:t> Two-Stage Tuning Strategy</a:t>
            </a:r>
          </a:p>
        </p:txBody>
      </p:sp>
      <p:sp>
        <p:nvSpPr>
          <p:cNvPr id="3" name="Subtitle 2">
            <a:extLst>
              <a:ext uri="{FF2B5EF4-FFF2-40B4-BE49-F238E27FC236}">
                <a16:creationId xmlns:a16="http://schemas.microsoft.com/office/drawing/2014/main" id="{AA3A5DB3-B31E-3DE2-C16F-7AFA960C33C7}"/>
              </a:ext>
            </a:extLst>
          </p:cNvPr>
          <p:cNvSpPr>
            <a:spLocks noGrp="1"/>
          </p:cNvSpPr>
          <p:nvPr>
            <p:ph type="subTitle" idx="1"/>
          </p:nvPr>
        </p:nvSpPr>
        <p:spPr/>
        <p:txBody>
          <a:bodyPr/>
          <a:lstStyle/>
          <a:p>
            <a:endParaRPr lang="en-US" sz="1000">
              <a:solidFill>
                <a:srgbClr val="BCBEC4"/>
              </a:solidFill>
              <a:latin typeface="Consolas"/>
            </a:endParaRPr>
          </a:p>
          <a:p>
            <a:endParaRPr lang="en-US"/>
          </a:p>
        </p:txBody>
      </p:sp>
      <p:graphicFrame>
        <p:nvGraphicFramePr>
          <p:cNvPr id="9" name="Table 8">
            <a:extLst>
              <a:ext uri="{FF2B5EF4-FFF2-40B4-BE49-F238E27FC236}">
                <a16:creationId xmlns:a16="http://schemas.microsoft.com/office/drawing/2014/main" id="{994A4A71-61A7-FB3C-7D0B-D8DED547004A}"/>
              </a:ext>
            </a:extLst>
          </p:cNvPr>
          <p:cNvGraphicFramePr>
            <a:graphicFrameLocks noGrp="1"/>
          </p:cNvGraphicFramePr>
          <p:nvPr>
            <p:extLst>
              <p:ext uri="{D42A27DB-BD31-4B8C-83A1-F6EECF244321}">
                <p14:modId xmlns:p14="http://schemas.microsoft.com/office/powerpoint/2010/main" val="1983183831"/>
              </p:ext>
            </p:extLst>
          </p:nvPr>
        </p:nvGraphicFramePr>
        <p:xfrm>
          <a:off x="3176649" y="2998519"/>
          <a:ext cx="11503979" cy="5848347"/>
        </p:xfrm>
        <a:graphic>
          <a:graphicData uri="http://schemas.openxmlformats.org/drawingml/2006/table">
            <a:tbl>
              <a:tblPr bandRow="1">
                <a:tableStyleId>{3C2FFA5D-87B4-456A-9821-1D502468CF0F}</a:tableStyleId>
              </a:tblPr>
              <a:tblGrid>
                <a:gridCol w="3743719">
                  <a:extLst>
                    <a:ext uri="{9D8B030D-6E8A-4147-A177-3AD203B41FA5}">
                      <a16:colId xmlns:a16="http://schemas.microsoft.com/office/drawing/2014/main" val="2154738970"/>
                    </a:ext>
                  </a:extLst>
                </a:gridCol>
                <a:gridCol w="3880130">
                  <a:extLst>
                    <a:ext uri="{9D8B030D-6E8A-4147-A177-3AD203B41FA5}">
                      <a16:colId xmlns:a16="http://schemas.microsoft.com/office/drawing/2014/main" val="798681113"/>
                    </a:ext>
                  </a:extLst>
                </a:gridCol>
                <a:gridCol w="3880130">
                  <a:extLst>
                    <a:ext uri="{9D8B030D-6E8A-4147-A177-3AD203B41FA5}">
                      <a16:colId xmlns:a16="http://schemas.microsoft.com/office/drawing/2014/main" val="3964996761"/>
                    </a:ext>
                  </a:extLst>
                </a:gridCol>
              </a:tblGrid>
              <a:tr h="851241">
                <a:tc>
                  <a:txBody>
                    <a:bodyPr/>
                    <a:lstStyle/>
                    <a:p>
                      <a:pPr algn="ctr" fontAlgn="base">
                        <a:lnSpc>
                          <a:spcPts val="2400"/>
                        </a:lnSpc>
                        <a:buNone/>
                      </a:pPr>
                      <a:r>
                        <a:rPr lang="en-US" sz="3000" b="1" u="none" strike="noStrike">
                          <a:solidFill>
                            <a:srgbClr val="000000"/>
                          </a:solidFill>
                          <a:effectLst/>
                        </a:rPr>
                        <a:t>Tuning Stage</a:t>
                      </a:r>
                      <a:endParaRPr lang="en-US" sz="3000" b="1">
                        <a:solidFill>
                          <a:srgbClr val="FFFFFF"/>
                        </a:solidFill>
                        <a:effectLst/>
                      </a:endParaRPr>
                    </a:p>
                  </a:txBody>
                  <a:tcPr marL="42329" marR="42329" marT="42329" marB="42329" anchor="ctr"/>
                </a:tc>
                <a:tc>
                  <a:txBody>
                    <a:bodyPr/>
                    <a:lstStyle/>
                    <a:p>
                      <a:pPr algn="ctr" fontAlgn="base">
                        <a:lnSpc>
                          <a:spcPts val="2400"/>
                        </a:lnSpc>
                        <a:buNone/>
                      </a:pPr>
                      <a:r>
                        <a:rPr lang="en-US" sz="3000" b="1" u="none" strike="noStrike">
                          <a:solidFill>
                            <a:srgbClr val="000000"/>
                          </a:solidFill>
                          <a:effectLst/>
                        </a:rPr>
                        <a:t>Random Forest</a:t>
                      </a:r>
                      <a:endParaRPr lang="en-US" sz="3000" b="1">
                        <a:solidFill>
                          <a:srgbClr val="FFFFFF"/>
                        </a:solidFill>
                        <a:effectLst/>
                      </a:endParaRPr>
                    </a:p>
                  </a:txBody>
                  <a:tcPr marL="42329" marR="42329" marT="42329" marB="42329" anchor="ctr"/>
                </a:tc>
                <a:tc>
                  <a:txBody>
                    <a:bodyPr/>
                    <a:lstStyle/>
                    <a:p>
                      <a:pPr algn="ctr" fontAlgn="base">
                        <a:lnSpc>
                          <a:spcPts val="2400"/>
                        </a:lnSpc>
                        <a:buNone/>
                      </a:pPr>
                      <a:r>
                        <a:rPr lang="en-US" sz="3000" b="1" u="none" strike="noStrike">
                          <a:solidFill>
                            <a:srgbClr val="000000"/>
                          </a:solidFill>
                          <a:effectLst/>
                        </a:rPr>
                        <a:t>XG Boost</a:t>
                      </a:r>
                      <a:endParaRPr lang="en-US" sz="3000" b="1">
                        <a:solidFill>
                          <a:srgbClr val="FFFFFF"/>
                        </a:solidFill>
                        <a:effectLst/>
                      </a:endParaRPr>
                    </a:p>
                  </a:txBody>
                  <a:tcPr marL="42329" marR="42329" marT="42329" marB="42329" anchor="ctr"/>
                </a:tc>
                <a:extLst>
                  <a:ext uri="{0D108BD9-81ED-4DB2-BD59-A6C34878D82A}">
                    <a16:rowId xmlns:a16="http://schemas.microsoft.com/office/drawing/2014/main" val="2942016606"/>
                  </a:ext>
                </a:extLst>
              </a:tr>
              <a:tr h="2206925">
                <a:tc>
                  <a:txBody>
                    <a:bodyPr/>
                    <a:lstStyle/>
                    <a:p>
                      <a:pPr marL="342900" lvl="0" indent="-342900" algn="l" fontAlgn="base">
                        <a:lnSpc>
                          <a:spcPts val="1920"/>
                        </a:lnSpc>
                        <a:buFont typeface="+mj-lt"/>
                        <a:buAutoNum type="arabicPeriod"/>
                      </a:pPr>
                      <a:r>
                        <a:rPr lang="en-US" sz="1800" b="1" u="none" strike="noStrike">
                          <a:solidFill>
                            <a:srgbClr val="000000"/>
                          </a:solidFill>
                          <a:effectLst/>
                        </a:rPr>
                        <a:t>Randomized Search Parameters</a:t>
                      </a:r>
                      <a:endParaRPr lang="en-US" sz="1800" b="1">
                        <a:solidFill>
                          <a:srgbClr val="FFFFFF"/>
                        </a:solidFill>
                        <a:effectLst/>
                      </a:endParaRPr>
                    </a:p>
                    <a:p>
                      <a:pPr algn="l" fontAlgn="base">
                        <a:lnSpc>
                          <a:spcPts val="1920"/>
                        </a:lnSpc>
                        <a:buNone/>
                      </a:pPr>
                      <a:r>
                        <a:rPr lang="en-US" sz="1800" b="1" u="none" strike="noStrike">
                          <a:solidFill>
                            <a:srgbClr val="000000"/>
                          </a:solidFill>
                          <a:effectLst/>
                        </a:rPr>
                        <a:t>(3-fold Cross Validation</a:t>
                      </a:r>
                      <a:endParaRPr lang="en-US" sz="1800" b="1">
                        <a:solidFill>
                          <a:srgbClr val="FFFFFF"/>
                        </a:solidFill>
                        <a:effectLst/>
                      </a:endParaRPr>
                    </a:p>
                  </a:txBody>
                  <a:tcPr marL="42329" marR="42329" marT="42329" marB="42329"/>
                </a:tc>
                <a:tc>
                  <a:txBody>
                    <a:bodyPr/>
                    <a:lstStyle/>
                    <a:p>
                      <a:pPr algn="l" fontAlgn="base">
                        <a:lnSpc>
                          <a:spcPts val="1680"/>
                        </a:lnSpc>
                        <a:buNone/>
                      </a:pPr>
                      <a:r>
                        <a:rPr lang="en-US" sz="1800" u="none" strike="noStrike" err="1">
                          <a:solidFill>
                            <a:srgbClr val="000000"/>
                          </a:solidFill>
                          <a:effectLst/>
                        </a:rPr>
                        <a:t>n_estimators</a:t>
                      </a:r>
                      <a:r>
                        <a:rPr lang="en-US" sz="1800" u="none" strike="noStrike">
                          <a:solidFill>
                            <a:srgbClr val="000000"/>
                          </a:solidFill>
                          <a:effectLst/>
                        </a:rPr>
                        <a:t>: (300,600)</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max_depth</a:t>
                      </a:r>
                      <a:r>
                        <a:rPr lang="en-US" sz="1800" u="none" strike="noStrike">
                          <a:solidFill>
                            <a:srgbClr val="000000"/>
                          </a:solidFill>
                          <a:effectLst/>
                        </a:rPr>
                        <a:t>: (5,30)</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min_samples_split</a:t>
                      </a:r>
                      <a:r>
                        <a:rPr lang="en-US" sz="1800" u="none" strike="noStrike">
                          <a:solidFill>
                            <a:srgbClr val="000000"/>
                          </a:solidFill>
                          <a:effectLst/>
                        </a:rPr>
                        <a:t>: (5,15)</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min_samples_leaf</a:t>
                      </a:r>
                      <a:r>
                        <a:rPr lang="en-US" sz="1800" u="none" strike="noStrike">
                          <a:solidFill>
                            <a:srgbClr val="000000"/>
                          </a:solidFill>
                          <a:effectLst/>
                        </a:rPr>
                        <a:t>: (2,15)</a:t>
                      </a:r>
                      <a:endParaRPr lang="en-US" sz="1800">
                        <a:solidFill>
                          <a:srgbClr val="FFFFFF"/>
                        </a:solidFill>
                        <a:effectLst/>
                      </a:endParaRPr>
                    </a:p>
                  </a:txBody>
                  <a:tcPr marL="42329" marR="42329" marT="42329" marB="42329"/>
                </a:tc>
                <a:tc>
                  <a:txBody>
                    <a:bodyPr/>
                    <a:lstStyle/>
                    <a:p>
                      <a:pPr algn="l" fontAlgn="base">
                        <a:lnSpc>
                          <a:spcPts val="1680"/>
                        </a:lnSpc>
                        <a:buNone/>
                      </a:pPr>
                      <a:r>
                        <a:rPr lang="en-US" sz="1800" u="none" strike="noStrike" err="1">
                          <a:solidFill>
                            <a:srgbClr val="000000"/>
                          </a:solidFill>
                          <a:effectLst/>
                        </a:rPr>
                        <a:t>n_estimators</a:t>
                      </a:r>
                      <a:r>
                        <a:rPr lang="en-US" sz="1800" u="none" strike="noStrike">
                          <a:solidFill>
                            <a:srgbClr val="000000"/>
                          </a:solidFill>
                          <a:effectLst/>
                        </a:rPr>
                        <a:t>: (100,300)</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max_depth</a:t>
                      </a:r>
                      <a:r>
                        <a:rPr lang="en-US" sz="1800" u="none" strike="noStrike">
                          <a:solidFill>
                            <a:srgbClr val="000000"/>
                          </a:solidFill>
                          <a:effectLst/>
                        </a:rPr>
                        <a:t>: (3,8)</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learning_rate</a:t>
                      </a:r>
                      <a:r>
                        <a:rPr lang="en-US" sz="1800" u="none" strike="noStrike">
                          <a:solidFill>
                            <a:srgbClr val="000000"/>
                          </a:solidFill>
                          <a:effectLst/>
                        </a:rPr>
                        <a:t>: (0.01,0.2)</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a:solidFill>
                            <a:srgbClr val="000000"/>
                          </a:solidFill>
                          <a:effectLst/>
                        </a:rPr>
                        <a:t>subsample: (0.6,0.4)</a:t>
                      </a:r>
                      <a:endParaRPr lang="en-US" sz="1800">
                        <a:solidFill>
                          <a:srgbClr val="FFFFFF"/>
                        </a:solidFill>
                        <a:effectLst/>
                      </a:endParaRPr>
                    </a:p>
                  </a:txBody>
                  <a:tcPr marL="42329" marR="42329" marT="42329" marB="42329"/>
                </a:tc>
                <a:extLst>
                  <a:ext uri="{0D108BD9-81ED-4DB2-BD59-A6C34878D82A}">
                    <a16:rowId xmlns:a16="http://schemas.microsoft.com/office/drawing/2014/main" val="763081575"/>
                  </a:ext>
                </a:extLst>
              </a:tr>
              <a:tr h="2790181">
                <a:tc>
                  <a:txBody>
                    <a:bodyPr/>
                    <a:lstStyle/>
                    <a:p>
                      <a:pPr algn="l" fontAlgn="base">
                        <a:lnSpc>
                          <a:spcPts val="1920"/>
                        </a:lnSpc>
                        <a:buNone/>
                      </a:pPr>
                      <a:r>
                        <a:rPr lang="en-US" sz="1800" b="1" u="none" strike="noStrike">
                          <a:solidFill>
                            <a:srgbClr val="000000"/>
                          </a:solidFill>
                          <a:effectLst/>
                        </a:rPr>
                        <a:t>2. Grid Search Parameters </a:t>
                      </a:r>
                      <a:endParaRPr lang="en-US" sz="1800" b="1">
                        <a:solidFill>
                          <a:srgbClr val="FFFFFF"/>
                        </a:solidFill>
                        <a:effectLst/>
                      </a:endParaRPr>
                    </a:p>
                    <a:p>
                      <a:pPr algn="ctr" fontAlgn="base">
                        <a:lnSpc>
                          <a:spcPts val="1920"/>
                        </a:lnSpc>
                        <a:buNone/>
                      </a:pPr>
                      <a:r>
                        <a:rPr lang="en-US" sz="1800" b="1" u="none" strike="noStrike">
                          <a:solidFill>
                            <a:srgbClr val="000000"/>
                          </a:solidFill>
                          <a:effectLst/>
                        </a:rPr>
                        <a:t>(5-fold Cross Validation)</a:t>
                      </a:r>
                      <a:endParaRPr lang="en-US" sz="1800" b="1">
                        <a:solidFill>
                          <a:srgbClr val="FFFFFF"/>
                        </a:solidFill>
                        <a:effectLst/>
                      </a:endParaRPr>
                    </a:p>
                  </a:txBody>
                  <a:tcPr marL="42329" marR="42329" marT="42329" marB="42329"/>
                </a:tc>
                <a:tc>
                  <a:txBody>
                    <a:bodyPr/>
                    <a:lstStyle/>
                    <a:p>
                      <a:pPr algn="l" fontAlgn="base">
                        <a:lnSpc>
                          <a:spcPts val="1680"/>
                        </a:lnSpc>
                        <a:buNone/>
                      </a:pPr>
                      <a:r>
                        <a:rPr lang="en-US" sz="1800" u="none" strike="noStrike" err="1">
                          <a:solidFill>
                            <a:srgbClr val="000000"/>
                          </a:solidFill>
                          <a:effectLst/>
                        </a:rPr>
                        <a:t>n_estimators</a:t>
                      </a:r>
                      <a:r>
                        <a:rPr lang="en-US" sz="1800" u="none" strike="noStrike">
                          <a:solidFill>
                            <a:srgbClr val="000000"/>
                          </a:solidFill>
                          <a:effectLst/>
                        </a:rPr>
                        <a:t>: [400,420,442,462,482]</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max_depth</a:t>
                      </a:r>
                      <a:r>
                        <a:rPr lang="en-US" sz="1800" u="none" strike="noStrike">
                          <a:solidFill>
                            <a:srgbClr val="000000"/>
                          </a:solidFill>
                          <a:effectLst/>
                        </a:rPr>
                        <a:t>: [17,19,21,23]</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min_samples_split</a:t>
                      </a:r>
                      <a:r>
                        <a:rPr lang="en-US" sz="1800" u="none" strike="noStrike">
                          <a:solidFill>
                            <a:srgbClr val="000000"/>
                          </a:solidFill>
                          <a:effectLst/>
                        </a:rPr>
                        <a:t>: [8,10,12]</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min_samples_leaf</a:t>
                      </a:r>
                      <a:r>
                        <a:rPr lang="en-US" sz="1800" u="none" strike="noStrike">
                          <a:solidFill>
                            <a:srgbClr val="000000"/>
                          </a:solidFill>
                          <a:effectLst/>
                        </a:rPr>
                        <a:t>: [3,4,5,6]</a:t>
                      </a:r>
                      <a:endParaRPr lang="en-US" sz="1800">
                        <a:solidFill>
                          <a:srgbClr val="FFFFFF"/>
                        </a:solidFill>
                        <a:effectLst/>
                      </a:endParaRPr>
                    </a:p>
                  </a:txBody>
                  <a:tcPr marL="42329" marR="42329" marT="42329" marB="42329"/>
                </a:tc>
                <a:tc>
                  <a:txBody>
                    <a:bodyPr/>
                    <a:lstStyle/>
                    <a:p>
                      <a:pPr algn="l" fontAlgn="base">
                        <a:lnSpc>
                          <a:spcPts val="1680"/>
                        </a:lnSpc>
                        <a:buNone/>
                      </a:pPr>
                      <a:r>
                        <a:rPr lang="en-US" sz="1800" u="none" strike="noStrike" err="1">
                          <a:solidFill>
                            <a:srgbClr val="000000"/>
                          </a:solidFill>
                          <a:effectLst/>
                        </a:rPr>
                        <a:t>n_estimators</a:t>
                      </a:r>
                      <a:r>
                        <a:rPr lang="en-US" sz="1800" u="none" strike="noStrike">
                          <a:solidFill>
                            <a:srgbClr val="000000"/>
                          </a:solidFill>
                          <a:effectLst/>
                        </a:rPr>
                        <a:t>: [225,245,265]</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max_depth</a:t>
                      </a:r>
                      <a:r>
                        <a:rPr lang="en-US" sz="1800" u="none" strike="noStrike">
                          <a:solidFill>
                            <a:srgbClr val="000000"/>
                          </a:solidFill>
                          <a:effectLst/>
                        </a:rPr>
                        <a:t>: [5,6,7]</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err="1">
                          <a:solidFill>
                            <a:srgbClr val="000000"/>
                          </a:solidFill>
                          <a:effectLst/>
                        </a:rPr>
                        <a:t>learning_rate</a:t>
                      </a:r>
                      <a:r>
                        <a:rPr lang="en-US" sz="1800" u="none" strike="noStrike">
                          <a:solidFill>
                            <a:srgbClr val="000000"/>
                          </a:solidFill>
                          <a:effectLst/>
                        </a:rPr>
                        <a:t>: [0.12, 0.135, 0.145, 0.15]</a:t>
                      </a:r>
                      <a:endParaRPr lang="en-US" sz="1800">
                        <a:solidFill>
                          <a:srgbClr val="FFFFFF"/>
                        </a:solidFill>
                        <a:effectLst/>
                      </a:endParaRPr>
                    </a:p>
                    <a:p>
                      <a:pPr lvl="0" algn="l">
                        <a:lnSpc>
                          <a:spcPts val="1680"/>
                        </a:lnSpc>
                        <a:buNone/>
                      </a:pPr>
                      <a:endParaRPr lang="en-US" sz="1800" u="none" strike="noStrike">
                        <a:solidFill>
                          <a:srgbClr val="000000"/>
                        </a:solidFill>
                        <a:effectLst/>
                      </a:endParaRPr>
                    </a:p>
                    <a:p>
                      <a:pPr algn="l" fontAlgn="base">
                        <a:lnSpc>
                          <a:spcPts val="1680"/>
                        </a:lnSpc>
                        <a:buNone/>
                      </a:pPr>
                      <a:r>
                        <a:rPr lang="en-US" sz="1800" u="none" strike="noStrike">
                          <a:solidFill>
                            <a:srgbClr val="000000"/>
                          </a:solidFill>
                          <a:effectLst/>
                        </a:rPr>
                        <a:t>subsample: [0.8, 0.845, 0.9]</a:t>
                      </a:r>
                      <a:endParaRPr lang="en-US" sz="1800">
                        <a:solidFill>
                          <a:srgbClr val="FFFFFF"/>
                        </a:solidFill>
                        <a:effectLst/>
                      </a:endParaRPr>
                    </a:p>
                  </a:txBody>
                  <a:tcPr marL="42329" marR="42329" marT="42329" marB="42329"/>
                </a:tc>
                <a:extLst>
                  <a:ext uri="{0D108BD9-81ED-4DB2-BD59-A6C34878D82A}">
                    <a16:rowId xmlns:a16="http://schemas.microsoft.com/office/drawing/2014/main" val="942420197"/>
                  </a:ext>
                </a:extLst>
              </a:tr>
            </a:tbl>
          </a:graphicData>
        </a:graphic>
      </p:graphicFrame>
    </p:spTree>
    <p:extLst>
      <p:ext uri="{BB962C8B-B14F-4D97-AF65-F5344CB8AC3E}">
        <p14:creationId xmlns:p14="http://schemas.microsoft.com/office/powerpoint/2010/main" val="329241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BD7E-643E-64EB-63A2-D7DC1F549321}"/>
              </a:ext>
            </a:extLst>
          </p:cNvPr>
          <p:cNvSpPr>
            <a:spLocks noGrp="1"/>
          </p:cNvSpPr>
          <p:nvPr>
            <p:ph type="ctrTitle"/>
          </p:nvPr>
        </p:nvSpPr>
        <p:spPr>
          <a:xfrm>
            <a:off x="2595407" y="689836"/>
            <a:ext cx="12705300" cy="1470000"/>
          </a:xfrm>
        </p:spPr>
        <p:txBody>
          <a:bodyPr/>
          <a:lstStyle/>
          <a:p>
            <a:r>
              <a:rPr lang="en-US"/>
              <a:t>Random Forest Model</a:t>
            </a:r>
          </a:p>
        </p:txBody>
      </p:sp>
      <p:sp>
        <p:nvSpPr>
          <p:cNvPr id="3" name="Subtitle 2">
            <a:extLst>
              <a:ext uri="{FF2B5EF4-FFF2-40B4-BE49-F238E27FC236}">
                <a16:creationId xmlns:a16="http://schemas.microsoft.com/office/drawing/2014/main" id="{879BF68F-D449-62FA-E31B-5D2EA4216749}"/>
              </a:ext>
            </a:extLst>
          </p:cNvPr>
          <p:cNvSpPr>
            <a:spLocks noGrp="1"/>
          </p:cNvSpPr>
          <p:nvPr>
            <p:ph type="subTitle" idx="1"/>
          </p:nvPr>
        </p:nvSpPr>
        <p:spPr/>
        <p:txBody>
          <a:bodyPr/>
          <a:lstStyle/>
          <a:p>
            <a:endParaRPr lang="en-US" sz="1000">
              <a:solidFill>
                <a:srgbClr val="BCBEC4"/>
              </a:solidFill>
              <a:latin typeface="Consolas"/>
            </a:endParaRPr>
          </a:p>
          <a:p>
            <a:endParaRPr lang="en-US"/>
          </a:p>
        </p:txBody>
      </p:sp>
      <p:pic>
        <p:nvPicPr>
          <p:cNvPr id="4" name="Picture 3" descr="A black screen with white text&#10;&#10;AI-generated content may be incorrect.">
            <a:extLst>
              <a:ext uri="{FF2B5EF4-FFF2-40B4-BE49-F238E27FC236}">
                <a16:creationId xmlns:a16="http://schemas.microsoft.com/office/drawing/2014/main" id="{76926B75-99CB-F274-D0F0-8F83CC38D896}"/>
              </a:ext>
            </a:extLst>
          </p:cNvPr>
          <p:cNvPicPr>
            <a:picLocks noChangeAspect="1"/>
          </p:cNvPicPr>
          <p:nvPr/>
        </p:nvPicPr>
        <p:blipFill>
          <a:blip r:embed="rId3"/>
          <a:stretch>
            <a:fillRect/>
          </a:stretch>
        </p:blipFill>
        <p:spPr>
          <a:xfrm>
            <a:off x="1856494" y="2575631"/>
            <a:ext cx="14179902" cy="2759427"/>
          </a:xfrm>
          <a:prstGeom prst="rect">
            <a:avLst/>
          </a:prstGeom>
        </p:spPr>
      </p:pic>
      <p:sp>
        <p:nvSpPr>
          <p:cNvPr id="5" name="TextBox 4">
            <a:extLst>
              <a:ext uri="{FF2B5EF4-FFF2-40B4-BE49-F238E27FC236}">
                <a16:creationId xmlns:a16="http://schemas.microsoft.com/office/drawing/2014/main" id="{BBEFF8FE-F057-A0D8-F3A9-15A5CA5FE22C}"/>
              </a:ext>
            </a:extLst>
          </p:cNvPr>
          <p:cNvSpPr txBox="1"/>
          <p:nvPr/>
        </p:nvSpPr>
        <p:spPr>
          <a:xfrm>
            <a:off x="1861456" y="2153611"/>
            <a:ext cx="115932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solidFill>
              </a:rPr>
              <a:t>Stage 1: Tuning Hyperparameters with Randomized Search</a:t>
            </a:r>
          </a:p>
        </p:txBody>
      </p:sp>
      <p:sp>
        <p:nvSpPr>
          <p:cNvPr id="6" name="TextBox 5">
            <a:extLst>
              <a:ext uri="{FF2B5EF4-FFF2-40B4-BE49-F238E27FC236}">
                <a16:creationId xmlns:a16="http://schemas.microsoft.com/office/drawing/2014/main" id="{990590AC-E396-DC00-EA44-C3C3FA11F18D}"/>
              </a:ext>
            </a:extLst>
          </p:cNvPr>
          <p:cNvSpPr txBox="1"/>
          <p:nvPr/>
        </p:nvSpPr>
        <p:spPr>
          <a:xfrm>
            <a:off x="1861456" y="5925511"/>
            <a:ext cx="115932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solidFill>
              </a:rPr>
              <a:t>Stage 2: Tuning with </a:t>
            </a:r>
            <a:r>
              <a:rPr lang="en-US" b="1" err="1">
                <a:solidFill>
                  <a:schemeClr val="accent1"/>
                </a:solidFill>
              </a:rPr>
              <a:t>GridSearch</a:t>
            </a:r>
            <a:r>
              <a:rPr lang="en-US" b="1">
                <a:solidFill>
                  <a:schemeClr val="accent1"/>
                </a:solidFill>
              </a:rPr>
              <a:t> Based on Performance of Randomized Search</a:t>
            </a:r>
          </a:p>
        </p:txBody>
      </p:sp>
      <p:pic>
        <p:nvPicPr>
          <p:cNvPr id="7" name="Picture 6" descr="A black screen with white text&#10;&#10;AI-generated content may be incorrect.">
            <a:extLst>
              <a:ext uri="{FF2B5EF4-FFF2-40B4-BE49-F238E27FC236}">
                <a16:creationId xmlns:a16="http://schemas.microsoft.com/office/drawing/2014/main" id="{6AF1DF80-0719-4470-5A8E-1E82B8B74050}"/>
              </a:ext>
            </a:extLst>
          </p:cNvPr>
          <p:cNvPicPr>
            <a:picLocks noChangeAspect="1"/>
          </p:cNvPicPr>
          <p:nvPr/>
        </p:nvPicPr>
        <p:blipFill>
          <a:blip r:embed="rId4"/>
          <a:stretch>
            <a:fillRect/>
          </a:stretch>
        </p:blipFill>
        <p:spPr>
          <a:xfrm>
            <a:off x="1854654" y="6547757"/>
            <a:ext cx="14301107" cy="2759528"/>
          </a:xfrm>
          <a:prstGeom prst="rect">
            <a:avLst/>
          </a:prstGeom>
        </p:spPr>
      </p:pic>
    </p:spTree>
    <p:extLst>
      <p:ext uri="{BB962C8B-B14F-4D97-AF65-F5344CB8AC3E}">
        <p14:creationId xmlns:p14="http://schemas.microsoft.com/office/powerpoint/2010/main" val="641821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1C2FA-CBA6-E462-1AED-C965DBD17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CCD95-8B66-F210-71D4-F1B69BE54B56}"/>
              </a:ext>
            </a:extLst>
          </p:cNvPr>
          <p:cNvSpPr>
            <a:spLocks noGrp="1"/>
          </p:cNvSpPr>
          <p:nvPr>
            <p:ph type="ctrTitle"/>
          </p:nvPr>
        </p:nvSpPr>
        <p:spPr>
          <a:xfrm>
            <a:off x="2595407" y="689836"/>
            <a:ext cx="12705300" cy="1470000"/>
          </a:xfrm>
        </p:spPr>
        <p:txBody>
          <a:bodyPr/>
          <a:lstStyle/>
          <a:p>
            <a:r>
              <a:rPr lang="en-US"/>
              <a:t>XG Boost Model</a:t>
            </a:r>
          </a:p>
        </p:txBody>
      </p:sp>
      <p:sp>
        <p:nvSpPr>
          <p:cNvPr id="3" name="Subtitle 2">
            <a:extLst>
              <a:ext uri="{FF2B5EF4-FFF2-40B4-BE49-F238E27FC236}">
                <a16:creationId xmlns:a16="http://schemas.microsoft.com/office/drawing/2014/main" id="{C7B25987-C80E-1B0B-344E-8B8F0D9DDE17}"/>
              </a:ext>
            </a:extLst>
          </p:cNvPr>
          <p:cNvSpPr>
            <a:spLocks noGrp="1"/>
          </p:cNvSpPr>
          <p:nvPr>
            <p:ph type="subTitle" idx="1"/>
          </p:nvPr>
        </p:nvSpPr>
        <p:spPr/>
        <p:txBody>
          <a:bodyPr/>
          <a:lstStyle/>
          <a:p>
            <a:endParaRPr lang="en-US" sz="1000">
              <a:solidFill>
                <a:srgbClr val="BCBEC4"/>
              </a:solidFill>
              <a:latin typeface="Consolas"/>
            </a:endParaRPr>
          </a:p>
          <a:p>
            <a:endParaRPr lang="en-US"/>
          </a:p>
        </p:txBody>
      </p:sp>
      <p:sp>
        <p:nvSpPr>
          <p:cNvPr id="5" name="TextBox 4">
            <a:extLst>
              <a:ext uri="{FF2B5EF4-FFF2-40B4-BE49-F238E27FC236}">
                <a16:creationId xmlns:a16="http://schemas.microsoft.com/office/drawing/2014/main" id="{262C9DA1-E9CD-690A-2306-3386712F14B7}"/>
              </a:ext>
            </a:extLst>
          </p:cNvPr>
          <p:cNvSpPr txBox="1"/>
          <p:nvPr/>
        </p:nvSpPr>
        <p:spPr>
          <a:xfrm>
            <a:off x="1861456" y="2153611"/>
            <a:ext cx="115932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solidFill>
              </a:rPr>
              <a:t>Stage 1: Tuning Hyperparameters with Randomized Search</a:t>
            </a:r>
          </a:p>
        </p:txBody>
      </p:sp>
      <p:sp>
        <p:nvSpPr>
          <p:cNvPr id="6" name="TextBox 5">
            <a:extLst>
              <a:ext uri="{FF2B5EF4-FFF2-40B4-BE49-F238E27FC236}">
                <a16:creationId xmlns:a16="http://schemas.microsoft.com/office/drawing/2014/main" id="{482EFE0D-77B9-B85E-3FF1-B4971AC357FB}"/>
              </a:ext>
            </a:extLst>
          </p:cNvPr>
          <p:cNvSpPr txBox="1"/>
          <p:nvPr/>
        </p:nvSpPr>
        <p:spPr>
          <a:xfrm>
            <a:off x="1861456" y="5925511"/>
            <a:ext cx="115932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solidFill>
              </a:rPr>
              <a:t>Stage 2: Tuning with </a:t>
            </a:r>
            <a:r>
              <a:rPr lang="en-US" b="1" err="1">
                <a:solidFill>
                  <a:schemeClr val="accent1"/>
                </a:solidFill>
              </a:rPr>
              <a:t>GridSearch</a:t>
            </a:r>
            <a:r>
              <a:rPr lang="en-US" b="1">
                <a:solidFill>
                  <a:schemeClr val="accent1"/>
                </a:solidFill>
              </a:rPr>
              <a:t> Based on Performance of Randomized Search</a:t>
            </a:r>
          </a:p>
        </p:txBody>
      </p:sp>
      <p:pic>
        <p:nvPicPr>
          <p:cNvPr id="9" name="Picture 8" descr="A black screen with white text&#10;&#10;AI-generated content may be incorrect.">
            <a:extLst>
              <a:ext uri="{FF2B5EF4-FFF2-40B4-BE49-F238E27FC236}">
                <a16:creationId xmlns:a16="http://schemas.microsoft.com/office/drawing/2014/main" id="{C0BE7838-7CA6-5177-E666-41E76B64F7EB}"/>
              </a:ext>
            </a:extLst>
          </p:cNvPr>
          <p:cNvPicPr>
            <a:picLocks noChangeAspect="1"/>
          </p:cNvPicPr>
          <p:nvPr/>
        </p:nvPicPr>
        <p:blipFill>
          <a:blip r:embed="rId3"/>
          <a:stretch>
            <a:fillRect/>
          </a:stretch>
        </p:blipFill>
        <p:spPr>
          <a:xfrm>
            <a:off x="1489188" y="2771034"/>
            <a:ext cx="14949500" cy="2757393"/>
          </a:xfrm>
          <a:prstGeom prst="rect">
            <a:avLst/>
          </a:prstGeom>
        </p:spPr>
      </p:pic>
      <p:pic>
        <p:nvPicPr>
          <p:cNvPr id="10" name="Picture 9" descr="A computer screen shot of a black background&#10;&#10;AI-generated content may be incorrect.">
            <a:extLst>
              <a:ext uri="{FF2B5EF4-FFF2-40B4-BE49-F238E27FC236}">
                <a16:creationId xmlns:a16="http://schemas.microsoft.com/office/drawing/2014/main" id="{768AFA80-8DA4-BCDB-3C5E-EC46EC8993C4}"/>
              </a:ext>
            </a:extLst>
          </p:cNvPr>
          <p:cNvPicPr>
            <a:picLocks noChangeAspect="1"/>
          </p:cNvPicPr>
          <p:nvPr/>
        </p:nvPicPr>
        <p:blipFill>
          <a:blip r:embed="rId4"/>
          <a:stretch>
            <a:fillRect/>
          </a:stretch>
        </p:blipFill>
        <p:spPr>
          <a:xfrm>
            <a:off x="1485574" y="6278932"/>
            <a:ext cx="14956729" cy="2755204"/>
          </a:xfrm>
          <a:prstGeom prst="rect">
            <a:avLst/>
          </a:prstGeom>
        </p:spPr>
      </p:pic>
    </p:spTree>
    <p:extLst>
      <p:ext uri="{BB962C8B-B14F-4D97-AF65-F5344CB8AC3E}">
        <p14:creationId xmlns:p14="http://schemas.microsoft.com/office/powerpoint/2010/main" val="174687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D004-9CD9-B077-1114-05B821945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FDF7A-C385-FA82-0856-B1E69C27A92C}"/>
              </a:ext>
            </a:extLst>
          </p:cNvPr>
          <p:cNvSpPr>
            <a:spLocks noGrp="1"/>
          </p:cNvSpPr>
          <p:nvPr>
            <p:ph type="ctrTitle"/>
          </p:nvPr>
        </p:nvSpPr>
        <p:spPr>
          <a:xfrm>
            <a:off x="1010528" y="694677"/>
            <a:ext cx="14689375" cy="1470000"/>
          </a:xfrm>
        </p:spPr>
        <p:txBody>
          <a:bodyPr spcFirstLastPara="1" wrap="square" lIns="91425" tIns="45700" rIns="91425" bIns="45700" anchor="ctr" anchorCtr="0">
            <a:noAutofit/>
          </a:bodyPr>
          <a:lstStyle/>
          <a:p>
            <a:r>
              <a:rPr lang="en-US" sz="5000"/>
              <a:t>Randomized Search Top Combinations</a:t>
            </a:r>
          </a:p>
        </p:txBody>
      </p:sp>
      <p:graphicFrame>
        <p:nvGraphicFramePr>
          <p:cNvPr id="10" name="Table 9">
            <a:extLst>
              <a:ext uri="{FF2B5EF4-FFF2-40B4-BE49-F238E27FC236}">
                <a16:creationId xmlns:a16="http://schemas.microsoft.com/office/drawing/2014/main" id="{8E492EC5-CE30-AA11-591B-02F619F800B3}"/>
              </a:ext>
            </a:extLst>
          </p:cNvPr>
          <p:cNvGraphicFramePr>
            <a:graphicFrameLocks noGrp="1"/>
          </p:cNvGraphicFramePr>
          <p:nvPr/>
        </p:nvGraphicFramePr>
        <p:xfrm>
          <a:off x="1046747" y="5498432"/>
          <a:ext cx="6681484" cy="3875078"/>
        </p:xfrm>
        <a:graphic>
          <a:graphicData uri="http://schemas.openxmlformats.org/drawingml/2006/table">
            <a:tbl>
              <a:tblPr bandRow="1">
                <a:tableStyleId>{3B4B98B0-60AC-42C2-AFA5-B58CD77FA1E5}</a:tableStyleId>
              </a:tblPr>
              <a:tblGrid>
                <a:gridCol w="1336296">
                  <a:extLst>
                    <a:ext uri="{9D8B030D-6E8A-4147-A177-3AD203B41FA5}">
                      <a16:colId xmlns:a16="http://schemas.microsoft.com/office/drawing/2014/main" val="1240687591"/>
                    </a:ext>
                  </a:extLst>
                </a:gridCol>
                <a:gridCol w="1336296">
                  <a:extLst>
                    <a:ext uri="{9D8B030D-6E8A-4147-A177-3AD203B41FA5}">
                      <a16:colId xmlns:a16="http://schemas.microsoft.com/office/drawing/2014/main" val="3391828391"/>
                    </a:ext>
                  </a:extLst>
                </a:gridCol>
                <a:gridCol w="1230413">
                  <a:extLst>
                    <a:ext uri="{9D8B030D-6E8A-4147-A177-3AD203B41FA5}">
                      <a16:colId xmlns:a16="http://schemas.microsoft.com/office/drawing/2014/main" val="3039622623"/>
                    </a:ext>
                  </a:extLst>
                </a:gridCol>
                <a:gridCol w="1442183">
                  <a:extLst>
                    <a:ext uri="{9D8B030D-6E8A-4147-A177-3AD203B41FA5}">
                      <a16:colId xmlns:a16="http://schemas.microsoft.com/office/drawing/2014/main" val="2772859936"/>
                    </a:ext>
                  </a:extLst>
                </a:gridCol>
                <a:gridCol w="1336296">
                  <a:extLst>
                    <a:ext uri="{9D8B030D-6E8A-4147-A177-3AD203B41FA5}">
                      <a16:colId xmlns:a16="http://schemas.microsoft.com/office/drawing/2014/main" val="151402299"/>
                    </a:ext>
                  </a:extLst>
                </a:gridCol>
              </a:tblGrid>
              <a:tr h="299325">
                <a:tc gridSpan="5">
                  <a:txBody>
                    <a:bodyPr/>
                    <a:lstStyle/>
                    <a:p>
                      <a:pPr>
                        <a:buNone/>
                      </a:pPr>
                      <a:r>
                        <a:rPr lang="en-US" b="1">
                          <a:effectLst/>
                        </a:rPr>
                        <a:t>Legend Key</a:t>
                      </a:r>
                    </a:p>
                  </a:txBody>
                  <a:tcPr anchor="ct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2482860923"/>
                  </a:ext>
                </a:extLst>
              </a:tr>
              <a:tr h="508852">
                <a:tc>
                  <a:txBody>
                    <a:bodyPr/>
                    <a:lstStyle/>
                    <a:p>
                      <a:pPr>
                        <a:buNone/>
                      </a:pPr>
                      <a:r>
                        <a:rPr lang="en-US" b="1">
                          <a:effectLst/>
                        </a:rPr>
                        <a:t>Parameters</a:t>
                      </a:r>
                    </a:p>
                  </a:txBody>
                  <a:tcPr anchor="ctr"/>
                </a:tc>
                <a:tc>
                  <a:txBody>
                    <a:bodyPr/>
                    <a:lstStyle/>
                    <a:p>
                      <a:pPr>
                        <a:buNone/>
                      </a:pPr>
                      <a:r>
                        <a:rPr lang="en-US" b="1" err="1"/>
                        <a:t>max_depth</a:t>
                      </a:r>
                    </a:p>
                  </a:txBody>
                  <a:tcPr anchor="ctr"/>
                </a:tc>
                <a:tc>
                  <a:txBody>
                    <a:bodyPr/>
                    <a:lstStyle/>
                    <a:p>
                      <a:pPr>
                        <a:buNone/>
                      </a:pPr>
                      <a:r>
                        <a:rPr lang="en-US" sz="1400" b="1" err="1"/>
                        <a:t>min_samples_leaf</a:t>
                      </a:r>
                    </a:p>
                  </a:txBody>
                  <a:tcPr anchor="ctr"/>
                </a:tc>
                <a:tc>
                  <a:txBody>
                    <a:bodyPr/>
                    <a:lstStyle/>
                    <a:p>
                      <a:pPr>
                        <a:buNone/>
                      </a:pPr>
                      <a:r>
                        <a:rPr lang="en-US" b="1" err="1"/>
                        <a:t>min_samples_split</a:t>
                      </a:r>
                    </a:p>
                  </a:txBody>
                  <a:tcPr anchor="ctr"/>
                </a:tc>
                <a:tc>
                  <a:txBody>
                    <a:bodyPr/>
                    <a:lstStyle/>
                    <a:p>
                      <a:pPr>
                        <a:buNone/>
                      </a:pPr>
                      <a:r>
                        <a:rPr lang="en-US" b="1" err="1"/>
                        <a:t>n_estimators</a:t>
                      </a:r>
                    </a:p>
                  </a:txBody>
                  <a:tcPr anchor="ctr"/>
                </a:tc>
                <a:extLst>
                  <a:ext uri="{0D108BD9-81ED-4DB2-BD59-A6C34878D82A}">
                    <a16:rowId xmlns:a16="http://schemas.microsoft.com/office/drawing/2014/main" val="2945448442"/>
                  </a:ext>
                </a:extLst>
              </a:tr>
              <a:tr h="299325">
                <a:tc>
                  <a:txBody>
                    <a:bodyPr/>
                    <a:lstStyle/>
                    <a:p>
                      <a:pPr>
                        <a:buNone/>
                      </a:pPr>
                      <a:r>
                        <a:rPr lang="en-US">
                          <a:effectLst/>
                        </a:rPr>
                        <a:t>1</a:t>
                      </a:r>
                    </a:p>
                  </a:txBody>
                  <a:tcPr anchor="ctr"/>
                </a:tc>
                <a:tc>
                  <a:txBody>
                    <a:bodyPr/>
                    <a:lstStyle/>
                    <a:p>
                      <a:pPr>
                        <a:buNone/>
                      </a:pPr>
                      <a:r>
                        <a:rPr lang="en-US"/>
                        <a:t>19</a:t>
                      </a:r>
                    </a:p>
                  </a:txBody>
                  <a:tcPr anchor="ctr"/>
                </a:tc>
                <a:tc>
                  <a:txBody>
                    <a:bodyPr/>
                    <a:lstStyle/>
                    <a:p>
                      <a:pPr>
                        <a:buNone/>
                      </a:pPr>
                      <a:r>
                        <a:rPr lang="en-US"/>
                        <a:t>4</a:t>
                      </a:r>
                    </a:p>
                  </a:txBody>
                  <a:tcPr anchor="ctr"/>
                </a:tc>
                <a:tc>
                  <a:txBody>
                    <a:bodyPr/>
                    <a:lstStyle/>
                    <a:p>
                      <a:pPr>
                        <a:buNone/>
                      </a:pPr>
                      <a:r>
                        <a:rPr lang="en-US"/>
                        <a:t>10</a:t>
                      </a:r>
                    </a:p>
                  </a:txBody>
                  <a:tcPr anchor="ctr"/>
                </a:tc>
                <a:tc>
                  <a:txBody>
                    <a:bodyPr/>
                    <a:lstStyle/>
                    <a:p>
                      <a:pPr>
                        <a:buNone/>
                      </a:pPr>
                      <a:r>
                        <a:rPr lang="en-US"/>
                        <a:t>442</a:t>
                      </a:r>
                    </a:p>
                  </a:txBody>
                  <a:tcPr anchor="ctr"/>
                </a:tc>
                <a:extLst>
                  <a:ext uri="{0D108BD9-81ED-4DB2-BD59-A6C34878D82A}">
                    <a16:rowId xmlns:a16="http://schemas.microsoft.com/office/drawing/2014/main" val="1197041475"/>
                  </a:ext>
                </a:extLst>
              </a:tr>
              <a:tr h="299325">
                <a:tc>
                  <a:txBody>
                    <a:bodyPr/>
                    <a:lstStyle/>
                    <a:p>
                      <a:pPr>
                        <a:buNone/>
                      </a:pPr>
                      <a:r>
                        <a:rPr lang="en-US">
                          <a:effectLst/>
                        </a:rPr>
                        <a:t>2</a:t>
                      </a:r>
                    </a:p>
                  </a:txBody>
                  <a:tcPr anchor="ctr"/>
                </a:tc>
                <a:tc>
                  <a:txBody>
                    <a:bodyPr/>
                    <a:lstStyle/>
                    <a:p>
                      <a:pPr>
                        <a:buNone/>
                      </a:pPr>
                      <a:r>
                        <a:rPr lang="en-US"/>
                        <a:t>20</a:t>
                      </a:r>
                    </a:p>
                  </a:txBody>
                  <a:tcPr anchor="ctr"/>
                </a:tc>
                <a:tc>
                  <a:txBody>
                    <a:bodyPr/>
                    <a:lstStyle/>
                    <a:p>
                      <a:pPr>
                        <a:buNone/>
                      </a:pPr>
                      <a:r>
                        <a:rPr lang="en-US"/>
                        <a:t>6</a:t>
                      </a:r>
                    </a:p>
                  </a:txBody>
                  <a:tcPr anchor="ctr"/>
                </a:tc>
                <a:tc>
                  <a:txBody>
                    <a:bodyPr/>
                    <a:lstStyle/>
                    <a:p>
                      <a:pPr>
                        <a:buNone/>
                      </a:pPr>
                      <a:r>
                        <a:rPr lang="en-US"/>
                        <a:t>6</a:t>
                      </a:r>
                    </a:p>
                  </a:txBody>
                  <a:tcPr anchor="ctr"/>
                </a:tc>
                <a:tc>
                  <a:txBody>
                    <a:bodyPr/>
                    <a:lstStyle/>
                    <a:p>
                      <a:pPr>
                        <a:buNone/>
                      </a:pPr>
                      <a:r>
                        <a:rPr lang="en-US"/>
                        <a:t>499</a:t>
                      </a:r>
                    </a:p>
                  </a:txBody>
                  <a:tcPr anchor="ctr"/>
                </a:tc>
                <a:extLst>
                  <a:ext uri="{0D108BD9-81ED-4DB2-BD59-A6C34878D82A}">
                    <a16:rowId xmlns:a16="http://schemas.microsoft.com/office/drawing/2014/main" val="1482881441"/>
                  </a:ext>
                </a:extLst>
              </a:tr>
              <a:tr h="299325">
                <a:tc>
                  <a:txBody>
                    <a:bodyPr/>
                    <a:lstStyle/>
                    <a:p>
                      <a:pPr>
                        <a:buNone/>
                      </a:pPr>
                      <a:r>
                        <a:rPr lang="en-US">
                          <a:effectLst/>
                        </a:rPr>
                        <a:t>3</a:t>
                      </a:r>
                    </a:p>
                  </a:txBody>
                  <a:tcPr anchor="ctr"/>
                </a:tc>
                <a:tc>
                  <a:txBody>
                    <a:bodyPr/>
                    <a:lstStyle/>
                    <a:p>
                      <a:pPr>
                        <a:buNone/>
                      </a:pPr>
                      <a:r>
                        <a:rPr lang="en-US"/>
                        <a:t>19</a:t>
                      </a:r>
                    </a:p>
                  </a:txBody>
                  <a:tcPr anchor="ctr"/>
                </a:tc>
                <a:tc>
                  <a:txBody>
                    <a:bodyPr/>
                    <a:lstStyle/>
                    <a:p>
                      <a:pPr>
                        <a:buNone/>
                      </a:pPr>
                      <a:r>
                        <a:rPr lang="en-US"/>
                        <a:t>10</a:t>
                      </a:r>
                    </a:p>
                  </a:txBody>
                  <a:tcPr anchor="ctr"/>
                </a:tc>
                <a:tc>
                  <a:txBody>
                    <a:bodyPr/>
                    <a:lstStyle/>
                    <a:p>
                      <a:pPr>
                        <a:buNone/>
                      </a:pPr>
                      <a:r>
                        <a:rPr lang="en-US"/>
                        <a:t>10</a:t>
                      </a:r>
                    </a:p>
                  </a:txBody>
                  <a:tcPr anchor="ctr"/>
                </a:tc>
                <a:tc>
                  <a:txBody>
                    <a:bodyPr/>
                    <a:lstStyle/>
                    <a:p>
                      <a:pPr>
                        <a:buNone/>
                      </a:pPr>
                      <a:r>
                        <a:rPr lang="en-US"/>
                        <a:t>412</a:t>
                      </a:r>
                    </a:p>
                  </a:txBody>
                  <a:tcPr anchor="ctr"/>
                </a:tc>
                <a:extLst>
                  <a:ext uri="{0D108BD9-81ED-4DB2-BD59-A6C34878D82A}">
                    <a16:rowId xmlns:a16="http://schemas.microsoft.com/office/drawing/2014/main" val="3434943955"/>
                  </a:ext>
                </a:extLst>
              </a:tr>
              <a:tr h="299325">
                <a:tc>
                  <a:txBody>
                    <a:bodyPr/>
                    <a:lstStyle/>
                    <a:p>
                      <a:pPr>
                        <a:buNone/>
                      </a:pPr>
                      <a:r>
                        <a:rPr lang="en-US">
                          <a:effectLst/>
                        </a:rPr>
                        <a:t>4</a:t>
                      </a:r>
                    </a:p>
                  </a:txBody>
                  <a:tcPr anchor="ctr"/>
                </a:tc>
                <a:tc>
                  <a:txBody>
                    <a:bodyPr/>
                    <a:lstStyle/>
                    <a:p>
                      <a:pPr>
                        <a:buNone/>
                      </a:pPr>
                      <a:r>
                        <a:rPr lang="en-US"/>
                        <a:t>24</a:t>
                      </a:r>
                    </a:p>
                  </a:txBody>
                  <a:tcPr anchor="ctr"/>
                </a:tc>
                <a:tc>
                  <a:txBody>
                    <a:bodyPr/>
                    <a:lstStyle/>
                    <a:p>
                      <a:pPr>
                        <a:buNone/>
                      </a:pPr>
                      <a:r>
                        <a:rPr lang="en-US"/>
                        <a:t>11</a:t>
                      </a:r>
                    </a:p>
                  </a:txBody>
                  <a:tcPr anchor="ctr"/>
                </a:tc>
                <a:tc>
                  <a:txBody>
                    <a:bodyPr/>
                    <a:lstStyle/>
                    <a:p>
                      <a:pPr>
                        <a:buNone/>
                      </a:pPr>
                      <a:r>
                        <a:rPr lang="en-US"/>
                        <a:t>6</a:t>
                      </a:r>
                    </a:p>
                  </a:txBody>
                  <a:tcPr anchor="ctr"/>
                </a:tc>
                <a:tc>
                  <a:txBody>
                    <a:bodyPr/>
                    <a:lstStyle/>
                    <a:p>
                      <a:pPr>
                        <a:buNone/>
                      </a:pPr>
                      <a:r>
                        <a:rPr lang="en-US"/>
                        <a:t>488</a:t>
                      </a:r>
                    </a:p>
                  </a:txBody>
                  <a:tcPr anchor="ctr"/>
                </a:tc>
                <a:extLst>
                  <a:ext uri="{0D108BD9-81ED-4DB2-BD59-A6C34878D82A}">
                    <a16:rowId xmlns:a16="http://schemas.microsoft.com/office/drawing/2014/main" val="3945383993"/>
                  </a:ext>
                </a:extLst>
              </a:tr>
              <a:tr h="299325">
                <a:tc>
                  <a:txBody>
                    <a:bodyPr/>
                    <a:lstStyle/>
                    <a:p>
                      <a:pPr>
                        <a:buNone/>
                      </a:pPr>
                      <a:r>
                        <a:rPr lang="en-US">
                          <a:effectLst/>
                        </a:rPr>
                        <a:t>5</a:t>
                      </a:r>
                    </a:p>
                  </a:txBody>
                  <a:tcPr anchor="ctr"/>
                </a:tc>
                <a:tc>
                  <a:txBody>
                    <a:bodyPr/>
                    <a:lstStyle/>
                    <a:p>
                      <a:pPr>
                        <a:buNone/>
                      </a:pPr>
                      <a:r>
                        <a:rPr lang="en-US"/>
                        <a:t>20</a:t>
                      </a:r>
                    </a:p>
                  </a:txBody>
                  <a:tcPr anchor="ctr"/>
                </a:tc>
                <a:tc>
                  <a:txBody>
                    <a:bodyPr/>
                    <a:lstStyle/>
                    <a:p>
                      <a:pPr>
                        <a:buNone/>
                      </a:pPr>
                      <a:r>
                        <a:rPr lang="en-US"/>
                        <a:t>13</a:t>
                      </a:r>
                    </a:p>
                  </a:txBody>
                  <a:tcPr anchor="ctr"/>
                </a:tc>
                <a:tc>
                  <a:txBody>
                    <a:bodyPr/>
                    <a:lstStyle/>
                    <a:p>
                      <a:pPr>
                        <a:buNone/>
                      </a:pPr>
                      <a:r>
                        <a:rPr lang="en-US"/>
                        <a:t>12</a:t>
                      </a:r>
                    </a:p>
                  </a:txBody>
                  <a:tcPr anchor="ctr"/>
                </a:tc>
                <a:tc>
                  <a:txBody>
                    <a:bodyPr/>
                    <a:lstStyle/>
                    <a:p>
                      <a:pPr>
                        <a:buNone/>
                      </a:pPr>
                      <a:r>
                        <a:rPr lang="en-US"/>
                        <a:t>464</a:t>
                      </a:r>
                    </a:p>
                  </a:txBody>
                  <a:tcPr anchor="ctr"/>
                </a:tc>
                <a:extLst>
                  <a:ext uri="{0D108BD9-81ED-4DB2-BD59-A6C34878D82A}">
                    <a16:rowId xmlns:a16="http://schemas.microsoft.com/office/drawing/2014/main" val="783545299"/>
                  </a:ext>
                </a:extLst>
              </a:tr>
              <a:tr h="299325">
                <a:tc>
                  <a:txBody>
                    <a:bodyPr/>
                    <a:lstStyle/>
                    <a:p>
                      <a:pPr>
                        <a:buNone/>
                      </a:pPr>
                      <a:r>
                        <a:rPr lang="en-US">
                          <a:effectLst/>
                        </a:rPr>
                        <a:t>6</a:t>
                      </a:r>
                    </a:p>
                  </a:txBody>
                  <a:tcPr anchor="ctr"/>
                </a:tc>
                <a:tc>
                  <a:txBody>
                    <a:bodyPr/>
                    <a:lstStyle/>
                    <a:p>
                      <a:pPr>
                        <a:buNone/>
                      </a:pPr>
                      <a:r>
                        <a:rPr lang="en-US"/>
                        <a:t>27</a:t>
                      </a:r>
                    </a:p>
                  </a:txBody>
                  <a:tcPr anchor="ctr"/>
                </a:tc>
                <a:tc>
                  <a:txBody>
                    <a:bodyPr/>
                    <a:lstStyle/>
                    <a:p>
                      <a:pPr>
                        <a:buNone/>
                      </a:pPr>
                      <a:r>
                        <a:rPr lang="en-US"/>
                        <a:t>12</a:t>
                      </a:r>
                    </a:p>
                  </a:txBody>
                  <a:tcPr anchor="ctr"/>
                </a:tc>
                <a:tc>
                  <a:txBody>
                    <a:bodyPr/>
                    <a:lstStyle/>
                    <a:p>
                      <a:pPr>
                        <a:buNone/>
                      </a:pPr>
                      <a:r>
                        <a:rPr lang="en-US"/>
                        <a:t>5</a:t>
                      </a:r>
                    </a:p>
                  </a:txBody>
                  <a:tcPr anchor="ctr"/>
                </a:tc>
                <a:tc>
                  <a:txBody>
                    <a:bodyPr/>
                    <a:lstStyle/>
                    <a:p>
                      <a:pPr>
                        <a:buNone/>
                      </a:pPr>
                      <a:r>
                        <a:rPr lang="en-US"/>
                        <a:t>329</a:t>
                      </a:r>
                    </a:p>
                  </a:txBody>
                  <a:tcPr anchor="ctr"/>
                </a:tc>
                <a:extLst>
                  <a:ext uri="{0D108BD9-81ED-4DB2-BD59-A6C34878D82A}">
                    <a16:rowId xmlns:a16="http://schemas.microsoft.com/office/drawing/2014/main" val="2181620761"/>
                  </a:ext>
                </a:extLst>
              </a:tr>
              <a:tr h="299325">
                <a:tc>
                  <a:txBody>
                    <a:bodyPr/>
                    <a:lstStyle/>
                    <a:p>
                      <a:pPr>
                        <a:buNone/>
                      </a:pPr>
                      <a:r>
                        <a:rPr lang="en-US">
                          <a:effectLst/>
                        </a:rPr>
                        <a:t>7</a:t>
                      </a:r>
                    </a:p>
                  </a:txBody>
                  <a:tcPr anchor="ctr"/>
                </a:tc>
                <a:tc>
                  <a:txBody>
                    <a:bodyPr/>
                    <a:lstStyle/>
                    <a:p>
                      <a:pPr>
                        <a:buNone/>
                      </a:pPr>
                      <a:r>
                        <a:rPr lang="en-US"/>
                        <a:t>12</a:t>
                      </a:r>
                    </a:p>
                  </a:txBody>
                  <a:tcPr anchor="ctr"/>
                </a:tc>
                <a:tc>
                  <a:txBody>
                    <a:bodyPr/>
                    <a:lstStyle/>
                    <a:p>
                      <a:pPr>
                        <a:buNone/>
                      </a:pPr>
                      <a:r>
                        <a:rPr lang="en-US"/>
                        <a:t>14</a:t>
                      </a:r>
                    </a:p>
                  </a:txBody>
                  <a:tcPr anchor="ctr"/>
                </a:tc>
                <a:tc>
                  <a:txBody>
                    <a:bodyPr/>
                    <a:lstStyle/>
                    <a:p>
                      <a:pPr>
                        <a:buNone/>
                      </a:pPr>
                      <a:r>
                        <a:rPr lang="en-US"/>
                        <a:t>13</a:t>
                      </a:r>
                    </a:p>
                  </a:txBody>
                  <a:tcPr anchor="ctr"/>
                </a:tc>
                <a:tc>
                  <a:txBody>
                    <a:bodyPr/>
                    <a:lstStyle/>
                    <a:p>
                      <a:pPr>
                        <a:buNone/>
                      </a:pPr>
                      <a:r>
                        <a:rPr lang="en-US"/>
                        <a:t>583</a:t>
                      </a:r>
                    </a:p>
                  </a:txBody>
                  <a:tcPr anchor="ctr"/>
                </a:tc>
                <a:extLst>
                  <a:ext uri="{0D108BD9-81ED-4DB2-BD59-A6C34878D82A}">
                    <a16:rowId xmlns:a16="http://schemas.microsoft.com/office/drawing/2014/main" val="2134776931"/>
                  </a:ext>
                </a:extLst>
              </a:tr>
              <a:tr h="299325">
                <a:tc>
                  <a:txBody>
                    <a:bodyPr/>
                    <a:lstStyle/>
                    <a:p>
                      <a:pPr>
                        <a:buNone/>
                      </a:pPr>
                      <a:r>
                        <a:rPr lang="en-US">
                          <a:effectLst/>
                        </a:rPr>
                        <a:t>8</a:t>
                      </a:r>
                    </a:p>
                  </a:txBody>
                  <a:tcPr anchor="ctr"/>
                </a:tc>
                <a:tc>
                  <a:txBody>
                    <a:bodyPr/>
                    <a:lstStyle/>
                    <a:p>
                      <a:pPr>
                        <a:buNone/>
                      </a:pPr>
                      <a:r>
                        <a:rPr lang="en-US"/>
                        <a:t>11</a:t>
                      </a:r>
                    </a:p>
                  </a:txBody>
                  <a:tcPr anchor="ctr"/>
                </a:tc>
                <a:tc>
                  <a:txBody>
                    <a:bodyPr/>
                    <a:lstStyle/>
                    <a:p>
                      <a:pPr>
                        <a:buNone/>
                      </a:pPr>
                      <a:r>
                        <a:rPr lang="en-US"/>
                        <a:t>9</a:t>
                      </a:r>
                    </a:p>
                  </a:txBody>
                  <a:tcPr anchor="ctr"/>
                </a:tc>
                <a:tc>
                  <a:txBody>
                    <a:bodyPr/>
                    <a:lstStyle/>
                    <a:p>
                      <a:pPr>
                        <a:buNone/>
                      </a:pPr>
                      <a:r>
                        <a:rPr lang="en-US"/>
                        <a:t>12</a:t>
                      </a:r>
                    </a:p>
                  </a:txBody>
                  <a:tcPr anchor="ctr"/>
                </a:tc>
                <a:tc>
                  <a:txBody>
                    <a:bodyPr/>
                    <a:lstStyle/>
                    <a:p>
                      <a:pPr>
                        <a:buNone/>
                      </a:pPr>
                      <a:r>
                        <a:rPr lang="en-US"/>
                        <a:t>326</a:t>
                      </a:r>
                    </a:p>
                  </a:txBody>
                  <a:tcPr anchor="ctr"/>
                </a:tc>
                <a:extLst>
                  <a:ext uri="{0D108BD9-81ED-4DB2-BD59-A6C34878D82A}">
                    <a16:rowId xmlns:a16="http://schemas.microsoft.com/office/drawing/2014/main" val="91144073"/>
                  </a:ext>
                </a:extLst>
              </a:tr>
              <a:tr h="299325">
                <a:tc>
                  <a:txBody>
                    <a:bodyPr/>
                    <a:lstStyle/>
                    <a:p>
                      <a:pPr>
                        <a:buNone/>
                      </a:pPr>
                      <a:r>
                        <a:rPr lang="en-US">
                          <a:effectLst/>
                        </a:rPr>
                        <a:t>9</a:t>
                      </a:r>
                    </a:p>
                  </a:txBody>
                  <a:tcPr anchor="ctr"/>
                </a:tc>
                <a:tc>
                  <a:txBody>
                    <a:bodyPr/>
                    <a:lstStyle/>
                    <a:p>
                      <a:pPr>
                        <a:buNone/>
                      </a:pPr>
                      <a:r>
                        <a:rPr lang="en-US"/>
                        <a:t>7</a:t>
                      </a:r>
                    </a:p>
                  </a:txBody>
                  <a:tcPr anchor="ctr"/>
                </a:tc>
                <a:tc>
                  <a:txBody>
                    <a:bodyPr/>
                    <a:lstStyle/>
                    <a:p>
                      <a:pPr>
                        <a:buNone/>
                      </a:pPr>
                      <a:r>
                        <a:rPr lang="en-US"/>
                        <a:t>10</a:t>
                      </a:r>
                    </a:p>
                  </a:txBody>
                  <a:tcPr anchor="ctr"/>
                </a:tc>
                <a:tc>
                  <a:txBody>
                    <a:bodyPr/>
                    <a:lstStyle/>
                    <a:p>
                      <a:pPr>
                        <a:buNone/>
                      </a:pPr>
                      <a:r>
                        <a:rPr lang="en-US"/>
                        <a:t>8</a:t>
                      </a:r>
                    </a:p>
                  </a:txBody>
                  <a:tcPr anchor="ctr"/>
                </a:tc>
                <a:tc>
                  <a:txBody>
                    <a:bodyPr/>
                    <a:lstStyle/>
                    <a:p>
                      <a:pPr>
                        <a:buNone/>
                      </a:pPr>
                      <a:r>
                        <a:rPr lang="en-US"/>
                        <a:t>592</a:t>
                      </a:r>
                    </a:p>
                  </a:txBody>
                  <a:tcPr anchor="ctr"/>
                </a:tc>
                <a:extLst>
                  <a:ext uri="{0D108BD9-81ED-4DB2-BD59-A6C34878D82A}">
                    <a16:rowId xmlns:a16="http://schemas.microsoft.com/office/drawing/2014/main" val="296929463"/>
                  </a:ext>
                </a:extLst>
              </a:tr>
              <a:tr h="308918">
                <a:tc>
                  <a:txBody>
                    <a:bodyPr/>
                    <a:lstStyle/>
                    <a:p>
                      <a:pPr>
                        <a:buNone/>
                      </a:pPr>
                      <a:r>
                        <a:rPr lang="en-US">
                          <a:effectLst/>
                        </a:rPr>
                        <a:t>10</a:t>
                      </a:r>
                    </a:p>
                  </a:txBody>
                  <a:tcPr anchor="ctr"/>
                </a:tc>
                <a:tc>
                  <a:txBody>
                    <a:bodyPr/>
                    <a:lstStyle/>
                    <a:p>
                      <a:pPr>
                        <a:buNone/>
                      </a:pPr>
                      <a:r>
                        <a:rPr lang="en-US"/>
                        <a:t>7</a:t>
                      </a:r>
                    </a:p>
                  </a:txBody>
                  <a:tcPr anchor="ctr"/>
                </a:tc>
                <a:tc>
                  <a:txBody>
                    <a:bodyPr/>
                    <a:lstStyle/>
                    <a:p>
                      <a:pPr>
                        <a:buNone/>
                      </a:pPr>
                      <a:r>
                        <a:rPr lang="en-US"/>
                        <a:t>5</a:t>
                      </a:r>
                    </a:p>
                  </a:txBody>
                  <a:tcPr anchor="ctr"/>
                </a:tc>
                <a:tc>
                  <a:txBody>
                    <a:bodyPr/>
                    <a:lstStyle/>
                    <a:p>
                      <a:pPr>
                        <a:buNone/>
                      </a:pPr>
                      <a:r>
                        <a:rPr lang="en-US"/>
                        <a:t>8</a:t>
                      </a:r>
                    </a:p>
                  </a:txBody>
                  <a:tcPr anchor="ctr"/>
                </a:tc>
                <a:tc>
                  <a:txBody>
                    <a:bodyPr/>
                    <a:lstStyle/>
                    <a:p>
                      <a:pPr>
                        <a:buNone/>
                      </a:pPr>
                      <a:r>
                        <a:rPr lang="en-US"/>
                        <a:t>408</a:t>
                      </a:r>
                    </a:p>
                  </a:txBody>
                  <a:tcPr anchor="ctr"/>
                </a:tc>
                <a:extLst>
                  <a:ext uri="{0D108BD9-81ED-4DB2-BD59-A6C34878D82A}">
                    <a16:rowId xmlns:a16="http://schemas.microsoft.com/office/drawing/2014/main" val="3116524719"/>
                  </a:ext>
                </a:extLst>
              </a:tr>
            </a:tbl>
          </a:graphicData>
        </a:graphic>
      </p:graphicFrame>
      <p:graphicFrame>
        <p:nvGraphicFramePr>
          <p:cNvPr id="6" name="Table 5">
            <a:extLst>
              <a:ext uri="{FF2B5EF4-FFF2-40B4-BE49-F238E27FC236}">
                <a16:creationId xmlns:a16="http://schemas.microsoft.com/office/drawing/2014/main" id="{1CE671CA-9778-AEB1-3DFE-F942940288C0}"/>
              </a:ext>
            </a:extLst>
          </p:cNvPr>
          <p:cNvGraphicFramePr>
            <a:graphicFrameLocks noGrp="1"/>
          </p:cNvGraphicFramePr>
          <p:nvPr>
            <p:extLst>
              <p:ext uri="{D42A27DB-BD31-4B8C-83A1-F6EECF244321}">
                <p14:modId xmlns:p14="http://schemas.microsoft.com/office/powerpoint/2010/main" val="1884309112"/>
              </p:ext>
            </p:extLst>
          </p:nvPr>
        </p:nvGraphicFramePr>
        <p:xfrm>
          <a:off x="8956109" y="5401849"/>
          <a:ext cx="7056155" cy="3913992"/>
        </p:xfrm>
        <a:graphic>
          <a:graphicData uri="http://schemas.openxmlformats.org/drawingml/2006/table">
            <a:tbl>
              <a:tblPr bandRow="1">
                <a:tableStyleId>{638B1855-1B75-4FBE-930C-398BA8C253C6}</a:tableStyleId>
              </a:tblPr>
              <a:tblGrid>
                <a:gridCol w="1411231">
                  <a:extLst>
                    <a:ext uri="{9D8B030D-6E8A-4147-A177-3AD203B41FA5}">
                      <a16:colId xmlns:a16="http://schemas.microsoft.com/office/drawing/2014/main" val="3619757795"/>
                    </a:ext>
                  </a:extLst>
                </a:gridCol>
                <a:gridCol w="1411231">
                  <a:extLst>
                    <a:ext uri="{9D8B030D-6E8A-4147-A177-3AD203B41FA5}">
                      <a16:colId xmlns:a16="http://schemas.microsoft.com/office/drawing/2014/main" val="1075597855"/>
                    </a:ext>
                  </a:extLst>
                </a:gridCol>
                <a:gridCol w="1411231">
                  <a:extLst>
                    <a:ext uri="{9D8B030D-6E8A-4147-A177-3AD203B41FA5}">
                      <a16:colId xmlns:a16="http://schemas.microsoft.com/office/drawing/2014/main" val="1030297601"/>
                    </a:ext>
                  </a:extLst>
                </a:gridCol>
                <a:gridCol w="1411231">
                  <a:extLst>
                    <a:ext uri="{9D8B030D-6E8A-4147-A177-3AD203B41FA5}">
                      <a16:colId xmlns:a16="http://schemas.microsoft.com/office/drawing/2014/main" val="3255355695"/>
                    </a:ext>
                  </a:extLst>
                </a:gridCol>
                <a:gridCol w="1411231">
                  <a:extLst>
                    <a:ext uri="{9D8B030D-6E8A-4147-A177-3AD203B41FA5}">
                      <a16:colId xmlns:a16="http://schemas.microsoft.com/office/drawing/2014/main" val="1419910530"/>
                    </a:ext>
                  </a:extLst>
                </a:gridCol>
              </a:tblGrid>
              <a:tr h="326166">
                <a:tc gridSpan="5">
                  <a:txBody>
                    <a:bodyPr/>
                    <a:lstStyle/>
                    <a:p>
                      <a:pPr>
                        <a:buNone/>
                      </a:pPr>
                      <a:r>
                        <a:rPr lang="en-US" b="1">
                          <a:solidFill>
                            <a:srgbClr val="000000"/>
                          </a:solidFill>
                          <a:effectLst/>
                        </a:rPr>
                        <a:t>Legend Key</a:t>
                      </a:r>
                    </a:p>
                  </a:txBody>
                  <a:tcPr anchor="ct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3927498856"/>
                  </a:ext>
                </a:extLst>
              </a:tr>
              <a:tr h="326166">
                <a:tc>
                  <a:txBody>
                    <a:bodyPr/>
                    <a:lstStyle/>
                    <a:p>
                      <a:pPr>
                        <a:buNone/>
                      </a:pPr>
                      <a:r>
                        <a:rPr lang="en-US" b="1">
                          <a:solidFill>
                            <a:srgbClr val="000000"/>
                          </a:solidFill>
                          <a:effectLst/>
                        </a:rPr>
                        <a:t>Parameters</a:t>
                      </a:r>
                    </a:p>
                  </a:txBody>
                  <a:tcPr anchor="ctr"/>
                </a:tc>
                <a:tc>
                  <a:txBody>
                    <a:bodyPr/>
                    <a:lstStyle/>
                    <a:p>
                      <a:pPr>
                        <a:buNone/>
                      </a:pPr>
                      <a:r>
                        <a:rPr lang="en-US" b="1" err="1">
                          <a:solidFill>
                            <a:srgbClr val="000000"/>
                          </a:solidFill>
                        </a:rPr>
                        <a:t>learning_rate</a:t>
                      </a:r>
                    </a:p>
                  </a:txBody>
                  <a:tcPr anchor="ctr"/>
                </a:tc>
                <a:tc>
                  <a:txBody>
                    <a:bodyPr/>
                    <a:lstStyle/>
                    <a:p>
                      <a:pPr>
                        <a:buNone/>
                      </a:pPr>
                      <a:r>
                        <a:rPr lang="en-US" b="1" err="1">
                          <a:solidFill>
                            <a:srgbClr val="000000"/>
                          </a:solidFill>
                        </a:rPr>
                        <a:t>max_depth</a:t>
                      </a:r>
                    </a:p>
                  </a:txBody>
                  <a:tcPr anchor="ctr"/>
                </a:tc>
                <a:tc>
                  <a:txBody>
                    <a:bodyPr/>
                    <a:lstStyle/>
                    <a:p>
                      <a:pPr>
                        <a:buNone/>
                      </a:pPr>
                      <a:r>
                        <a:rPr lang="en-US" b="1">
                          <a:solidFill>
                            <a:srgbClr val="000000"/>
                          </a:solidFill>
                        </a:rPr>
                        <a:t>subsample</a:t>
                      </a:r>
                    </a:p>
                  </a:txBody>
                  <a:tcPr anchor="ctr"/>
                </a:tc>
                <a:tc>
                  <a:txBody>
                    <a:bodyPr/>
                    <a:lstStyle/>
                    <a:p>
                      <a:pPr>
                        <a:buNone/>
                      </a:pPr>
                      <a:r>
                        <a:rPr lang="en-US" b="1" err="1">
                          <a:solidFill>
                            <a:srgbClr val="000000"/>
                          </a:solidFill>
                        </a:rPr>
                        <a:t>n_estimators</a:t>
                      </a:r>
                    </a:p>
                  </a:txBody>
                  <a:tcPr anchor="ctr"/>
                </a:tc>
                <a:extLst>
                  <a:ext uri="{0D108BD9-81ED-4DB2-BD59-A6C34878D82A}">
                    <a16:rowId xmlns:a16="http://schemas.microsoft.com/office/drawing/2014/main" val="1960143441"/>
                  </a:ext>
                </a:extLst>
              </a:tr>
              <a:tr h="326166">
                <a:tc>
                  <a:txBody>
                    <a:bodyPr/>
                    <a:lstStyle/>
                    <a:p>
                      <a:pPr>
                        <a:buNone/>
                      </a:pPr>
                      <a:r>
                        <a:rPr lang="en-US">
                          <a:solidFill>
                            <a:srgbClr val="000000"/>
                          </a:solidFill>
                          <a:effectLst/>
                        </a:rPr>
                        <a:t>1</a:t>
                      </a:r>
                    </a:p>
                  </a:txBody>
                  <a:tcPr anchor="ctr"/>
                </a:tc>
                <a:tc>
                  <a:txBody>
                    <a:bodyPr/>
                    <a:lstStyle/>
                    <a:p>
                      <a:pPr>
                        <a:buNone/>
                      </a:pPr>
                      <a:r>
                        <a:rPr lang="en-US">
                          <a:solidFill>
                            <a:srgbClr val="000000"/>
                          </a:solidFill>
                        </a:rPr>
                        <a:t>0.145</a:t>
                      </a:r>
                    </a:p>
                  </a:txBody>
                  <a:tcPr anchor="ctr"/>
                </a:tc>
                <a:tc>
                  <a:txBody>
                    <a:bodyPr/>
                    <a:lstStyle/>
                    <a:p>
                      <a:pPr>
                        <a:buNone/>
                      </a:pPr>
                      <a:r>
                        <a:rPr lang="en-US">
                          <a:solidFill>
                            <a:srgbClr val="000000"/>
                          </a:solidFill>
                        </a:rPr>
                        <a:t>7</a:t>
                      </a:r>
                    </a:p>
                  </a:txBody>
                  <a:tcPr anchor="ctr"/>
                </a:tc>
                <a:tc>
                  <a:txBody>
                    <a:bodyPr/>
                    <a:lstStyle/>
                    <a:p>
                      <a:pPr>
                        <a:buNone/>
                      </a:pPr>
                      <a:r>
                        <a:rPr lang="en-US">
                          <a:solidFill>
                            <a:srgbClr val="000000"/>
                          </a:solidFill>
                        </a:rPr>
                        <a:t>0.845</a:t>
                      </a:r>
                    </a:p>
                  </a:txBody>
                  <a:tcPr anchor="ctr"/>
                </a:tc>
                <a:tc>
                  <a:txBody>
                    <a:bodyPr/>
                    <a:lstStyle/>
                    <a:p>
                      <a:pPr>
                        <a:buNone/>
                      </a:pPr>
                      <a:r>
                        <a:rPr lang="en-US">
                          <a:solidFill>
                            <a:srgbClr val="000000"/>
                          </a:solidFill>
                        </a:rPr>
                        <a:t>245</a:t>
                      </a:r>
                    </a:p>
                  </a:txBody>
                  <a:tcPr anchor="ctr"/>
                </a:tc>
                <a:extLst>
                  <a:ext uri="{0D108BD9-81ED-4DB2-BD59-A6C34878D82A}">
                    <a16:rowId xmlns:a16="http://schemas.microsoft.com/office/drawing/2014/main" val="2816012871"/>
                  </a:ext>
                </a:extLst>
              </a:tr>
              <a:tr h="326166">
                <a:tc>
                  <a:txBody>
                    <a:bodyPr/>
                    <a:lstStyle/>
                    <a:p>
                      <a:pPr>
                        <a:buNone/>
                      </a:pPr>
                      <a:r>
                        <a:rPr lang="en-US">
                          <a:solidFill>
                            <a:srgbClr val="000000"/>
                          </a:solidFill>
                          <a:effectLst/>
                        </a:rPr>
                        <a:t>2</a:t>
                      </a:r>
                    </a:p>
                  </a:txBody>
                  <a:tcPr anchor="ctr"/>
                </a:tc>
                <a:tc>
                  <a:txBody>
                    <a:bodyPr/>
                    <a:lstStyle/>
                    <a:p>
                      <a:pPr>
                        <a:buNone/>
                      </a:pPr>
                      <a:r>
                        <a:rPr lang="en-US">
                          <a:solidFill>
                            <a:srgbClr val="000000"/>
                          </a:solidFill>
                        </a:rPr>
                        <a:t>0.150</a:t>
                      </a:r>
                    </a:p>
                  </a:txBody>
                  <a:tcPr anchor="ctr"/>
                </a:tc>
                <a:tc>
                  <a:txBody>
                    <a:bodyPr/>
                    <a:lstStyle/>
                    <a:p>
                      <a:pPr>
                        <a:buNone/>
                      </a:pPr>
                      <a:r>
                        <a:rPr lang="en-US">
                          <a:solidFill>
                            <a:srgbClr val="000000"/>
                          </a:solidFill>
                        </a:rPr>
                        <a:t>6</a:t>
                      </a:r>
                    </a:p>
                  </a:txBody>
                  <a:tcPr anchor="ctr"/>
                </a:tc>
                <a:tc>
                  <a:txBody>
                    <a:bodyPr/>
                    <a:lstStyle/>
                    <a:p>
                      <a:pPr>
                        <a:buNone/>
                      </a:pPr>
                      <a:r>
                        <a:rPr lang="en-US">
                          <a:solidFill>
                            <a:srgbClr val="000000"/>
                          </a:solidFill>
                        </a:rPr>
                        <a:t>0.948</a:t>
                      </a:r>
                    </a:p>
                  </a:txBody>
                  <a:tcPr anchor="ctr"/>
                </a:tc>
                <a:tc>
                  <a:txBody>
                    <a:bodyPr/>
                    <a:lstStyle/>
                    <a:p>
                      <a:pPr>
                        <a:buNone/>
                      </a:pPr>
                      <a:r>
                        <a:rPr lang="en-US">
                          <a:solidFill>
                            <a:srgbClr val="000000"/>
                          </a:solidFill>
                        </a:rPr>
                        <a:t>223</a:t>
                      </a:r>
                    </a:p>
                  </a:txBody>
                  <a:tcPr anchor="ctr"/>
                </a:tc>
                <a:extLst>
                  <a:ext uri="{0D108BD9-81ED-4DB2-BD59-A6C34878D82A}">
                    <a16:rowId xmlns:a16="http://schemas.microsoft.com/office/drawing/2014/main" val="901862795"/>
                  </a:ext>
                </a:extLst>
              </a:tr>
              <a:tr h="326166">
                <a:tc>
                  <a:txBody>
                    <a:bodyPr/>
                    <a:lstStyle/>
                    <a:p>
                      <a:pPr>
                        <a:buNone/>
                      </a:pPr>
                      <a:r>
                        <a:rPr lang="en-US">
                          <a:solidFill>
                            <a:srgbClr val="000000"/>
                          </a:solidFill>
                          <a:effectLst/>
                        </a:rPr>
                        <a:t>3</a:t>
                      </a:r>
                    </a:p>
                  </a:txBody>
                  <a:tcPr anchor="ctr"/>
                </a:tc>
                <a:tc>
                  <a:txBody>
                    <a:bodyPr/>
                    <a:lstStyle/>
                    <a:p>
                      <a:pPr>
                        <a:buNone/>
                      </a:pPr>
                      <a:r>
                        <a:rPr lang="en-US">
                          <a:solidFill>
                            <a:srgbClr val="000000"/>
                          </a:solidFill>
                        </a:rPr>
                        <a:t>0.101</a:t>
                      </a:r>
                    </a:p>
                  </a:txBody>
                  <a:tcPr anchor="ctr"/>
                </a:tc>
                <a:tc>
                  <a:txBody>
                    <a:bodyPr/>
                    <a:lstStyle/>
                    <a:p>
                      <a:pPr>
                        <a:buNone/>
                      </a:pPr>
                      <a:r>
                        <a:rPr lang="en-US">
                          <a:solidFill>
                            <a:srgbClr val="000000"/>
                          </a:solidFill>
                        </a:rPr>
                        <a:t>7</a:t>
                      </a:r>
                    </a:p>
                  </a:txBody>
                  <a:tcPr anchor="ctr"/>
                </a:tc>
                <a:tc>
                  <a:txBody>
                    <a:bodyPr/>
                    <a:lstStyle/>
                    <a:p>
                      <a:pPr>
                        <a:buNone/>
                      </a:pPr>
                      <a:r>
                        <a:rPr lang="en-US">
                          <a:solidFill>
                            <a:srgbClr val="000000"/>
                          </a:solidFill>
                        </a:rPr>
                        <a:t>0.973</a:t>
                      </a:r>
                    </a:p>
                  </a:txBody>
                  <a:tcPr anchor="ctr"/>
                </a:tc>
                <a:tc>
                  <a:txBody>
                    <a:bodyPr/>
                    <a:lstStyle/>
                    <a:p>
                      <a:pPr>
                        <a:buNone/>
                      </a:pPr>
                      <a:r>
                        <a:rPr lang="en-US">
                          <a:solidFill>
                            <a:srgbClr val="000000"/>
                          </a:solidFill>
                        </a:rPr>
                        <a:t>237</a:t>
                      </a:r>
                    </a:p>
                  </a:txBody>
                  <a:tcPr anchor="ctr"/>
                </a:tc>
                <a:extLst>
                  <a:ext uri="{0D108BD9-81ED-4DB2-BD59-A6C34878D82A}">
                    <a16:rowId xmlns:a16="http://schemas.microsoft.com/office/drawing/2014/main" val="3597856479"/>
                  </a:ext>
                </a:extLst>
              </a:tr>
              <a:tr h="326166">
                <a:tc>
                  <a:txBody>
                    <a:bodyPr/>
                    <a:lstStyle/>
                    <a:p>
                      <a:pPr>
                        <a:buNone/>
                      </a:pPr>
                      <a:r>
                        <a:rPr lang="en-US">
                          <a:solidFill>
                            <a:srgbClr val="000000"/>
                          </a:solidFill>
                          <a:effectLst/>
                        </a:rPr>
                        <a:t>4</a:t>
                      </a:r>
                    </a:p>
                  </a:txBody>
                  <a:tcPr anchor="ctr"/>
                </a:tc>
                <a:tc>
                  <a:txBody>
                    <a:bodyPr/>
                    <a:lstStyle/>
                    <a:p>
                      <a:pPr>
                        <a:buNone/>
                      </a:pPr>
                      <a:r>
                        <a:rPr lang="en-US">
                          <a:solidFill>
                            <a:srgbClr val="000000"/>
                          </a:solidFill>
                        </a:rPr>
                        <a:t>0.132</a:t>
                      </a:r>
                    </a:p>
                  </a:txBody>
                  <a:tcPr anchor="ctr"/>
                </a:tc>
                <a:tc>
                  <a:txBody>
                    <a:bodyPr/>
                    <a:lstStyle/>
                    <a:p>
                      <a:pPr>
                        <a:buNone/>
                      </a:pPr>
                      <a:r>
                        <a:rPr lang="en-US">
                          <a:solidFill>
                            <a:srgbClr val="000000"/>
                          </a:solidFill>
                        </a:rPr>
                        <a:t>5</a:t>
                      </a:r>
                    </a:p>
                  </a:txBody>
                  <a:tcPr anchor="ctr"/>
                </a:tc>
                <a:tc>
                  <a:txBody>
                    <a:bodyPr/>
                    <a:lstStyle/>
                    <a:p>
                      <a:pPr>
                        <a:buNone/>
                      </a:pPr>
                      <a:r>
                        <a:rPr lang="en-US">
                          <a:solidFill>
                            <a:srgbClr val="000000"/>
                          </a:solidFill>
                        </a:rPr>
                        <a:t>0.773</a:t>
                      </a:r>
                    </a:p>
                  </a:txBody>
                  <a:tcPr anchor="ctr"/>
                </a:tc>
                <a:tc>
                  <a:txBody>
                    <a:bodyPr/>
                    <a:lstStyle/>
                    <a:p>
                      <a:pPr>
                        <a:buNone/>
                      </a:pPr>
                      <a:r>
                        <a:rPr lang="en-US">
                          <a:solidFill>
                            <a:srgbClr val="000000"/>
                          </a:solidFill>
                        </a:rPr>
                        <a:t>156</a:t>
                      </a:r>
                    </a:p>
                  </a:txBody>
                  <a:tcPr anchor="ctr"/>
                </a:tc>
                <a:extLst>
                  <a:ext uri="{0D108BD9-81ED-4DB2-BD59-A6C34878D82A}">
                    <a16:rowId xmlns:a16="http://schemas.microsoft.com/office/drawing/2014/main" val="2937422"/>
                  </a:ext>
                </a:extLst>
              </a:tr>
              <a:tr h="326166">
                <a:tc>
                  <a:txBody>
                    <a:bodyPr/>
                    <a:lstStyle/>
                    <a:p>
                      <a:pPr>
                        <a:buNone/>
                      </a:pPr>
                      <a:r>
                        <a:rPr lang="en-US">
                          <a:solidFill>
                            <a:srgbClr val="000000"/>
                          </a:solidFill>
                          <a:effectLst/>
                        </a:rPr>
                        <a:t>5</a:t>
                      </a:r>
                    </a:p>
                  </a:txBody>
                  <a:tcPr anchor="ctr"/>
                </a:tc>
                <a:tc>
                  <a:txBody>
                    <a:bodyPr/>
                    <a:lstStyle/>
                    <a:p>
                      <a:pPr>
                        <a:buNone/>
                      </a:pPr>
                      <a:r>
                        <a:rPr lang="en-US">
                          <a:solidFill>
                            <a:srgbClr val="000000"/>
                          </a:solidFill>
                        </a:rPr>
                        <a:t>0.084</a:t>
                      </a:r>
                    </a:p>
                  </a:txBody>
                  <a:tcPr anchor="ctr"/>
                </a:tc>
                <a:tc>
                  <a:txBody>
                    <a:bodyPr/>
                    <a:lstStyle/>
                    <a:p>
                      <a:pPr>
                        <a:buNone/>
                      </a:pPr>
                      <a:r>
                        <a:rPr lang="en-US">
                          <a:solidFill>
                            <a:srgbClr val="000000"/>
                          </a:solidFill>
                        </a:rPr>
                        <a:t>5</a:t>
                      </a:r>
                    </a:p>
                  </a:txBody>
                  <a:tcPr anchor="ctr"/>
                </a:tc>
                <a:tc>
                  <a:txBody>
                    <a:bodyPr/>
                    <a:lstStyle/>
                    <a:p>
                      <a:pPr>
                        <a:buNone/>
                      </a:pPr>
                      <a:r>
                        <a:rPr lang="en-US">
                          <a:solidFill>
                            <a:srgbClr val="000000"/>
                          </a:solidFill>
                        </a:rPr>
                        <a:t>0.708</a:t>
                      </a:r>
                    </a:p>
                  </a:txBody>
                  <a:tcPr anchor="ctr"/>
                </a:tc>
                <a:tc>
                  <a:txBody>
                    <a:bodyPr/>
                    <a:lstStyle/>
                    <a:p>
                      <a:pPr>
                        <a:buNone/>
                      </a:pPr>
                      <a:r>
                        <a:rPr lang="en-US">
                          <a:solidFill>
                            <a:srgbClr val="000000"/>
                          </a:solidFill>
                        </a:rPr>
                        <a:t>156</a:t>
                      </a:r>
                    </a:p>
                  </a:txBody>
                  <a:tcPr anchor="ctr"/>
                </a:tc>
                <a:extLst>
                  <a:ext uri="{0D108BD9-81ED-4DB2-BD59-A6C34878D82A}">
                    <a16:rowId xmlns:a16="http://schemas.microsoft.com/office/drawing/2014/main" val="1085920821"/>
                  </a:ext>
                </a:extLst>
              </a:tr>
              <a:tr h="326166">
                <a:tc>
                  <a:txBody>
                    <a:bodyPr/>
                    <a:lstStyle/>
                    <a:p>
                      <a:pPr>
                        <a:buNone/>
                      </a:pPr>
                      <a:r>
                        <a:rPr lang="en-US">
                          <a:solidFill>
                            <a:srgbClr val="000000"/>
                          </a:solidFill>
                          <a:effectLst/>
                        </a:rPr>
                        <a:t>6</a:t>
                      </a:r>
                    </a:p>
                  </a:txBody>
                  <a:tcPr anchor="ctr"/>
                </a:tc>
                <a:tc>
                  <a:txBody>
                    <a:bodyPr/>
                    <a:lstStyle/>
                    <a:p>
                      <a:pPr>
                        <a:buNone/>
                      </a:pPr>
                      <a:r>
                        <a:rPr lang="en-US">
                          <a:solidFill>
                            <a:srgbClr val="000000"/>
                          </a:solidFill>
                        </a:rPr>
                        <a:t>0.073</a:t>
                      </a:r>
                    </a:p>
                  </a:txBody>
                  <a:tcPr anchor="ctr"/>
                </a:tc>
                <a:tc>
                  <a:txBody>
                    <a:bodyPr/>
                    <a:lstStyle/>
                    <a:p>
                      <a:pPr>
                        <a:buNone/>
                      </a:pPr>
                      <a:r>
                        <a:rPr lang="en-US">
                          <a:solidFill>
                            <a:srgbClr val="000000"/>
                          </a:solidFill>
                        </a:rPr>
                        <a:t>3</a:t>
                      </a:r>
                    </a:p>
                  </a:txBody>
                  <a:tcPr anchor="ctr"/>
                </a:tc>
                <a:tc>
                  <a:txBody>
                    <a:bodyPr/>
                    <a:lstStyle/>
                    <a:p>
                      <a:pPr>
                        <a:buNone/>
                      </a:pPr>
                      <a:r>
                        <a:rPr lang="en-US">
                          <a:solidFill>
                            <a:srgbClr val="000000"/>
                          </a:solidFill>
                        </a:rPr>
                        <a:t>0.652</a:t>
                      </a:r>
                    </a:p>
                  </a:txBody>
                  <a:tcPr anchor="ctr"/>
                </a:tc>
                <a:tc>
                  <a:txBody>
                    <a:bodyPr/>
                    <a:lstStyle/>
                    <a:p>
                      <a:pPr>
                        <a:buNone/>
                      </a:pPr>
                      <a:r>
                        <a:rPr lang="en-US">
                          <a:solidFill>
                            <a:srgbClr val="000000"/>
                          </a:solidFill>
                        </a:rPr>
                        <a:t>278</a:t>
                      </a:r>
                    </a:p>
                  </a:txBody>
                  <a:tcPr anchor="ctr"/>
                </a:tc>
                <a:extLst>
                  <a:ext uri="{0D108BD9-81ED-4DB2-BD59-A6C34878D82A}">
                    <a16:rowId xmlns:a16="http://schemas.microsoft.com/office/drawing/2014/main" val="1199074552"/>
                  </a:ext>
                </a:extLst>
              </a:tr>
              <a:tr h="326166">
                <a:tc>
                  <a:txBody>
                    <a:bodyPr/>
                    <a:lstStyle/>
                    <a:p>
                      <a:pPr>
                        <a:buNone/>
                      </a:pPr>
                      <a:r>
                        <a:rPr lang="en-US">
                          <a:solidFill>
                            <a:srgbClr val="000000"/>
                          </a:solidFill>
                          <a:effectLst/>
                        </a:rPr>
                        <a:t>7</a:t>
                      </a:r>
                    </a:p>
                  </a:txBody>
                  <a:tcPr anchor="ctr"/>
                </a:tc>
                <a:tc>
                  <a:txBody>
                    <a:bodyPr/>
                    <a:lstStyle/>
                    <a:p>
                      <a:pPr>
                        <a:buNone/>
                      </a:pPr>
                      <a:r>
                        <a:rPr lang="en-US">
                          <a:solidFill>
                            <a:srgbClr val="000000"/>
                          </a:solidFill>
                        </a:rPr>
                        <a:t>0.122</a:t>
                      </a:r>
                    </a:p>
                  </a:txBody>
                  <a:tcPr anchor="ctr"/>
                </a:tc>
                <a:tc>
                  <a:txBody>
                    <a:bodyPr/>
                    <a:lstStyle/>
                    <a:p>
                      <a:pPr>
                        <a:buNone/>
                      </a:pPr>
                      <a:r>
                        <a:rPr lang="en-US">
                          <a:solidFill>
                            <a:srgbClr val="000000"/>
                          </a:solidFill>
                        </a:rPr>
                        <a:t>3</a:t>
                      </a:r>
                    </a:p>
                  </a:txBody>
                  <a:tcPr anchor="ctr"/>
                </a:tc>
                <a:tc>
                  <a:txBody>
                    <a:bodyPr/>
                    <a:lstStyle/>
                    <a:p>
                      <a:pPr>
                        <a:buNone/>
                      </a:pPr>
                      <a:r>
                        <a:rPr lang="en-US">
                          <a:solidFill>
                            <a:srgbClr val="000000"/>
                          </a:solidFill>
                        </a:rPr>
                        <a:t>0.907</a:t>
                      </a:r>
                    </a:p>
                  </a:txBody>
                  <a:tcPr anchor="ctr"/>
                </a:tc>
                <a:tc>
                  <a:txBody>
                    <a:bodyPr/>
                    <a:lstStyle/>
                    <a:p>
                      <a:pPr>
                        <a:buNone/>
                      </a:pPr>
                      <a:r>
                        <a:rPr lang="en-US">
                          <a:solidFill>
                            <a:srgbClr val="000000"/>
                          </a:solidFill>
                        </a:rPr>
                        <a:t>120</a:t>
                      </a:r>
                    </a:p>
                  </a:txBody>
                  <a:tcPr anchor="ctr"/>
                </a:tc>
                <a:extLst>
                  <a:ext uri="{0D108BD9-81ED-4DB2-BD59-A6C34878D82A}">
                    <a16:rowId xmlns:a16="http://schemas.microsoft.com/office/drawing/2014/main" val="3731077659"/>
                  </a:ext>
                </a:extLst>
              </a:tr>
              <a:tr h="326166">
                <a:tc>
                  <a:txBody>
                    <a:bodyPr/>
                    <a:lstStyle/>
                    <a:p>
                      <a:pPr>
                        <a:buNone/>
                      </a:pPr>
                      <a:r>
                        <a:rPr lang="en-US">
                          <a:solidFill>
                            <a:srgbClr val="000000"/>
                          </a:solidFill>
                          <a:effectLst/>
                        </a:rPr>
                        <a:t>8</a:t>
                      </a:r>
                    </a:p>
                  </a:txBody>
                  <a:tcPr anchor="ctr"/>
                </a:tc>
                <a:tc>
                  <a:txBody>
                    <a:bodyPr/>
                    <a:lstStyle/>
                    <a:p>
                      <a:pPr>
                        <a:buNone/>
                      </a:pPr>
                      <a:r>
                        <a:rPr lang="en-US">
                          <a:solidFill>
                            <a:srgbClr val="000000"/>
                          </a:solidFill>
                        </a:rPr>
                        <a:t>0.112</a:t>
                      </a:r>
                    </a:p>
                  </a:txBody>
                  <a:tcPr anchor="ctr"/>
                </a:tc>
                <a:tc>
                  <a:txBody>
                    <a:bodyPr/>
                    <a:lstStyle/>
                    <a:p>
                      <a:pPr>
                        <a:buNone/>
                      </a:pPr>
                      <a:r>
                        <a:rPr lang="en-US">
                          <a:solidFill>
                            <a:srgbClr val="000000"/>
                          </a:solidFill>
                        </a:rPr>
                        <a:t>3</a:t>
                      </a:r>
                    </a:p>
                  </a:txBody>
                  <a:tcPr anchor="ctr"/>
                </a:tc>
                <a:tc>
                  <a:txBody>
                    <a:bodyPr/>
                    <a:lstStyle/>
                    <a:p>
                      <a:pPr>
                        <a:buNone/>
                      </a:pPr>
                      <a:r>
                        <a:rPr lang="en-US">
                          <a:solidFill>
                            <a:srgbClr val="000000"/>
                          </a:solidFill>
                        </a:rPr>
                        <a:t>0.965</a:t>
                      </a:r>
                    </a:p>
                  </a:txBody>
                  <a:tcPr anchor="ctr"/>
                </a:tc>
                <a:tc>
                  <a:txBody>
                    <a:bodyPr/>
                    <a:lstStyle/>
                    <a:p>
                      <a:pPr>
                        <a:buNone/>
                      </a:pPr>
                      <a:r>
                        <a:rPr lang="en-US">
                          <a:solidFill>
                            <a:srgbClr val="000000"/>
                          </a:solidFill>
                        </a:rPr>
                        <a:t>121</a:t>
                      </a:r>
                    </a:p>
                  </a:txBody>
                  <a:tcPr anchor="ctr"/>
                </a:tc>
                <a:extLst>
                  <a:ext uri="{0D108BD9-81ED-4DB2-BD59-A6C34878D82A}">
                    <a16:rowId xmlns:a16="http://schemas.microsoft.com/office/drawing/2014/main" val="3337947041"/>
                  </a:ext>
                </a:extLst>
              </a:tr>
              <a:tr h="326166">
                <a:tc>
                  <a:txBody>
                    <a:bodyPr/>
                    <a:lstStyle/>
                    <a:p>
                      <a:pPr>
                        <a:buNone/>
                      </a:pPr>
                      <a:r>
                        <a:rPr lang="en-US">
                          <a:solidFill>
                            <a:srgbClr val="000000"/>
                          </a:solidFill>
                          <a:effectLst/>
                        </a:rPr>
                        <a:t>9</a:t>
                      </a:r>
                    </a:p>
                  </a:txBody>
                  <a:tcPr anchor="ctr"/>
                </a:tc>
                <a:tc>
                  <a:txBody>
                    <a:bodyPr/>
                    <a:lstStyle/>
                    <a:p>
                      <a:pPr>
                        <a:buNone/>
                      </a:pPr>
                      <a:r>
                        <a:rPr lang="en-US">
                          <a:solidFill>
                            <a:srgbClr val="000000"/>
                          </a:solidFill>
                        </a:rPr>
                        <a:t>0.011</a:t>
                      </a:r>
                    </a:p>
                  </a:txBody>
                  <a:tcPr anchor="ctr"/>
                </a:tc>
                <a:tc>
                  <a:txBody>
                    <a:bodyPr/>
                    <a:lstStyle/>
                    <a:p>
                      <a:pPr>
                        <a:buNone/>
                      </a:pPr>
                      <a:r>
                        <a:rPr lang="en-US">
                          <a:solidFill>
                            <a:srgbClr val="000000"/>
                          </a:solidFill>
                        </a:rPr>
                        <a:t>7</a:t>
                      </a:r>
                    </a:p>
                  </a:txBody>
                  <a:tcPr anchor="ctr"/>
                </a:tc>
                <a:tc>
                  <a:txBody>
                    <a:bodyPr/>
                    <a:lstStyle/>
                    <a:p>
                      <a:pPr>
                        <a:buNone/>
                      </a:pPr>
                      <a:r>
                        <a:rPr lang="en-US">
                          <a:solidFill>
                            <a:srgbClr val="000000"/>
                          </a:solidFill>
                        </a:rPr>
                        <a:t>0.777</a:t>
                      </a:r>
                    </a:p>
                  </a:txBody>
                  <a:tcPr anchor="ctr"/>
                </a:tc>
                <a:tc>
                  <a:txBody>
                    <a:bodyPr/>
                    <a:lstStyle/>
                    <a:p>
                      <a:pPr>
                        <a:buNone/>
                      </a:pPr>
                      <a:r>
                        <a:rPr lang="en-US">
                          <a:solidFill>
                            <a:srgbClr val="000000"/>
                          </a:solidFill>
                        </a:rPr>
                        <a:t>239</a:t>
                      </a:r>
                    </a:p>
                  </a:txBody>
                  <a:tcPr anchor="ctr"/>
                </a:tc>
                <a:extLst>
                  <a:ext uri="{0D108BD9-81ED-4DB2-BD59-A6C34878D82A}">
                    <a16:rowId xmlns:a16="http://schemas.microsoft.com/office/drawing/2014/main" val="3398023199"/>
                  </a:ext>
                </a:extLst>
              </a:tr>
              <a:tr h="326166">
                <a:tc>
                  <a:txBody>
                    <a:bodyPr/>
                    <a:lstStyle/>
                    <a:p>
                      <a:pPr>
                        <a:buNone/>
                      </a:pPr>
                      <a:r>
                        <a:rPr lang="en-US">
                          <a:solidFill>
                            <a:srgbClr val="000000"/>
                          </a:solidFill>
                          <a:effectLst/>
                        </a:rPr>
                        <a:t>10</a:t>
                      </a:r>
                    </a:p>
                  </a:txBody>
                  <a:tcPr anchor="ctr"/>
                </a:tc>
                <a:tc>
                  <a:txBody>
                    <a:bodyPr/>
                    <a:lstStyle/>
                    <a:p>
                      <a:pPr>
                        <a:buNone/>
                      </a:pPr>
                      <a:r>
                        <a:rPr lang="en-US">
                          <a:solidFill>
                            <a:srgbClr val="000000"/>
                          </a:solidFill>
                        </a:rPr>
                        <a:t>0.043</a:t>
                      </a:r>
                    </a:p>
                  </a:txBody>
                  <a:tcPr anchor="ctr"/>
                </a:tc>
                <a:tc>
                  <a:txBody>
                    <a:bodyPr/>
                    <a:lstStyle/>
                    <a:p>
                      <a:pPr>
                        <a:buNone/>
                      </a:pPr>
                      <a:r>
                        <a:rPr lang="en-US">
                          <a:solidFill>
                            <a:srgbClr val="000000"/>
                          </a:solidFill>
                        </a:rPr>
                        <a:t>3</a:t>
                      </a:r>
                    </a:p>
                  </a:txBody>
                  <a:tcPr anchor="ctr"/>
                </a:tc>
                <a:tc>
                  <a:txBody>
                    <a:bodyPr/>
                    <a:lstStyle/>
                    <a:p>
                      <a:pPr>
                        <a:buNone/>
                      </a:pPr>
                      <a:r>
                        <a:rPr lang="en-US">
                          <a:solidFill>
                            <a:srgbClr val="000000"/>
                          </a:solidFill>
                        </a:rPr>
                        <a:t>0.871</a:t>
                      </a:r>
                    </a:p>
                  </a:txBody>
                  <a:tcPr anchor="ctr"/>
                </a:tc>
                <a:tc>
                  <a:txBody>
                    <a:bodyPr/>
                    <a:lstStyle/>
                    <a:p>
                      <a:pPr>
                        <a:buNone/>
                      </a:pPr>
                      <a:r>
                        <a:rPr lang="en-US">
                          <a:solidFill>
                            <a:srgbClr val="000000"/>
                          </a:solidFill>
                        </a:rPr>
                        <a:t>193</a:t>
                      </a:r>
                    </a:p>
                  </a:txBody>
                  <a:tcPr anchor="ctr"/>
                </a:tc>
                <a:extLst>
                  <a:ext uri="{0D108BD9-81ED-4DB2-BD59-A6C34878D82A}">
                    <a16:rowId xmlns:a16="http://schemas.microsoft.com/office/drawing/2014/main" val="1685986064"/>
                  </a:ext>
                </a:extLst>
              </a:tr>
            </a:tbl>
          </a:graphicData>
        </a:graphic>
      </p:graphicFrame>
      <p:graphicFrame>
        <p:nvGraphicFramePr>
          <p:cNvPr id="12" name="Chart 11">
            <a:extLst>
              <a:ext uri="{FF2B5EF4-FFF2-40B4-BE49-F238E27FC236}">
                <a16:creationId xmlns:a16="http://schemas.microsoft.com/office/drawing/2014/main" id="{66EB62B6-F73F-B110-7703-A19D875C802F}"/>
              </a:ext>
            </a:extLst>
          </p:cNvPr>
          <p:cNvGraphicFramePr>
            <a:graphicFrameLocks/>
          </p:cNvGraphicFramePr>
          <p:nvPr>
            <p:extLst>
              <p:ext uri="{D42A27DB-BD31-4B8C-83A1-F6EECF244321}">
                <p14:modId xmlns:p14="http://schemas.microsoft.com/office/powerpoint/2010/main" val="3503003406"/>
              </p:ext>
            </p:extLst>
          </p:nvPr>
        </p:nvGraphicFramePr>
        <p:xfrm>
          <a:off x="9126385" y="1779676"/>
          <a:ext cx="6247879" cy="3592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C18F5BF8-E6F9-47DF-A51A-67C150965EBA}"/>
              </a:ext>
              <a:ext uri="{147F2762-F138-4A5C-976F-8EAC2B608ADB}">
                <a16:predDERef xmlns:a16="http://schemas.microsoft.com/office/drawing/2014/main" pred="{66EB62B6-F73F-B110-7703-A19D875C802F}"/>
              </a:ext>
            </a:extLst>
          </p:cNvPr>
          <p:cNvGraphicFramePr>
            <a:graphicFrameLocks/>
          </p:cNvGraphicFramePr>
          <p:nvPr>
            <p:extLst>
              <p:ext uri="{D42A27DB-BD31-4B8C-83A1-F6EECF244321}">
                <p14:modId xmlns:p14="http://schemas.microsoft.com/office/powerpoint/2010/main" val="1231867760"/>
              </p:ext>
            </p:extLst>
          </p:nvPr>
        </p:nvGraphicFramePr>
        <p:xfrm>
          <a:off x="1014478" y="1783066"/>
          <a:ext cx="6892447" cy="358596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7617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E55C5-3EFF-6263-94DC-9EBF84F3A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389B6-84FB-2DA0-ECF4-2B4A04CABE29}"/>
              </a:ext>
            </a:extLst>
          </p:cNvPr>
          <p:cNvSpPr>
            <a:spLocks noGrp="1"/>
          </p:cNvSpPr>
          <p:nvPr>
            <p:ph type="ctrTitle"/>
          </p:nvPr>
        </p:nvSpPr>
        <p:spPr>
          <a:xfrm>
            <a:off x="1793405" y="1101773"/>
            <a:ext cx="14689375" cy="1470000"/>
          </a:xfrm>
        </p:spPr>
        <p:txBody>
          <a:bodyPr spcFirstLastPara="1" wrap="square" lIns="91425" tIns="45700" rIns="91425" bIns="45700" anchor="ctr" anchorCtr="0">
            <a:noAutofit/>
          </a:bodyPr>
          <a:lstStyle/>
          <a:p>
            <a:r>
              <a:rPr lang="en-US" sz="6000" b="1"/>
              <a:t>Randomized Search Metrics</a:t>
            </a:r>
          </a:p>
        </p:txBody>
      </p:sp>
      <p:graphicFrame>
        <p:nvGraphicFramePr>
          <p:cNvPr id="13" name="Table 12">
            <a:extLst>
              <a:ext uri="{FF2B5EF4-FFF2-40B4-BE49-F238E27FC236}">
                <a16:creationId xmlns:a16="http://schemas.microsoft.com/office/drawing/2014/main" id="{192FFF86-63A7-2D1F-9654-A41FCB46ED0C}"/>
              </a:ext>
            </a:extLst>
          </p:cNvPr>
          <p:cNvGraphicFramePr>
            <a:graphicFrameLocks noGrp="1"/>
          </p:cNvGraphicFramePr>
          <p:nvPr>
            <p:extLst>
              <p:ext uri="{D42A27DB-BD31-4B8C-83A1-F6EECF244321}">
                <p14:modId xmlns:p14="http://schemas.microsoft.com/office/powerpoint/2010/main" val="833723840"/>
              </p:ext>
            </p:extLst>
          </p:nvPr>
        </p:nvGraphicFramePr>
        <p:xfrm>
          <a:off x="3082556" y="2913620"/>
          <a:ext cx="12112664" cy="5001498"/>
        </p:xfrm>
        <a:graphic>
          <a:graphicData uri="http://schemas.openxmlformats.org/drawingml/2006/table">
            <a:tbl>
              <a:tblPr bandRow="1">
                <a:tableStyleId>{D113A9D2-9D6B-4929-AA2D-F23B5EE8CBE7}</a:tableStyleId>
              </a:tblPr>
              <a:tblGrid>
                <a:gridCol w="3990054">
                  <a:extLst>
                    <a:ext uri="{9D8B030D-6E8A-4147-A177-3AD203B41FA5}">
                      <a16:colId xmlns:a16="http://schemas.microsoft.com/office/drawing/2014/main" val="2859370957"/>
                    </a:ext>
                  </a:extLst>
                </a:gridCol>
                <a:gridCol w="3990054">
                  <a:extLst>
                    <a:ext uri="{9D8B030D-6E8A-4147-A177-3AD203B41FA5}">
                      <a16:colId xmlns:a16="http://schemas.microsoft.com/office/drawing/2014/main" val="2646092273"/>
                    </a:ext>
                  </a:extLst>
                </a:gridCol>
                <a:gridCol w="4132556">
                  <a:extLst>
                    <a:ext uri="{9D8B030D-6E8A-4147-A177-3AD203B41FA5}">
                      <a16:colId xmlns:a16="http://schemas.microsoft.com/office/drawing/2014/main" val="413473020"/>
                    </a:ext>
                  </a:extLst>
                </a:gridCol>
              </a:tblGrid>
              <a:tr h="749200">
                <a:tc>
                  <a:txBody>
                    <a:bodyPr/>
                    <a:lstStyle/>
                    <a:p>
                      <a:pPr algn="ctr" rtl="0" fontAlgn="t">
                        <a:buNone/>
                      </a:pPr>
                      <a:r>
                        <a:rPr lang="en-US" sz="1800" b="1" u="none" strike="noStrike">
                          <a:solidFill>
                            <a:srgbClr val="000000"/>
                          </a:solidFill>
                          <a:effectLst/>
                        </a:rPr>
                        <a:t>Metric</a:t>
                      </a:r>
                      <a:endParaRPr lang="en-US" sz="1800" b="1">
                        <a:effectLst/>
                      </a:endParaRPr>
                    </a:p>
                  </a:txBody>
                  <a:tcPr marL="63500" marR="63500" marT="63500" marB="63500">
                    <a:lnR w="28575">
                      <a:solidFill>
                        <a:srgbClr val="00B0F0"/>
                      </a:solidFill>
                    </a:lnR>
                    <a:lnB w="28575">
                      <a:solidFill>
                        <a:srgbClr val="00B0F0"/>
                      </a:solidFill>
                    </a:lnB>
                  </a:tcPr>
                </a:tc>
                <a:tc>
                  <a:txBody>
                    <a:bodyPr/>
                    <a:lstStyle/>
                    <a:p>
                      <a:pPr lvl="0" algn="ctr" rtl="0">
                        <a:buNone/>
                      </a:pPr>
                      <a:r>
                        <a:rPr lang="en-US" sz="1800" b="1" u="none" strike="noStrike">
                          <a:solidFill>
                            <a:srgbClr val="000000"/>
                          </a:solidFill>
                          <a:effectLst/>
                        </a:rPr>
                        <a:t>Random Forest</a:t>
                      </a:r>
                      <a:endParaRPr lang="en-US" sz="1800" b="1">
                        <a:effectLst/>
                      </a:endParaRPr>
                    </a:p>
                  </a:txBody>
                  <a:tcPr marL="63500" marR="63500" marT="63500" marB="63500">
                    <a:lnL w="28575">
                      <a:solidFill>
                        <a:srgbClr val="00B0F0"/>
                      </a:solidFill>
                    </a:lnL>
                    <a:lnR w="0">
                      <a:noFill/>
                    </a:lnR>
                    <a:lnT w="0">
                      <a:noFill/>
                    </a:lnT>
                    <a:lnB w="28575">
                      <a:solidFill>
                        <a:srgbClr val="00B0F0"/>
                      </a:solidFill>
                    </a:lnB>
                  </a:tcPr>
                </a:tc>
                <a:tc>
                  <a:txBody>
                    <a:bodyPr/>
                    <a:lstStyle/>
                    <a:p>
                      <a:pPr algn="ctr" rtl="0" fontAlgn="t">
                        <a:buNone/>
                      </a:pPr>
                      <a:r>
                        <a:rPr lang="en-US" sz="1800" b="1" u="none" strike="noStrike">
                          <a:solidFill>
                            <a:srgbClr val="000000"/>
                          </a:solidFill>
                          <a:effectLst/>
                        </a:rPr>
                        <a:t>XG Boost</a:t>
                      </a:r>
                      <a:endParaRPr lang="en-US" sz="1800" b="1">
                        <a:effectLst/>
                      </a:endParaRPr>
                    </a:p>
                  </a:txBody>
                  <a:tcPr marL="63500" marR="63500" marT="63500" marB="63500">
                    <a:lnL w="28575">
                      <a:noFill/>
                    </a:lnL>
                    <a:lnR w="0">
                      <a:noFill/>
                    </a:lnR>
                    <a:lnT w="0">
                      <a:noFill/>
                    </a:lnT>
                    <a:lnB w="28575">
                      <a:solidFill>
                        <a:srgbClr val="00B0F0"/>
                      </a:solidFill>
                    </a:lnB>
                  </a:tcPr>
                </a:tc>
                <a:extLst>
                  <a:ext uri="{0D108BD9-81ED-4DB2-BD59-A6C34878D82A}">
                    <a16:rowId xmlns:a16="http://schemas.microsoft.com/office/drawing/2014/main" val="2437321452"/>
                  </a:ext>
                </a:extLst>
              </a:tr>
              <a:tr h="1217451">
                <a:tc>
                  <a:txBody>
                    <a:bodyPr/>
                    <a:lstStyle/>
                    <a:p>
                      <a:pPr algn="ctr" rtl="0" fontAlgn="t">
                        <a:buNone/>
                      </a:pPr>
                      <a:r>
                        <a:rPr lang="en-US" sz="1800" b="1" u="none" strike="noStrike">
                          <a:solidFill>
                            <a:srgbClr val="000000"/>
                          </a:solidFill>
                          <a:effectLst/>
                        </a:rPr>
                        <a:t>Top Params</a:t>
                      </a:r>
                      <a:endParaRPr lang="en-US" sz="1800" b="1">
                        <a:effectLst/>
                      </a:endParaRPr>
                    </a:p>
                  </a:txBody>
                  <a:tcPr marL="63500" marR="63500" marT="63500" marB="63500">
                    <a:lnR w="28575">
                      <a:solidFill>
                        <a:srgbClr val="00B0F0"/>
                      </a:solidFill>
                    </a:lnR>
                    <a:lnT w="28575">
                      <a:solidFill>
                        <a:srgbClr val="00B0F0"/>
                      </a:solidFill>
                    </a:lnT>
                  </a:tcPr>
                </a:tc>
                <a:tc>
                  <a:txBody>
                    <a:bodyPr/>
                    <a:lstStyle/>
                    <a:p>
                      <a:pPr lvl="0" algn="ctr" rtl="0">
                        <a:buNone/>
                      </a:pPr>
                      <a:r>
                        <a:rPr lang="en-US" sz="1800" u="none" strike="noStrike" err="1">
                          <a:solidFill>
                            <a:srgbClr val="000000"/>
                          </a:solidFill>
                          <a:effectLst/>
                          <a:latin typeface="Arial"/>
                        </a:rPr>
                        <a:t>n_estimators</a:t>
                      </a:r>
                      <a:r>
                        <a:rPr lang="en-US" sz="1800" u="none" strike="noStrike">
                          <a:solidFill>
                            <a:srgbClr val="000000"/>
                          </a:solidFill>
                          <a:effectLst/>
                          <a:latin typeface="Arial"/>
                        </a:rPr>
                        <a:t>: 442 </a:t>
                      </a:r>
                      <a:endParaRPr lang="en-US" sz="1800">
                        <a:effectLst/>
                        <a:latin typeface="Arial"/>
                      </a:endParaRPr>
                    </a:p>
                    <a:p>
                      <a:pPr lvl="0" algn="ctr" rtl="0">
                        <a:buNone/>
                      </a:pPr>
                      <a:r>
                        <a:rPr lang="en-US" sz="1800" u="none" strike="noStrike" err="1">
                          <a:solidFill>
                            <a:srgbClr val="000000"/>
                          </a:solidFill>
                          <a:effectLst/>
                          <a:latin typeface="Arial"/>
                        </a:rPr>
                        <a:t>max_depth</a:t>
                      </a:r>
                      <a:r>
                        <a:rPr lang="en-US" sz="1800" u="none" strike="noStrike">
                          <a:solidFill>
                            <a:srgbClr val="000000"/>
                          </a:solidFill>
                          <a:effectLst/>
                          <a:latin typeface="Arial"/>
                        </a:rPr>
                        <a:t>: 19 </a:t>
                      </a:r>
                      <a:endParaRPr lang="en-US" sz="1800">
                        <a:effectLst/>
                        <a:latin typeface="Arial"/>
                      </a:endParaRPr>
                    </a:p>
                    <a:p>
                      <a:pPr lvl="0" algn="ctr" rtl="0">
                        <a:buNone/>
                      </a:pPr>
                      <a:r>
                        <a:rPr lang="en-US" sz="1800" u="none" strike="noStrike" err="1">
                          <a:solidFill>
                            <a:srgbClr val="000000"/>
                          </a:solidFill>
                          <a:effectLst/>
                          <a:latin typeface="Arial"/>
                        </a:rPr>
                        <a:t>min_samples_split</a:t>
                      </a:r>
                      <a:r>
                        <a:rPr lang="en-US" sz="1800" u="none" strike="noStrike">
                          <a:solidFill>
                            <a:srgbClr val="000000"/>
                          </a:solidFill>
                          <a:effectLst/>
                          <a:latin typeface="Arial"/>
                        </a:rPr>
                        <a:t>: 10</a:t>
                      </a:r>
                      <a:endParaRPr lang="en-US" sz="1800">
                        <a:effectLst/>
                        <a:latin typeface="Arial"/>
                      </a:endParaRPr>
                    </a:p>
                    <a:p>
                      <a:pPr lvl="0" algn="ctr" rtl="0">
                        <a:buNone/>
                      </a:pPr>
                      <a:r>
                        <a:rPr lang="en-US" sz="1800" u="none" strike="noStrike">
                          <a:solidFill>
                            <a:srgbClr val="000000"/>
                          </a:solidFill>
                          <a:effectLst/>
                          <a:latin typeface="Arial"/>
                        </a:rPr>
                        <a:t> </a:t>
                      </a:r>
                      <a:r>
                        <a:rPr lang="en-US" sz="1800" u="none" strike="noStrike" err="1">
                          <a:solidFill>
                            <a:srgbClr val="000000"/>
                          </a:solidFill>
                          <a:effectLst/>
                          <a:latin typeface="Arial"/>
                        </a:rPr>
                        <a:t>min_samples_leaf</a:t>
                      </a:r>
                      <a:r>
                        <a:rPr lang="en-US" sz="1800" u="none" strike="noStrike">
                          <a:solidFill>
                            <a:srgbClr val="000000"/>
                          </a:solidFill>
                          <a:effectLst/>
                          <a:latin typeface="Arial"/>
                        </a:rPr>
                        <a:t>: 4</a:t>
                      </a:r>
                      <a:endParaRPr lang="en-US" sz="1800">
                        <a:effectLst/>
                        <a:latin typeface="Arial"/>
                      </a:endParaRPr>
                    </a:p>
                  </a:txBody>
                  <a:tcPr marL="63500" marR="63500" marT="63500" marB="63500">
                    <a:lnL w="28575">
                      <a:solidFill>
                        <a:srgbClr val="00B0F0"/>
                      </a:solidFill>
                    </a:lnL>
                    <a:lnR w="0">
                      <a:noFill/>
                    </a:lnR>
                    <a:lnT w="28575">
                      <a:solidFill>
                        <a:srgbClr val="00B0F0"/>
                      </a:solidFill>
                    </a:lnT>
                    <a:lnB w="0">
                      <a:noFill/>
                    </a:lnB>
                  </a:tcPr>
                </a:tc>
                <a:tc>
                  <a:txBody>
                    <a:bodyPr/>
                    <a:lstStyle/>
                    <a:p>
                      <a:pPr algn="ctr" rtl="0" fontAlgn="t">
                        <a:buNone/>
                      </a:pPr>
                      <a:r>
                        <a:rPr lang="en-US" sz="1800" u="none" strike="noStrike" err="1">
                          <a:solidFill>
                            <a:srgbClr val="000000"/>
                          </a:solidFill>
                          <a:effectLst/>
                          <a:latin typeface="Arial"/>
                        </a:rPr>
                        <a:t>n_estimators</a:t>
                      </a:r>
                      <a:r>
                        <a:rPr lang="en-US" sz="1800" u="none" strike="noStrike">
                          <a:solidFill>
                            <a:srgbClr val="000000"/>
                          </a:solidFill>
                          <a:effectLst/>
                          <a:latin typeface="Arial"/>
                        </a:rPr>
                        <a:t>: 245</a:t>
                      </a:r>
                      <a:endParaRPr lang="en-US" sz="1800">
                        <a:effectLst/>
                        <a:latin typeface="Arial"/>
                      </a:endParaRPr>
                    </a:p>
                    <a:p>
                      <a:pPr algn="ctr" rtl="0" fontAlgn="t">
                        <a:buNone/>
                      </a:pPr>
                      <a:r>
                        <a:rPr lang="en-US" sz="1800" u="none" strike="noStrike" err="1">
                          <a:solidFill>
                            <a:srgbClr val="000000"/>
                          </a:solidFill>
                          <a:effectLst/>
                          <a:latin typeface="Arial"/>
                        </a:rPr>
                        <a:t>max_depth</a:t>
                      </a:r>
                      <a:r>
                        <a:rPr lang="en-US" sz="1800" u="none" strike="noStrike">
                          <a:solidFill>
                            <a:srgbClr val="000000"/>
                          </a:solidFill>
                          <a:effectLst/>
                          <a:latin typeface="Arial"/>
                        </a:rPr>
                        <a:t>: 7</a:t>
                      </a:r>
                      <a:endParaRPr lang="en-US" sz="1800">
                        <a:effectLst/>
                        <a:latin typeface="Arial"/>
                      </a:endParaRPr>
                    </a:p>
                    <a:p>
                      <a:pPr algn="ctr" rtl="0" fontAlgn="t">
                        <a:buNone/>
                      </a:pPr>
                      <a:r>
                        <a:rPr lang="en-US" sz="1800" u="none" strike="noStrike" err="1">
                          <a:solidFill>
                            <a:srgbClr val="000000"/>
                          </a:solidFill>
                          <a:effectLst/>
                          <a:latin typeface="Arial"/>
                        </a:rPr>
                        <a:t>learning_rate</a:t>
                      </a:r>
                      <a:r>
                        <a:rPr lang="en-US" sz="1800" u="none" strike="noStrike">
                          <a:solidFill>
                            <a:srgbClr val="000000"/>
                          </a:solidFill>
                          <a:effectLst/>
                          <a:latin typeface="Arial"/>
                        </a:rPr>
                        <a:t>: 0.145</a:t>
                      </a:r>
                      <a:endParaRPr lang="en-US" sz="1800">
                        <a:effectLst/>
                        <a:latin typeface="Arial"/>
                      </a:endParaRPr>
                    </a:p>
                    <a:p>
                      <a:pPr algn="ctr" rtl="0" fontAlgn="t">
                        <a:buNone/>
                      </a:pPr>
                      <a:r>
                        <a:rPr lang="en-US" sz="1800" u="none" strike="noStrike">
                          <a:solidFill>
                            <a:srgbClr val="000000"/>
                          </a:solidFill>
                          <a:effectLst/>
                          <a:latin typeface="Arial"/>
                        </a:rPr>
                        <a:t>subsample: 0.845</a:t>
                      </a:r>
                      <a:endParaRPr lang="en-US" sz="1800">
                        <a:effectLst/>
                        <a:latin typeface="Arial"/>
                      </a:endParaRPr>
                    </a:p>
                  </a:txBody>
                  <a:tcPr marL="63500" marR="63500" marT="63500" marB="63500">
                    <a:lnL w="28575">
                      <a:noFill/>
                    </a:lnL>
                    <a:lnR w="0">
                      <a:noFill/>
                    </a:lnR>
                    <a:lnT w="28575">
                      <a:solidFill>
                        <a:srgbClr val="00B0F0"/>
                      </a:solidFill>
                    </a:lnT>
                    <a:lnB w="0">
                      <a:noFill/>
                    </a:lnB>
                  </a:tcPr>
                </a:tc>
                <a:extLst>
                  <a:ext uri="{0D108BD9-81ED-4DB2-BD59-A6C34878D82A}">
                    <a16:rowId xmlns:a16="http://schemas.microsoft.com/office/drawing/2014/main" val="4265189125"/>
                  </a:ext>
                </a:extLst>
              </a:tr>
              <a:tr h="561900">
                <a:tc>
                  <a:txBody>
                    <a:bodyPr/>
                    <a:lstStyle/>
                    <a:p>
                      <a:pPr algn="ctr" rtl="0" fontAlgn="t">
                        <a:buNone/>
                      </a:pPr>
                      <a:r>
                        <a:rPr lang="en-US" sz="1800" b="1" u="none" strike="noStrike">
                          <a:solidFill>
                            <a:srgbClr val="000000"/>
                          </a:solidFill>
                          <a:effectLst/>
                        </a:rPr>
                        <a:t>Train / Val Accuracy</a:t>
                      </a:r>
                      <a:endParaRPr lang="en-US" sz="1800" b="1">
                        <a:effectLst/>
                      </a:endParaRPr>
                    </a:p>
                  </a:txBody>
                  <a:tcPr marL="63500" marR="63500" marT="63500" marB="63500">
                    <a:lnR w="28575">
                      <a:solidFill>
                        <a:srgbClr val="00B0F0"/>
                      </a:solidFill>
                    </a:lnR>
                  </a:tcPr>
                </a:tc>
                <a:tc>
                  <a:txBody>
                    <a:bodyPr/>
                    <a:lstStyle/>
                    <a:p>
                      <a:pPr lvl="0" algn="ctr">
                        <a:buNone/>
                      </a:pPr>
                      <a:r>
                        <a:rPr lang="en-US" sz="1800" b="0" i="0" u="none" strike="noStrike" noProof="0">
                          <a:solidFill>
                            <a:srgbClr val="000000"/>
                          </a:solidFill>
                          <a:effectLst/>
                          <a:latin typeface="Arial"/>
                        </a:rPr>
                        <a:t>99.83% / 96.88%</a:t>
                      </a:r>
                      <a:endParaRPr lang="en-US" sz="1800" b="0" i="0" noProof="0">
                        <a:latin typeface="Arial"/>
                      </a:endParaRPr>
                    </a:p>
                  </a:txBody>
                  <a:tcPr marL="63500" marR="63500" marT="63500" marB="63500">
                    <a:lnL w="28575">
                      <a:solidFill>
                        <a:srgbClr val="00B0F0"/>
                      </a:solidFill>
                    </a:lnL>
                    <a:lnR w="0">
                      <a:noFill/>
                    </a:lnR>
                    <a:lnT w="0">
                      <a:noFill/>
                    </a:lnT>
                    <a:lnB w="0">
                      <a:noFill/>
                    </a:lnB>
                  </a:tcPr>
                </a:tc>
                <a:tc>
                  <a:txBody>
                    <a:bodyPr/>
                    <a:lstStyle/>
                    <a:p>
                      <a:pPr lvl="0" algn="ctr">
                        <a:buNone/>
                      </a:pPr>
                      <a:r>
                        <a:rPr lang="en-US" sz="1800" b="0" i="0" u="none" strike="noStrike" noProof="0">
                          <a:solidFill>
                            <a:srgbClr val="000000"/>
                          </a:solidFill>
                          <a:effectLst/>
                          <a:latin typeface="Arial"/>
                        </a:rPr>
                        <a:t>100.00% / 98.14%</a:t>
                      </a:r>
                      <a:endParaRPr lang="en-US" sz="1800">
                        <a:latin typeface="Arial"/>
                      </a:endParaRPr>
                    </a:p>
                  </a:txBody>
                  <a:tcPr marL="63500" marR="63500" marT="63500" marB="63500">
                    <a:lnL w="28575">
                      <a:noFill/>
                    </a:lnL>
                    <a:lnR w="0">
                      <a:noFill/>
                    </a:lnR>
                    <a:lnT w="0">
                      <a:noFill/>
                    </a:lnT>
                    <a:lnB w="0">
                      <a:noFill/>
                    </a:lnB>
                  </a:tcPr>
                </a:tc>
                <a:extLst>
                  <a:ext uri="{0D108BD9-81ED-4DB2-BD59-A6C34878D82A}">
                    <a16:rowId xmlns:a16="http://schemas.microsoft.com/office/drawing/2014/main" val="3140042884"/>
                  </a:ext>
                </a:extLst>
              </a:tr>
              <a:tr h="577509">
                <a:tc>
                  <a:txBody>
                    <a:bodyPr/>
                    <a:lstStyle/>
                    <a:p>
                      <a:pPr algn="ctr" rtl="0" fontAlgn="t">
                        <a:buNone/>
                      </a:pPr>
                      <a:r>
                        <a:rPr lang="en-US" sz="1800" b="1" u="none" strike="noStrike">
                          <a:solidFill>
                            <a:srgbClr val="000000"/>
                          </a:solidFill>
                          <a:effectLst/>
                        </a:rPr>
                        <a:t>Precision</a:t>
                      </a:r>
                      <a:endParaRPr lang="en-US" sz="1800" b="1">
                        <a:effectLst/>
                      </a:endParaRPr>
                    </a:p>
                  </a:txBody>
                  <a:tcPr marL="63500" marR="63500" marT="63500" marB="63500">
                    <a:lnR w="28575">
                      <a:solidFill>
                        <a:srgbClr val="00B0F0"/>
                      </a:solidFill>
                    </a:lnR>
                  </a:tcPr>
                </a:tc>
                <a:tc>
                  <a:txBody>
                    <a:bodyPr/>
                    <a:lstStyle/>
                    <a:p>
                      <a:pPr lvl="0" algn="ctr">
                        <a:buNone/>
                      </a:pPr>
                      <a:r>
                        <a:rPr lang="en-US" sz="1800" b="0" i="0" u="none" strike="noStrike" noProof="0">
                          <a:solidFill>
                            <a:srgbClr val="000000"/>
                          </a:solidFill>
                          <a:effectLst/>
                          <a:latin typeface="Arial"/>
                        </a:rPr>
                        <a:t>Class 0: 0.97 Class 1: 0.97</a:t>
                      </a:r>
                      <a:endParaRPr lang="en-US" sz="1800">
                        <a:latin typeface="Arial"/>
                      </a:endParaRPr>
                    </a:p>
                  </a:txBody>
                  <a:tcPr marL="63500" marR="63500" marT="63500" marB="63500">
                    <a:lnL w="28575">
                      <a:solidFill>
                        <a:srgbClr val="00B0F0"/>
                      </a:solidFill>
                    </a:lnL>
                    <a:lnR w="0">
                      <a:noFill/>
                    </a:lnR>
                    <a:lnT w="0">
                      <a:noFill/>
                    </a:lnT>
                    <a:lnB w="0">
                      <a:noFill/>
                    </a:lnB>
                  </a:tcPr>
                </a:tc>
                <a:tc>
                  <a:txBody>
                    <a:bodyPr/>
                    <a:lstStyle/>
                    <a:p>
                      <a:pPr lvl="0" algn="ctr">
                        <a:buNone/>
                      </a:pPr>
                      <a:r>
                        <a:rPr lang="en-US" sz="1800" b="0" i="0" u="none" strike="noStrike" noProof="0">
                          <a:solidFill>
                            <a:srgbClr val="000000"/>
                          </a:solidFill>
                          <a:effectLst/>
                          <a:latin typeface="Arial"/>
                        </a:rPr>
                        <a:t>Class 0: 0.98 Class 1: 0.98</a:t>
                      </a:r>
                      <a:endParaRPr lang="en-US" sz="1800">
                        <a:latin typeface="Arial"/>
                      </a:endParaRPr>
                    </a:p>
                  </a:txBody>
                  <a:tcPr marL="63500" marR="63500" marT="63500" marB="63500">
                    <a:lnL w="28575">
                      <a:noFill/>
                    </a:lnL>
                    <a:lnR w="0">
                      <a:noFill/>
                    </a:lnR>
                    <a:lnT w="0">
                      <a:noFill/>
                    </a:lnT>
                    <a:lnB w="0">
                      <a:noFill/>
                    </a:lnB>
                  </a:tcPr>
                </a:tc>
                <a:extLst>
                  <a:ext uri="{0D108BD9-81ED-4DB2-BD59-A6C34878D82A}">
                    <a16:rowId xmlns:a16="http://schemas.microsoft.com/office/drawing/2014/main" val="1676074989"/>
                  </a:ext>
                </a:extLst>
              </a:tr>
              <a:tr h="717984">
                <a:tc>
                  <a:txBody>
                    <a:bodyPr/>
                    <a:lstStyle/>
                    <a:p>
                      <a:pPr algn="ctr" rtl="0" fontAlgn="t">
                        <a:buNone/>
                      </a:pPr>
                      <a:r>
                        <a:rPr lang="en-US" sz="1800" b="1" u="none" strike="noStrike">
                          <a:solidFill>
                            <a:srgbClr val="000000"/>
                          </a:solidFill>
                          <a:effectLst/>
                        </a:rPr>
                        <a:t>Recall</a:t>
                      </a:r>
                      <a:endParaRPr lang="en-US" sz="1800" b="1">
                        <a:effectLst/>
                      </a:endParaRPr>
                    </a:p>
                  </a:txBody>
                  <a:tcPr marL="63500" marR="63500" marT="63500" marB="63500">
                    <a:lnR w="28575">
                      <a:solidFill>
                        <a:srgbClr val="00B0F0"/>
                      </a:solidFill>
                    </a:lnR>
                  </a:tcPr>
                </a:tc>
                <a:tc>
                  <a:txBody>
                    <a:bodyPr/>
                    <a:lstStyle/>
                    <a:p>
                      <a:pPr lvl="0" algn="ctr">
                        <a:buNone/>
                      </a:pPr>
                      <a:r>
                        <a:rPr lang="en-US" sz="1800" b="0" i="0" u="none" strike="noStrike" noProof="0">
                          <a:solidFill>
                            <a:srgbClr val="000000"/>
                          </a:solidFill>
                          <a:effectLst/>
                          <a:latin typeface="Arial"/>
                        </a:rPr>
                        <a:t>Class 0: 0.97 Class 1: 0.97</a:t>
                      </a:r>
                      <a:endParaRPr lang="en-US" sz="1800">
                        <a:latin typeface="Arial"/>
                      </a:endParaRPr>
                    </a:p>
                  </a:txBody>
                  <a:tcPr marL="63500" marR="63500" marT="63500" marB="63500">
                    <a:lnL w="28575">
                      <a:solidFill>
                        <a:srgbClr val="00B0F0"/>
                      </a:solidFill>
                    </a:lnL>
                    <a:lnR w="0">
                      <a:noFill/>
                    </a:lnR>
                    <a:lnT w="0">
                      <a:noFill/>
                    </a:lnT>
                    <a:lnB w="0">
                      <a:noFill/>
                    </a:lnB>
                  </a:tcPr>
                </a:tc>
                <a:tc>
                  <a:txBody>
                    <a:bodyPr/>
                    <a:lstStyle/>
                    <a:p>
                      <a:pPr lvl="0" algn="ctr">
                        <a:buNone/>
                      </a:pPr>
                      <a:r>
                        <a:rPr lang="en-US" sz="1800" b="0" i="0" u="none" strike="noStrike" noProof="0">
                          <a:solidFill>
                            <a:srgbClr val="000000"/>
                          </a:solidFill>
                          <a:effectLst/>
                          <a:latin typeface="Arial"/>
                        </a:rPr>
                        <a:t>Class 0: 0.98 Class 1: 0.98</a:t>
                      </a:r>
                      <a:endParaRPr lang="en-US" sz="1800">
                        <a:latin typeface="Arial"/>
                      </a:endParaRPr>
                    </a:p>
                  </a:txBody>
                  <a:tcPr marL="63500" marR="63500" marT="63500" marB="63500">
                    <a:lnL w="28575">
                      <a:noFill/>
                    </a:lnL>
                    <a:lnR w="0">
                      <a:noFill/>
                    </a:lnR>
                    <a:lnT w="0">
                      <a:noFill/>
                    </a:lnT>
                    <a:lnB w="0">
                      <a:noFill/>
                    </a:lnB>
                  </a:tcPr>
                </a:tc>
                <a:extLst>
                  <a:ext uri="{0D108BD9-81ED-4DB2-BD59-A6C34878D82A}">
                    <a16:rowId xmlns:a16="http://schemas.microsoft.com/office/drawing/2014/main" val="2389506482"/>
                  </a:ext>
                </a:extLst>
              </a:tr>
              <a:tr h="608725">
                <a:tc>
                  <a:txBody>
                    <a:bodyPr/>
                    <a:lstStyle/>
                    <a:p>
                      <a:pPr algn="ctr" rtl="0" fontAlgn="t">
                        <a:buNone/>
                      </a:pPr>
                      <a:r>
                        <a:rPr lang="en-US" sz="1800" b="1" u="none" strike="noStrike">
                          <a:solidFill>
                            <a:srgbClr val="000000"/>
                          </a:solidFill>
                          <a:effectLst/>
                        </a:rPr>
                        <a:t>F1-Score</a:t>
                      </a:r>
                      <a:endParaRPr lang="en-US" sz="1800" b="1">
                        <a:effectLst/>
                      </a:endParaRPr>
                    </a:p>
                  </a:txBody>
                  <a:tcPr marL="63500" marR="63500" marT="63500" marB="63500">
                    <a:lnR w="28575">
                      <a:solidFill>
                        <a:srgbClr val="00B0F0"/>
                      </a:solidFill>
                    </a:lnR>
                  </a:tcPr>
                </a:tc>
                <a:tc>
                  <a:txBody>
                    <a:bodyPr/>
                    <a:lstStyle/>
                    <a:p>
                      <a:pPr lvl="0" algn="ctr">
                        <a:buNone/>
                      </a:pPr>
                      <a:r>
                        <a:rPr lang="en-US" sz="1800" b="0" i="0" u="none" strike="noStrike" noProof="0">
                          <a:solidFill>
                            <a:srgbClr val="000000"/>
                          </a:solidFill>
                          <a:effectLst/>
                          <a:latin typeface="Arial"/>
                        </a:rPr>
                        <a:t>Macro: 0.97 Weighted: 0.97</a:t>
                      </a:r>
                      <a:endParaRPr lang="en-US" sz="1800">
                        <a:latin typeface="Arial"/>
                      </a:endParaRPr>
                    </a:p>
                  </a:txBody>
                  <a:tcPr marL="63500" marR="63500" marT="63500" marB="63500">
                    <a:lnL w="28575">
                      <a:solidFill>
                        <a:srgbClr val="00B0F0"/>
                      </a:solidFill>
                    </a:lnL>
                    <a:lnR w="0">
                      <a:noFill/>
                    </a:lnR>
                    <a:lnT w="0">
                      <a:noFill/>
                    </a:lnT>
                    <a:lnB w="0">
                      <a:noFill/>
                    </a:lnB>
                  </a:tcPr>
                </a:tc>
                <a:tc>
                  <a:txBody>
                    <a:bodyPr/>
                    <a:lstStyle/>
                    <a:p>
                      <a:pPr lvl="0" algn="ctr">
                        <a:buNone/>
                      </a:pPr>
                      <a:r>
                        <a:rPr lang="en-US" sz="1800" b="0" i="0" u="none" strike="noStrike" noProof="0">
                          <a:solidFill>
                            <a:srgbClr val="000000"/>
                          </a:solidFill>
                          <a:effectLst/>
                          <a:latin typeface="Arial"/>
                        </a:rPr>
                        <a:t>Macro: 0.98 Weighted: 0.98</a:t>
                      </a:r>
                      <a:endParaRPr lang="en-US" sz="1800">
                        <a:latin typeface="Arial"/>
                      </a:endParaRPr>
                    </a:p>
                  </a:txBody>
                  <a:tcPr marL="63500" marR="63500" marT="63500" marB="63500">
                    <a:lnL w="28575">
                      <a:noFill/>
                    </a:lnL>
                    <a:lnR w="0">
                      <a:noFill/>
                    </a:lnR>
                    <a:lnT w="0">
                      <a:noFill/>
                    </a:lnT>
                    <a:lnB w="0">
                      <a:noFill/>
                    </a:lnB>
                  </a:tcPr>
                </a:tc>
                <a:extLst>
                  <a:ext uri="{0D108BD9-81ED-4DB2-BD59-A6C34878D82A}">
                    <a16:rowId xmlns:a16="http://schemas.microsoft.com/office/drawing/2014/main" val="3146114853"/>
                  </a:ext>
                </a:extLst>
              </a:tr>
              <a:tr h="561900">
                <a:tc>
                  <a:txBody>
                    <a:bodyPr/>
                    <a:lstStyle/>
                    <a:p>
                      <a:pPr algn="ctr" rtl="0" fontAlgn="t">
                        <a:buNone/>
                      </a:pPr>
                      <a:r>
                        <a:rPr lang="en-US" sz="1800" b="1" u="none" strike="noStrike">
                          <a:solidFill>
                            <a:srgbClr val="000000"/>
                          </a:solidFill>
                          <a:effectLst/>
                        </a:rPr>
                        <a:t>Overall Accuracy</a:t>
                      </a:r>
                      <a:endParaRPr lang="en-US" sz="1800" b="1">
                        <a:effectLst/>
                      </a:endParaRPr>
                    </a:p>
                  </a:txBody>
                  <a:tcPr marL="63500" marR="63500" marT="63500" marB="63500">
                    <a:lnR w="28575">
                      <a:solidFill>
                        <a:srgbClr val="00B0F0"/>
                      </a:solidFill>
                    </a:lnR>
                  </a:tcPr>
                </a:tc>
                <a:tc>
                  <a:txBody>
                    <a:bodyPr/>
                    <a:lstStyle/>
                    <a:p>
                      <a:pPr lvl="0" algn="ctr">
                        <a:buNone/>
                      </a:pPr>
                      <a:r>
                        <a:rPr lang="en-US" sz="1800" b="0" i="0" u="none" strike="noStrike" noProof="0">
                          <a:solidFill>
                            <a:srgbClr val="000000"/>
                          </a:solidFill>
                          <a:effectLst/>
                          <a:latin typeface="Arial"/>
                        </a:rPr>
                        <a:t>96.88%</a:t>
                      </a:r>
                      <a:endParaRPr lang="en-US" sz="1800">
                        <a:latin typeface="Arial"/>
                      </a:endParaRPr>
                    </a:p>
                  </a:txBody>
                  <a:tcPr marL="63500" marR="63500" marT="63500" marB="63500">
                    <a:lnL w="28575">
                      <a:solidFill>
                        <a:srgbClr val="00B0F0"/>
                      </a:solidFill>
                    </a:lnL>
                    <a:lnR w="0">
                      <a:noFill/>
                    </a:lnR>
                    <a:lnT w="0">
                      <a:noFill/>
                    </a:lnT>
                    <a:lnB w="0">
                      <a:noFill/>
                    </a:lnB>
                  </a:tcPr>
                </a:tc>
                <a:tc>
                  <a:txBody>
                    <a:bodyPr/>
                    <a:lstStyle/>
                    <a:p>
                      <a:pPr lvl="0" algn="ctr">
                        <a:buNone/>
                      </a:pPr>
                      <a:r>
                        <a:rPr lang="en-US" sz="1800" b="0" i="0" u="none" strike="noStrike" noProof="0">
                          <a:solidFill>
                            <a:srgbClr val="000000"/>
                          </a:solidFill>
                          <a:effectLst/>
                          <a:latin typeface="Arial"/>
                        </a:rPr>
                        <a:t>98.14%</a:t>
                      </a:r>
                      <a:endParaRPr lang="en-US" sz="1800">
                        <a:latin typeface="Arial"/>
                      </a:endParaRPr>
                    </a:p>
                  </a:txBody>
                  <a:tcPr marL="63500" marR="63500" marT="63500" marB="63500">
                    <a:lnL w="28575">
                      <a:noFill/>
                    </a:lnL>
                    <a:lnR w="0">
                      <a:noFill/>
                    </a:lnR>
                    <a:lnT w="0">
                      <a:noFill/>
                    </a:lnT>
                    <a:lnB w="0">
                      <a:noFill/>
                    </a:lnB>
                  </a:tcPr>
                </a:tc>
                <a:extLst>
                  <a:ext uri="{0D108BD9-81ED-4DB2-BD59-A6C34878D82A}">
                    <a16:rowId xmlns:a16="http://schemas.microsoft.com/office/drawing/2014/main" val="129926566"/>
                  </a:ext>
                </a:extLst>
              </a:tr>
            </a:tbl>
          </a:graphicData>
        </a:graphic>
      </p:graphicFrame>
    </p:spTree>
    <p:extLst>
      <p:ext uri="{BB962C8B-B14F-4D97-AF65-F5344CB8AC3E}">
        <p14:creationId xmlns:p14="http://schemas.microsoft.com/office/powerpoint/2010/main" val="2435413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12FBE-F7DD-9D8C-8E06-6D28FF443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8D2D1-B077-0663-3CA4-A270413A831E}"/>
              </a:ext>
            </a:extLst>
          </p:cNvPr>
          <p:cNvSpPr>
            <a:spLocks noGrp="1"/>
          </p:cNvSpPr>
          <p:nvPr>
            <p:ph type="ctrTitle"/>
          </p:nvPr>
        </p:nvSpPr>
        <p:spPr>
          <a:xfrm>
            <a:off x="2603460" y="615798"/>
            <a:ext cx="12705300" cy="1470000"/>
          </a:xfrm>
        </p:spPr>
        <p:txBody>
          <a:bodyPr>
            <a:normAutofit/>
          </a:bodyPr>
          <a:lstStyle/>
          <a:p>
            <a:r>
              <a:rPr lang="en-US" sz="6000"/>
              <a:t> Randomized Search Insights</a:t>
            </a:r>
          </a:p>
        </p:txBody>
      </p:sp>
      <p:pic>
        <p:nvPicPr>
          <p:cNvPr id="5" name="Picture 4" descr="A graph with blue and yellow bars&#10;&#10;AI-generated content may be incorrect.">
            <a:extLst>
              <a:ext uri="{FF2B5EF4-FFF2-40B4-BE49-F238E27FC236}">
                <a16:creationId xmlns:a16="http://schemas.microsoft.com/office/drawing/2014/main" id="{6B307126-333A-8366-A36B-4DAC983CA1BF}"/>
              </a:ext>
            </a:extLst>
          </p:cNvPr>
          <p:cNvPicPr>
            <a:picLocks noChangeAspect="1"/>
          </p:cNvPicPr>
          <p:nvPr/>
        </p:nvPicPr>
        <p:blipFill>
          <a:blip r:embed="rId2"/>
          <a:stretch>
            <a:fillRect/>
          </a:stretch>
        </p:blipFill>
        <p:spPr>
          <a:xfrm>
            <a:off x="1743980" y="1884653"/>
            <a:ext cx="5677498" cy="3579099"/>
          </a:xfrm>
          <a:prstGeom prst="rect">
            <a:avLst/>
          </a:prstGeom>
        </p:spPr>
      </p:pic>
      <p:pic>
        <p:nvPicPr>
          <p:cNvPr id="6" name="Picture 5" descr="A graph with blue and yellow lines&#10;&#10;AI-generated content may be incorrect.">
            <a:extLst>
              <a:ext uri="{FF2B5EF4-FFF2-40B4-BE49-F238E27FC236}">
                <a16:creationId xmlns:a16="http://schemas.microsoft.com/office/drawing/2014/main" id="{7962B9EB-0434-5AF8-96E4-725965373427}"/>
              </a:ext>
            </a:extLst>
          </p:cNvPr>
          <p:cNvPicPr>
            <a:picLocks noChangeAspect="1"/>
          </p:cNvPicPr>
          <p:nvPr/>
        </p:nvPicPr>
        <p:blipFill>
          <a:blip r:embed="rId3"/>
          <a:stretch>
            <a:fillRect/>
          </a:stretch>
        </p:blipFill>
        <p:spPr>
          <a:xfrm>
            <a:off x="1737986" y="5595492"/>
            <a:ext cx="5678853" cy="3579099"/>
          </a:xfrm>
          <a:prstGeom prst="rect">
            <a:avLst/>
          </a:prstGeom>
        </p:spPr>
      </p:pic>
      <p:pic>
        <p:nvPicPr>
          <p:cNvPr id="4" name="Picture 3" descr="A graph of negative negatives&#10;&#10;AI-generated content may be incorrect.">
            <a:extLst>
              <a:ext uri="{FF2B5EF4-FFF2-40B4-BE49-F238E27FC236}">
                <a16:creationId xmlns:a16="http://schemas.microsoft.com/office/drawing/2014/main" id="{6F5531A0-7D19-939B-1758-A5264A5A667D}"/>
              </a:ext>
            </a:extLst>
          </p:cNvPr>
          <p:cNvPicPr>
            <a:picLocks noChangeAspect="1"/>
          </p:cNvPicPr>
          <p:nvPr/>
        </p:nvPicPr>
        <p:blipFill>
          <a:blip r:embed="rId4"/>
          <a:stretch>
            <a:fillRect/>
          </a:stretch>
        </p:blipFill>
        <p:spPr>
          <a:xfrm>
            <a:off x="10330686" y="1892435"/>
            <a:ext cx="5694123" cy="3585576"/>
          </a:xfrm>
          <a:prstGeom prst="rect">
            <a:avLst/>
          </a:prstGeom>
        </p:spPr>
      </p:pic>
      <p:pic>
        <p:nvPicPr>
          <p:cNvPr id="8" name="Picture 7" descr="A graph of a graph with a line&#10;&#10;AI-generated content may be incorrect.">
            <a:extLst>
              <a:ext uri="{FF2B5EF4-FFF2-40B4-BE49-F238E27FC236}">
                <a16:creationId xmlns:a16="http://schemas.microsoft.com/office/drawing/2014/main" id="{4C936A41-B204-FEC2-4EBE-74761E7A9EDB}"/>
              </a:ext>
            </a:extLst>
          </p:cNvPr>
          <p:cNvPicPr>
            <a:picLocks noChangeAspect="1"/>
          </p:cNvPicPr>
          <p:nvPr/>
        </p:nvPicPr>
        <p:blipFill>
          <a:blip r:embed="rId5"/>
          <a:stretch>
            <a:fillRect/>
          </a:stretch>
        </p:blipFill>
        <p:spPr>
          <a:xfrm>
            <a:off x="10336680" y="5599745"/>
            <a:ext cx="5682718" cy="3594178"/>
          </a:xfrm>
          <a:prstGeom prst="rect">
            <a:avLst/>
          </a:prstGeom>
        </p:spPr>
      </p:pic>
    </p:spTree>
    <p:extLst>
      <p:ext uri="{BB962C8B-B14F-4D97-AF65-F5344CB8AC3E}">
        <p14:creationId xmlns:p14="http://schemas.microsoft.com/office/powerpoint/2010/main" val="3055647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EAEAD-6FD0-279C-DC63-B51E423D7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7BDE0-2AFC-AC58-29F3-0627E9A06704}"/>
              </a:ext>
            </a:extLst>
          </p:cNvPr>
          <p:cNvSpPr>
            <a:spLocks noGrp="1"/>
          </p:cNvSpPr>
          <p:nvPr>
            <p:ph type="ctrTitle"/>
          </p:nvPr>
        </p:nvSpPr>
        <p:spPr>
          <a:xfrm>
            <a:off x="1793405" y="879111"/>
            <a:ext cx="14689375" cy="1470000"/>
          </a:xfrm>
        </p:spPr>
        <p:txBody>
          <a:bodyPr spcFirstLastPara="1" wrap="square" lIns="91425" tIns="45700" rIns="91425" bIns="45700" anchor="ctr" anchorCtr="0">
            <a:noAutofit/>
          </a:bodyPr>
          <a:lstStyle/>
          <a:p>
            <a:r>
              <a:rPr lang="en-US" sz="6000" b="1">
                <a:solidFill>
                  <a:srgbClr val="7030A0"/>
                </a:solidFill>
              </a:rPr>
              <a:t>Grid Search Metrics &amp; Insights </a:t>
            </a:r>
          </a:p>
        </p:txBody>
      </p:sp>
      <p:graphicFrame>
        <p:nvGraphicFramePr>
          <p:cNvPr id="13" name="Table 12">
            <a:extLst>
              <a:ext uri="{FF2B5EF4-FFF2-40B4-BE49-F238E27FC236}">
                <a16:creationId xmlns:a16="http://schemas.microsoft.com/office/drawing/2014/main" id="{CD13F1EB-5A70-51F6-F463-FA4861D2C007}"/>
              </a:ext>
            </a:extLst>
          </p:cNvPr>
          <p:cNvGraphicFramePr>
            <a:graphicFrameLocks noGrp="1"/>
          </p:cNvGraphicFramePr>
          <p:nvPr>
            <p:extLst>
              <p:ext uri="{D42A27DB-BD31-4B8C-83A1-F6EECF244321}">
                <p14:modId xmlns:p14="http://schemas.microsoft.com/office/powerpoint/2010/main" val="3959662601"/>
              </p:ext>
            </p:extLst>
          </p:nvPr>
        </p:nvGraphicFramePr>
        <p:xfrm>
          <a:off x="1060293" y="2347712"/>
          <a:ext cx="8973457" cy="6991997"/>
        </p:xfrm>
        <a:graphic>
          <a:graphicData uri="http://schemas.openxmlformats.org/drawingml/2006/table">
            <a:tbl>
              <a:tblPr bandRow="1">
                <a:tableStyleId>{638B1855-1B75-4FBE-930C-398BA8C253C6}</a:tableStyleId>
              </a:tblPr>
              <a:tblGrid>
                <a:gridCol w="2393824">
                  <a:extLst>
                    <a:ext uri="{9D8B030D-6E8A-4147-A177-3AD203B41FA5}">
                      <a16:colId xmlns:a16="http://schemas.microsoft.com/office/drawing/2014/main" val="2859370957"/>
                    </a:ext>
                  </a:extLst>
                </a:gridCol>
                <a:gridCol w="2733776">
                  <a:extLst>
                    <a:ext uri="{9D8B030D-6E8A-4147-A177-3AD203B41FA5}">
                      <a16:colId xmlns:a16="http://schemas.microsoft.com/office/drawing/2014/main" val="2646092273"/>
                    </a:ext>
                  </a:extLst>
                </a:gridCol>
                <a:gridCol w="3845857">
                  <a:extLst>
                    <a:ext uri="{9D8B030D-6E8A-4147-A177-3AD203B41FA5}">
                      <a16:colId xmlns:a16="http://schemas.microsoft.com/office/drawing/2014/main" val="413473020"/>
                    </a:ext>
                  </a:extLst>
                </a:gridCol>
              </a:tblGrid>
              <a:tr h="1055685">
                <a:tc>
                  <a:txBody>
                    <a:bodyPr/>
                    <a:lstStyle/>
                    <a:p>
                      <a:pPr algn="ctr" rtl="0" fontAlgn="t">
                        <a:buNone/>
                      </a:pPr>
                      <a:r>
                        <a:rPr lang="en-US" sz="1800" u="none" strike="noStrike">
                          <a:solidFill>
                            <a:srgbClr val="000000"/>
                          </a:solidFill>
                          <a:effectLst/>
                        </a:rPr>
                        <a:t>Metric</a:t>
                      </a:r>
                      <a:endParaRPr lang="en-US" sz="1800">
                        <a:effectLst/>
                      </a:endParaRPr>
                    </a:p>
                  </a:txBody>
                  <a:tcPr marL="63500" marR="63500" marT="63500" marB="63500"/>
                </a:tc>
                <a:tc>
                  <a:txBody>
                    <a:bodyPr/>
                    <a:lstStyle/>
                    <a:p>
                      <a:pPr lvl="0" algn="ctr" rtl="0">
                        <a:buNone/>
                      </a:pPr>
                      <a:r>
                        <a:rPr lang="en-US" sz="1800" u="none" strike="noStrike">
                          <a:solidFill>
                            <a:srgbClr val="000000"/>
                          </a:solidFill>
                          <a:effectLst/>
                        </a:rPr>
                        <a:t>Random Forest</a:t>
                      </a:r>
                      <a:endParaRPr lang="en-US" sz="1800">
                        <a:effectLst/>
                      </a:endParaRPr>
                    </a:p>
                  </a:txBody>
                  <a:tcPr marL="63500" marR="63500" marT="63500" marB="63500"/>
                </a:tc>
                <a:tc>
                  <a:txBody>
                    <a:bodyPr/>
                    <a:lstStyle/>
                    <a:p>
                      <a:pPr algn="ctr" rtl="0" fontAlgn="t">
                        <a:buNone/>
                      </a:pPr>
                      <a:r>
                        <a:rPr lang="en-US" sz="1800" u="none" strike="noStrike">
                          <a:solidFill>
                            <a:srgbClr val="000000"/>
                          </a:solidFill>
                          <a:effectLst/>
                        </a:rPr>
                        <a:t>XG Boost</a:t>
                      </a:r>
                      <a:endParaRPr lang="en-US" sz="1800">
                        <a:effectLst/>
                      </a:endParaRPr>
                    </a:p>
                  </a:txBody>
                  <a:tcPr marL="63500" marR="63500" marT="63500" marB="63500"/>
                </a:tc>
                <a:extLst>
                  <a:ext uri="{0D108BD9-81ED-4DB2-BD59-A6C34878D82A}">
                    <a16:rowId xmlns:a16="http://schemas.microsoft.com/office/drawing/2014/main" val="2437321452"/>
                  </a:ext>
                </a:extLst>
              </a:tr>
              <a:tr h="1698275">
                <a:tc>
                  <a:txBody>
                    <a:bodyPr/>
                    <a:lstStyle/>
                    <a:p>
                      <a:pPr algn="ctr" rtl="0" fontAlgn="t">
                        <a:buNone/>
                      </a:pPr>
                      <a:r>
                        <a:rPr lang="en-US" sz="1800" u="none" strike="noStrike">
                          <a:solidFill>
                            <a:srgbClr val="000000"/>
                          </a:solidFill>
                          <a:effectLst/>
                        </a:rPr>
                        <a:t>Top Params</a:t>
                      </a:r>
                      <a:endParaRPr lang="en-US" sz="1800">
                        <a:effectLst/>
                      </a:endParaRPr>
                    </a:p>
                  </a:txBody>
                  <a:tcPr marL="63500" marR="63500" marT="63500" marB="63500"/>
                </a:tc>
                <a:tc>
                  <a:txBody>
                    <a:bodyPr/>
                    <a:lstStyle/>
                    <a:p>
                      <a:pPr lvl="0" algn="ctr" rtl="0">
                        <a:buNone/>
                      </a:pPr>
                      <a:r>
                        <a:rPr lang="en-US" sz="1800" u="none" strike="noStrike" err="1">
                          <a:solidFill>
                            <a:srgbClr val="000000"/>
                          </a:solidFill>
                          <a:effectLst/>
                        </a:rPr>
                        <a:t>n_estimators</a:t>
                      </a:r>
                      <a:r>
                        <a:rPr lang="en-US" sz="1800" u="none" strike="noStrike">
                          <a:solidFill>
                            <a:srgbClr val="000000"/>
                          </a:solidFill>
                          <a:effectLst/>
                        </a:rPr>
                        <a:t>: 482</a:t>
                      </a:r>
                      <a:endParaRPr lang="en-US" sz="1800">
                        <a:effectLst/>
                      </a:endParaRPr>
                    </a:p>
                    <a:p>
                      <a:pPr lvl="0" algn="ctr" rtl="0">
                        <a:buNone/>
                      </a:pPr>
                      <a:r>
                        <a:rPr lang="en-US" sz="1800" u="none" strike="noStrike" err="1">
                          <a:solidFill>
                            <a:srgbClr val="000000"/>
                          </a:solidFill>
                          <a:effectLst/>
                        </a:rPr>
                        <a:t>max_depth</a:t>
                      </a:r>
                      <a:r>
                        <a:rPr lang="en-US" sz="1800" u="none" strike="noStrike">
                          <a:solidFill>
                            <a:srgbClr val="000000"/>
                          </a:solidFill>
                          <a:effectLst/>
                        </a:rPr>
                        <a:t>: 23 </a:t>
                      </a:r>
                      <a:endParaRPr lang="en-US" sz="1800">
                        <a:effectLst/>
                      </a:endParaRPr>
                    </a:p>
                    <a:p>
                      <a:pPr lvl="0" algn="ctr" rtl="0">
                        <a:buNone/>
                      </a:pPr>
                      <a:r>
                        <a:rPr lang="en-US" sz="1800" u="none" strike="noStrike" err="1">
                          <a:solidFill>
                            <a:srgbClr val="000000"/>
                          </a:solidFill>
                          <a:effectLst/>
                        </a:rPr>
                        <a:t>min_samples_split</a:t>
                      </a:r>
                      <a:r>
                        <a:rPr lang="en-US" sz="1800" u="none" strike="noStrike">
                          <a:solidFill>
                            <a:srgbClr val="000000"/>
                          </a:solidFill>
                          <a:effectLst/>
                        </a:rPr>
                        <a:t>: 8</a:t>
                      </a:r>
                      <a:endParaRPr lang="en-US" sz="1800">
                        <a:effectLst/>
                      </a:endParaRPr>
                    </a:p>
                    <a:p>
                      <a:pPr lvl="0" algn="ctr" rtl="0">
                        <a:buNone/>
                      </a:pPr>
                      <a:r>
                        <a:rPr lang="en-US" sz="1800" u="none" strike="noStrike">
                          <a:solidFill>
                            <a:srgbClr val="000000"/>
                          </a:solidFill>
                          <a:effectLst/>
                        </a:rPr>
                        <a:t> </a:t>
                      </a:r>
                      <a:r>
                        <a:rPr lang="en-US" sz="1800" u="none" strike="noStrike" err="1">
                          <a:solidFill>
                            <a:srgbClr val="000000"/>
                          </a:solidFill>
                          <a:effectLst/>
                        </a:rPr>
                        <a:t>min_samples_leaf</a:t>
                      </a:r>
                      <a:r>
                        <a:rPr lang="en-US" sz="1800" u="none" strike="noStrike">
                          <a:solidFill>
                            <a:srgbClr val="000000"/>
                          </a:solidFill>
                          <a:effectLst/>
                        </a:rPr>
                        <a:t>: 3</a:t>
                      </a:r>
                      <a:endParaRPr lang="en-US" sz="1800">
                        <a:effectLst/>
                      </a:endParaRPr>
                    </a:p>
                  </a:txBody>
                  <a:tcPr marL="63500" marR="63500" marT="63500" marB="63500"/>
                </a:tc>
                <a:tc>
                  <a:txBody>
                    <a:bodyPr/>
                    <a:lstStyle/>
                    <a:p>
                      <a:pPr algn="ctr" rtl="0" fontAlgn="t">
                        <a:buNone/>
                      </a:pPr>
                      <a:r>
                        <a:rPr lang="en-US" sz="1800" u="none" strike="noStrike" err="1">
                          <a:solidFill>
                            <a:srgbClr val="000000"/>
                          </a:solidFill>
                          <a:effectLst/>
                        </a:rPr>
                        <a:t>n_estimators</a:t>
                      </a:r>
                      <a:r>
                        <a:rPr lang="en-US" sz="1800" u="none" strike="noStrike">
                          <a:solidFill>
                            <a:srgbClr val="000000"/>
                          </a:solidFill>
                          <a:effectLst/>
                        </a:rPr>
                        <a:t>: 265</a:t>
                      </a:r>
                      <a:endParaRPr lang="en-US" sz="1800">
                        <a:effectLst/>
                      </a:endParaRPr>
                    </a:p>
                    <a:p>
                      <a:pPr algn="ctr" rtl="0" fontAlgn="t">
                        <a:buNone/>
                      </a:pPr>
                      <a:r>
                        <a:rPr lang="en-US" sz="1800" u="none" strike="noStrike" err="1">
                          <a:solidFill>
                            <a:srgbClr val="000000"/>
                          </a:solidFill>
                          <a:effectLst/>
                        </a:rPr>
                        <a:t>max_depth</a:t>
                      </a:r>
                      <a:r>
                        <a:rPr lang="en-US" sz="1800" u="none" strike="noStrike">
                          <a:solidFill>
                            <a:srgbClr val="000000"/>
                          </a:solidFill>
                          <a:effectLst/>
                        </a:rPr>
                        <a:t>: 7</a:t>
                      </a:r>
                      <a:endParaRPr lang="en-US" sz="1800">
                        <a:effectLst/>
                      </a:endParaRPr>
                    </a:p>
                    <a:p>
                      <a:pPr algn="ctr" rtl="0" fontAlgn="t">
                        <a:buNone/>
                      </a:pPr>
                      <a:r>
                        <a:rPr lang="en-US" sz="1800" u="none" strike="noStrike" err="1">
                          <a:solidFill>
                            <a:srgbClr val="000000"/>
                          </a:solidFill>
                          <a:effectLst/>
                        </a:rPr>
                        <a:t>learning_rate</a:t>
                      </a:r>
                      <a:r>
                        <a:rPr lang="en-US" sz="1800" u="none" strike="noStrike">
                          <a:solidFill>
                            <a:srgbClr val="000000"/>
                          </a:solidFill>
                          <a:effectLst/>
                        </a:rPr>
                        <a:t>: 0.15</a:t>
                      </a:r>
                      <a:endParaRPr lang="en-US" sz="1800">
                        <a:effectLst/>
                      </a:endParaRPr>
                    </a:p>
                    <a:p>
                      <a:pPr algn="ctr" rtl="0" fontAlgn="t">
                        <a:buNone/>
                      </a:pPr>
                      <a:r>
                        <a:rPr lang="en-US" sz="1800" u="none" strike="noStrike">
                          <a:solidFill>
                            <a:srgbClr val="000000"/>
                          </a:solidFill>
                          <a:effectLst/>
                        </a:rPr>
                        <a:t>subsample: 0.845</a:t>
                      </a:r>
                      <a:endParaRPr lang="en-US" sz="1800">
                        <a:effectLst/>
                      </a:endParaRPr>
                    </a:p>
                  </a:txBody>
                  <a:tcPr marL="63500" marR="63500" marT="63500" marB="63500"/>
                </a:tc>
                <a:extLst>
                  <a:ext uri="{0D108BD9-81ED-4DB2-BD59-A6C34878D82A}">
                    <a16:rowId xmlns:a16="http://schemas.microsoft.com/office/drawing/2014/main" val="4265189125"/>
                  </a:ext>
                </a:extLst>
              </a:tr>
              <a:tr h="795588">
                <a:tc>
                  <a:txBody>
                    <a:bodyPr/>
                    <a:lstStyle/>
                    <a:p>
                      <a:pPr algn="ctr" rtl="0" fontAlgn="t">
                        <a:buNone/>
                      </a:pPr>
                      <a:r>
                        <a:rPr lang="en-US" sz="1800" u="none" strike="noStrike">
                          <a:solidFill>
                            <a:srgbClr val="000000"/>
                          </a:solidFill>
                          <a:effectLst/>
                        </a:rPr>
                        <a:t>Train / Val Accuracy</a:t>
                      </a:r>
                      <a:endParaRPr lang="en-US" sz="1800">
                        <a:effectLst/>
                      </a:endParaRPr>
                    </a:p>
                  </a:txBody>
                  <a:tcPr marL="63500" marR="63500" marT="63500" marB="63500"/>
                </a:tc>
                <a:tc>
                  <a:txBody>
                    <a:bodyPr/>
                    <a:lstStyle/>
                    <a:p>
                      <a:pPr lvl="0" algn="ctr">
                        <a:buNone/>
                      </a:pPr>
                      <a:r>
                        <a:rPr lang="en-US" sz="1800" u="none" strike="noStrike" noProof="0">
                          <a:solidFill>
                            <a:srgbClr val="000000"/>
                          </a:solidFill>
                          <a:effectLst/>
                        </a:rPr>
                        <a:t>99.94% / 97.12%</a:t>
                      </a:r>
                      <a:endParaRPr lang="en-US" sz="1800" noProof="0"/>
                    </a:p>
                  </a:txBody>
                  <a:tcPr marL="63500" marR="63500" marT="63500" marB="63500"/>
                </a:tc>
                <a:tc>
                  <a:txBody>
                    <a:bodyPr/>
                    <a:lstStyle/>
                    <a:p>
                      <a:pPr lvl="0" algn="ctr">
                        <a:buNone/>
                      </a:pPr>
                      <a:r>
                        <a:rPr lang="en-US" sz="1800" u="none" strike="noStrike" noProof="0">
                          <a:solidFill>
                            <a:srgbClr val="000000"/>
                          </a:solidFill>
                          <a:effectLst/>
                        </a:rPr>
                        <a:t>100.00% / 98.05%</a:t>
                      </a:r>
                      <a:endParaRPr lang="en-US" sz="1800"/>
                    </a:p>
                  </a:txBody>
                  <a:tcPr marL="63500" marR="63500" marT="63500" marB="63500"/>
                </a:tc>
                <a:extLst>
                  <a:ext uri="{0D108BD9-81ED-4DB2-BD59-A6C34878D82A}">
                    <a16:rowId xmlns:a16="http://schemas.microsoft.com/office/drawing/2014/main" val="3140042884"/>
                  </a:ext>
                </a:extLst>
              </a:tr>
              <a:tr h="810888">
                <a:tc>
                  <a:txBody>
                    <a:bodyPr/>
                    <a:lstStyle/>
                    <a:p>
                      <a:pPr algn="ctr" rtl="0" fontAlgn="t">
                        <a:buNone/>
                      </a:pPr>
                      <a:r>
                        <a:rPr lang="en-US" sz="1800" u="none" strike="noStrike">
                          <a:solidFill>
                            <a:srgbClr val="000000"/>
                          </a:solidFill>
                          <a:effectLst/>
                        </a:rPr>
                        <a:t>Precision</a:t>
                      </a:r>
                      <a:endParaRPr lang="en-US" sz="1800">
                        <a:effectLst/>
                      </a:endParaRPr>
                    </a:p>
                  </a:txBody>
                  <a:tcPr marL="63500" marR="63500" marT="63500" marB="63500"/>
                </a:tc>
                <a:tc>
                  <a:txBody>
                    <a:bodyPr/>
                    <a:lstStyle/>
                    <a:p>
                      <a:pPr lvl="0" algn="ctr">
                        <a:buNone/>
                      </a:pPr>
                      <a:r>
                        <a:rPr lang="en-US" sz="1800" u="none" strike="noStrike" noProof="0">
                          <a:solidFill>
                            <a:srgbClr val="000000"/>
                          </a:solidFill>
                          <a:effectLst/>
                        </a:rPr>
                        <a:t>Class 0: 0.97 Class 1: 0.97</a:t>
                      </a:r>
                      <a:endParaRPr lang="en-US" sz="1800"/>
                    </a:p>
                  </a:txBody>
                  <a:tcPr marL="63500" marR="63500" marT="63500" marB="63500"/>
                </a:tc>
                <a:tc>
                  <a:txBody>
                    <a:bodyPr/>
                    <a:lstStyle/>
                    <a:p>
                      <a:pPr lvl="0" algn="ctr">
                        <a:buNone/>
                      </a:pPr>
                      <a:r>
                        <a:rPr lang="en-US" sz="1800" u="none" strike="noStrike" noProof="0">
                          <a:solidFill>
                            <a:srgbClr val="000000"/>
                          </a:solidFill>
                          <a:effectLst/>
                        </a:rPr>
                        <a:t>Class 0: 0.98 Class 1: 0.98</a:t>
                      </a:r>
                      <a:endParaRPr lang="en-US" sz="1800"/>
                    </a:p>
                  </a:txBody>
                  <a:tcPr marL="63500" marR="63500" marT="63500" marB="63500"/>
                </a:tc>
                <a:extLst>
                  <a:ext uri="{0D108BD9-81ED-4DB2-BD59-A6C34878D82A}">
                    <a16:rowId xmlns:a16="http://schemas.microsoft.com/office/drawing/2014/main" val="1676074989"/>
                  </a:ext>
                </a:extLst>
              </a:tr>
              <a:tr h="994485">
                <a:tc>
                  <a:txBody>
                    <a:bodyPr/>
                    <a:lstStyle/>
                    <a:p>
                      <a:pPr algn="ctr" rtl="0" fontAlgn="t">
                        <a:buNone/>
                      </a:pPr>
                      <a:r>
                        <a:rPr lang="en-US" sz="1800" u="none" strike="noStrike">
                          <a:solidFill>
                            <a:srgbClr val="000000"/>
                          </a:solidFill>
                          <a:effectLst/>
                        </a:rPr>
                        <a:t>Recall</a:t>
                      </a:r>
                      <a:endParaRPr lang="en-US" sz="1800">
                        <a:effectLst/>
                      </a:endParaRPr>
                    </a:p>
                  </a:txBody>
                  <a:tcPr marL="63500" marR="63500" marT="63500" marB="63500"/>
                </a:tc>
                <a:tc>
                  <a:txBody>
                    <a:bodyPr/>
                    <a:lstStyle/>
                    <a:p>
                      <a:pPr lvl="0" algn="ctr">
                        <a:buNone/>
                      </a:pPr>
                      <a:r>
                        <a:rPr lang="en-US" sz="1800" u="none" strike="noStrike" noProof="0">
                          <a:solidFill>
                            <a:srgbClr val="000000"/>
                          </a:solidFill>
                          <a:effectLst/>
                        </a:rPr>
                        <a:t>Class 0: 0.97 Class 1: 0.97</a:t>
                      </a:r>
                      <a:endParaRPr lang="en-US" sz="1800"/>
                    </a:p>
                  </a:txBody>
                  <a:tcPr marL="63500" marR="63500" marT="63500" marB="63500"/>
                </a:tc>
                <a:tc>
                  <a:txBody>
                    <a:bodyPr/>
                    <a:lstStyle/>
                    <a:p>
                      <a:pPr lvl="0" algn="ctr">
                        <a:buNone/>
                      </a:pPr>
                      <a:r>
                        <a:rPr lang="en-US" sz="1800" u="none" strike="noStrike" noProof="0">
                          <a:solidFill>
                            <a:srgbClr val="000000"/>
                          </a:solidFill>
                          <a:effectLst/>
                        </a:rPr>
                        <a:t>Class 0: 0.98 Class 1: 0.98</a:t>
                      </a:r>
                      <a:endParaRPr lang="en-US" sz="1800"/>
                    </a:p>
                  </a:txBody>
                  <a:tcPr marL="63500" marR="63500" marT="63500" marB="63500"/>
                </a:tc>
                <a:extLst>
                  <a:ext uri="{0D108BD9-81ED-4DB2-BD59-A6C34878D82A}">
                    <a16:rowId xmlns:a16="http://schemas.microsoft.com/office/drawing/2014/main" val="2389506482"/>
                  </a:ext>
                </a:extLst>
              </a:tr>
              <a:tr h="841488">
                <a:tc>
                  <a:txBody>
                    <a:bodyPr/>
                    <a:lstStyle/>
                    <a:p>
                      <a:pPr algn="ctr" rtl="0" fontAlgn="t">
                        <a:buNone/>
                      </a:pPr>
                      <a:r>
                        <a:rPr lang="en-US" sz="1800" u="none" strike="noStrike">
                          <a:solidFill>
                            <a:srgbClr val="000000"/>
                          </a:solidFill>
                          <a:effectLst/>
                        </a:rPr>
                        <a:t>F1-Score</a:t>
                      </a:r>
                      <a:endParaRPr lang="en-US" sz="1800">
                        <a:effectLst/>
                      </a:endParaRPr>
                    </a:p>
                  </a:txBody>
                  <a:tcPr marL="63500" marR="63500" marT="63500" marB="63500"/>
                </a:tc>
                <a:tc>
                  <a:txBody>
                    <a:bodyPr/>
                    <a:lstStyle/>
                    <a:p>
                      <a:pPr lvl="0" algn="ctr">
                        <a:buNone/>
                      </a:pPr>
                      <a:r>
                        <a:rPr lang="en-US" sz="1800" u="none" strike="noStrike" noProof="0">
                          <a:solidFill>
                            <a:srgbClr val="000000"/>
                          </a:solidFill>
                          <a:effectLst/>
                        </a:rPr>
                        <a:t>Macro: 0.97 Weighted: 0.97</a:t>
                      </a:r>
                      <a:endParaRPr lang="en-US" sz="1800"/>
                    </a:p>
                  </a:txBody>
                  <a:tcPr marL="63500" marR="63500" marT="63500" marB="63500"/>
                </a:tc>
                <a:tc>
                  <a:txBody>
                    <a:bodyPr/>
                    <a:lstStyle/>
                    <a:p>
                      <a:pPr lvl="0" algn="ctr">
                        <a:buNone/>
                      </a:pPr>
                      <a:r>
                        <a:rPr lang="en-US" sz="1800" u="none" strike="noStrike" noProof="0">
                          <a:solidFill>
                            <a:srgbClr val="000000"/>
                          </a:solidFill>
                          <a:effectLst/>
                        </a:rPr>
                        <a:t>Macro: 0.98 Weighted: 0.98</a:t>
                      </a:r>
                      <a:endParaRPr lang="en-US" sz="1800"/>
                    </a:p>
                  </a:txBody>
                  <a:tcPr marL="63500" marR="63500" marT="63500" marB="63500"/>
                </a:tc>
                <a:extLst>
                  <a:ext uri="{0D108BD9-81ED-4DB2-BD59-A6C34878D82A}">
                    <a16:rowId xmlns:a16="http://schemas.microsoft.com/office/drawing/2014/main" val="3146114853"/>
                  </a:ext>
                </a:extLst>
              </a:tr>
              <a:tr h="795588">
                <a:tc>
                  <a:txBody>
                    <a:bodyPr/>
                    <a:lstStyle/>
                    <a:p>
                      <a:pPr algn="ctr" rtl="0" fontAlgn="t">
                        <a:buNone/>
                      </a:pPr>
                      <a:r>
                        <a:rPr lang="en-US" sz="1800" u="none" strike="noStrike">
                          <a:solidFill>
                            <a:srgbClr val="000000"/>
                          </a:solidFill>
                          <a:effectLst/>
                        </a:rPr>
                        <a:t>Overall Accuracy</a:t>
                      </a:r>
                      <a:endParaRPr lang="en-US" sz="1800">
                        <a:effectLst/>
                      </a:endParaRPr>
                    </a:p>
                  </a:txBody>
                  <a:tcPr marL="63500" marR="63500" marT="63500" marB="63500"/>
                </a:tc>
                <a:tc>
                  <a:txBody>
                    <a:bodyPr/>
                    <a:lstStyle/>
                    <a:p>
                      <a:pPr lvl="0" algn="ctr">
                        <a:buNone/>
                      </a:pPr>
                      <a:r>
                        <a:rPr lang="en-US" sz="1800" u="none" strike="noStrike" noProof="0">
                          <a:solidFill>
                            <a:srgbClr val="000000"/>
                          </a:solidFill>
                          <a:effectLst/>
                        </a:rPr>
                        <a:t>97.12%</a:t>
                      </a:r>
                      <a:endParaRPr lang="en-US" sz="1800"/>
                    </a:p>
                  </a:txBody>
                  <a:tcPr marL="63500" marR="63500" marT="63500" marB="63500"/>
                </a:tc>
                <a:tc>
                  <a:txBody>
                    <a:bodyPr/>
                    <a:lstStyle/>
                    <a:p>
                      <a:pPr lvl="0" algn="ctr">
                        <a:buNone/>
                      </a:pPr>
                      <a:r>
                        <a:rPr lang="en-US" sz="1800" u="none" strike="noStrike" noProof="0">
                          <a:solidFill>
                            <a:srgbClr val="000000"/>
                          </a:solidFill>
                          <a:effectLst/>
                        </a:rPr>
                        <a:t>98.05%</a:t>
                      </a:r>
                      <a:endParaRPr lang="en-US" sz="1800"/>
                    </a:p>
                  </a:txBody>
                  <a:tcPr marL="63500" marR="63500" marT="63500" marB="63500"/>
                </a:tc>
                <a:extLst>
                  <a:ext uri="{0D108BD9-81ED-4DB2-BD59-A6C34878D82A}">
                    <a16:rowId xmlns:a16="http://schemas.microsoft.com/office/drawing/2014/main" val="129926566"/>
                  </a:ext>
                </a:extLst>
              </a:tr>
            </a:tbl>
          </a:graphicData>
        </a:graphic>
      </p:graphicFrame>
      <p:pic>
        <p:nvPicPr>
          <p:cNvPr id="3" name="Picture 2" descr="A graph of negative negatives&#10;&#10;AI-generated content may be incorrect.">
            <a:extLst>
              <a:ext uri="{FF2B5EF4-FFF2-40B4-BE49-F238E27FC236}">
                <a16:creationId xmlns:a16="http://schemas.microsoft.com/office/drawing/2014/main" id="{25DDACC1-6350-7C21-8099-51C4806FB6C8}"/>
              </a:ext>
            </a:extLst>
          </p:cNvPr>
          <p:cNvPicPr>
            <a:picLocks noChangeAspect="1"/>
          </p:cNvPicPr>
          <p:nvPr/>
        </p:nvPicPr>
        <p:blipFill>
          <a:blip r:embed="rId3"/>
          <a:stretch>
            <a:fillRect/>
          </a:stretch>
        </p:blipFill>
        <p:spPr>
          <a:xfrm>
            <a:off x="10796648" y="5834991"/>
            <a:ext cx="5660573" cy="3485903"/>
          </a:xfrm>
          <a:prstGeom prst="rect">
            <a:avLst/>
          </a:prstGeom>
        </p:spPr>
      </p:pic>
      <p:pic>
        <p:nvPicPr>
          <p:cNvPr id="4" name="Picture 3" descr="A graph with blue and yellow bars&#10;&#10;AI-generated content may be incorrect.">
            <a:extLst>
              <a:ext uri="{FF2B5EF4-FFF2-40B4-BE49-F238E27FC236}">
                <a16:creationId xmlns:a16="http://schemas.microsoft.com/office/drawing/2014/main" id="{044C52C6-0F8B-D674-E1EE-2F9B97278B80}"/>
              </a:ext>
            </a:extLst>
          </p:cNvPr>
          <p:cNvPicPr>
            <a:picLocks noChangeAspect="1"/>
          </p:cNvPicPr>
          <p:nvPr/>
        </p:nvPicPr>
        <p:blipFill>
          <a:blip r:embed="rId4"/>
          <a:stretch>
            <a:fillRect/>
          </a:stretch>
        </p:blipFill>
        <p:spPr>
          <a:xfrm>
            <a:off x="10796648" y="2346612"/>
            <a:ext cx="5660573" cy="3485904"/>
          </a:xfrm>
          <a:prstGeom prst="rect">
            <a:avLst/>
          </a:prstGeom>
        </p:spPr>
      </p:pic>
    </p:spTree>
    <p:extLst>
      <p:ext uri="{BB962C8B-B14F-4D97-AF65-F5344CB8AC3E}">
        <p14:creationId xmlns:p14="http://schemas.microsoft.com/office/powerpoint/2010/main" val="813775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CF47E-5DB5-E990-82C0-AF1CC9C2D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D0C50-7531-4855-D559-4B97FD431714}"/>
              </a:ext>
            </a:extLst>
          </p:cNvPr>
          <p:cNvSpPr>
            <a:spLocks noGrp="1"/>
          </p:cNvSpPr>
          <p:nvPr>
            <p:ph type="ctrTitle"/>
          </p:nvPr>
        </p:nvSpPr>
        <p:spPr>
          <a:xfrm>
            <a:off x="1453226" y="974361"/>
            <a:ext cx="14689375" cy="1470000"/>
          </a:xfrm>
        </p:spPr>
        <p:txBody>
          <a:bodyPr spcFirstLastPara="1" wrap="square" lIns="91425" tIns="45700" rIns="91425" bIns="45700" anchor="ctr" anchorCtr="0">
            <a:noAutofit/>
          </a:bodyPr>
          <a:lstStyle/>
          <a:p>
            <a:r>
              <a:rPr lang="en-US" sz="6000" b="1">
                <a:solidFill>
                  <a:srgbClr val="FFFF00"/>
                </a:solidFill>
              </a:rPr>
              <a:t>Performance of Tuned Models on Test Data</a:t>
            </a:r>
          </a:p>
        </p:txBody>
      </p:sp>
      <p:graphicFrame>
        <p:nvGraphicFramePr>
          <p:cNvPr id="6" name="Table 5">
            <a:extLst>
              <a:ext uri="{FF2B5EF4-FFF2-40B4-BE49-F238E27FC236}">
                <a16:creationId xmlns:a16="http://schemas.microsoft.com/office/drawing/2014/main" id="{04E434AD-C24F-05A8-E13A-6592E692C226}"/>
              </a:ext>
            </a:extLst>
          </p:cNvPr>
          <p:cNvGraphicFramePr>
            <a:graphicFrameLocks noGrp="1"/>
          </p:cNvGraphicFramePr>
          <p:nvPr>
            <p:extLst>
              <p:ext uri="{D42A27DB-BD31-4B8C-83A1-F6EECF244321}">
                <p14:modId xmlns:p14="http://schemas.microsoft.com/office/powerpoint/2010/main" val="2993042096"/>
              </p:ext>
            </p:extLst>
          </p:nvPr>
        </p:nvGraphicFramePr>
        <p:xfrm>
          <a:off x="1061357" y="3524250"/>
          <a:ext cx="9470566" cy="5608705"/>
        </p:xfrm>
        <a:graphic>
          <a:graphicData uri="http://schemas.openxmlformats.org/drawingml/2006/table">
            <a:tbl>
              <a:tblPr bandRow="1">
                <a:tableStyleId>{5C22544A-7EE6-4342-B048-85BDC9FD1C3A}</a:tableStyleId>
              </a:tblPr>
              <a:tblGrid>
                <a:gridCol w="3149023">
                  <a:extLst>
                    <a:ext uri="{9D8B030D-6E8A-4147-A177-3AD203B41FA5}">
                      <a16:colId xmlns:a16="http://schemas.microsoft.com/office/drawing/2014/main" val="1344695826"/>
                    </a:ext>
                  </a:extLst>
                </a:gridCol>
                <a:gridCol w="3164688">
                  <a:extLst>
                    <a:ext uri="{9D8B030D-6E8A-4147-A177-3AD203B41FA5}">
                      <a16:colId xmlns:a16="http://schemas.microsoft.com/office/drawing/2014/main" val="984036465"/>
                    </a:ext>
                  </a:extLst>
                </a:gridCol>
                <a:gridCol w="3156855">
                  <a:extLst>
                    <a:ext uri="{9D8B030D-6E8A-4147-A177-3AD203B41FA5}">
                      <a16:colId xmlns:a16="http://schemas.microsoft.com/office/drawing/2014/main" val="3454791603"/>
                    </a:ext>
                  </a:extLst>
                </a:gridCol>
              </a:tblGrid>
              <a:tr h="745678">
                <a:tc>
                  <a:txBody>
                    <a:bodyPr/>
                    <a:lstStyle/>
                    <a:p>
                      <a:pPr algn="ctr" rtl="0" fontAlgn="t">
                        <a:buNone/>
                      </a:pPr>
                      <a:r>
                        <a:rPr lang="en-US" sz="2000" b="1" i="0" u="none" strike="noStrike">
                          <a:solidFill>
                            <a:srgbClr val="FFFF00"/>
                          </a:solidFill>
                          <a:effectLst/>
                          <a:latin typeface="Times New Roman"/>
                        </a:rPr>
                        <a:t>Metric</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2000" b="1" i="0" u="none" strike="noStrike">
                          <a:solidFill>
                            <a:srgbClr val="FFFF00"/>
                          </a:solidFill>
                          <a:effectLst/>
                          <a:latin typeface="Times New Roman"/>
                        </a:rPr>
                        <a:t>Random Forest</a:t>
                      </a:r>
                      <a:endParaRPr lang="en-US" sz="2000">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2000" b="1" i="0" u="none" strike="noStrike" err="1">
                          <a:solidFill>
                            <a:srgbClr val="FFFF00"/>
                          </a:solidFill>
                          <a:effectLst/>
                          <a:latin typeface="Times New Roman"/>
                        </a:rPr>
                        <a:t>XGBoost</a:t>
                      </a:r>
                      <a:endParaRPr lang="en-US" sz="2000">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7214163"/>
                  </a:ext>
                </a:extLst>
              </a:tr>
              <a:tr h="537582">
                <a:tc>
                  <a:txBody>
                    <a:bodyPr/>
                    <a:lstStyle/>
                    <a:p>
                      <a:pPr algn="ctr" rtl="0" fontAlgn="t">
                        <a:buNone/>
                      </a:pPr>
                      <a:r>
                        <a:rPr lang="en-US" sz="2000" b="1" i="0" u="none" strike="noStrike">
                          <a:solidFill>
                            <a:srgbClr val="FFFF00"/>
                          </a:solidFill>
                          <a:effectLst/>
                          <a:latin typeface="Times New Roman"/>
                        </a:rPr>
                        <a:t>True Positives (TP)</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8245</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w="12700" cap="flat" cmpd="sng" algn="ctr">
                      <a:solidFill>
                        <a:schemeClr val="tx1"/>
                      </a:solidFill>
                      <a:prstDash val="solid"/>
                      <a:round/>
                      <a:headEnd type="none" w="med" len="med"/>
                      <a:tailEnd type="none" w="med" len="med"/>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8353</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w="12700" cap="flat" cmpd="sng" algn="ctr">
                      <a:solidFill>
                        <a:schemeClr val="tx1"/>
                      </a:solidFill>
                      <a:prstDash val="solid"/>
                      <a:round/>
                      <a:headEnd type="none" w="med" len="med"/>
                      <a:tailEnd type="none" w="med" len="med"/>
                    </a:lnT>
                    <a:lnB>
                      <a:solidFill>
                        <a:srgbClr val="000000"/>
                      </a:solidFill>
                    </a:lnB>
                    <a:noFill/>
                  </a:tcPr>
                </a:tc>
                <a:extLst>
                  <a:ext uri="{0D108BD9-81ED-4DB2-BD59-A6C34878D82A}">
                    <a16:rowId xmlns:a16="http://schemas.microsoft.com/office/drawing/2014/main" val="1245940731"/>
                  </a:ext>
                </a:extLst>
              </a:tr>
              <a:tr h="537582">
                <a:tc>
                  <a:txBody>
                    <a:bodyPr/>
                    <a:lstStyle/>
                    <a:p>
                      <a:pPr algn="ctr" rtl="0" fontAlgn="t">
                        <a:buNone/>
                      </a:pPr>
                      <a:r>
                        <a:rPr lang="en-US" sz="2000" b="1" i="0" u="none" strike="noStrike">
                          <a:solidFill>
                            <a:srgbClr val="FFFF00"/>
                          </a:solidFill>
                          <a:effectLst/>
                          <a:latin typeface="Times New Roman"/>
                        </a:rPr>
                        <a:t>True Negatives (TN)</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7753</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7823</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4202066101"/>
                  </a:ext>
                </a:extLst>
              </a:tr>
              <a:tr h="537582">
                <a:tc>
                  <a:txBody>
                    <a:bodyPr/>
                    <a:lstStyle/>
                    <a:p>
                      <a:pPr algn="ctr" rtl="0" fontAlgn="t">
                        <a:buNone/>
                      </a:pPr>
                      <a:r>
                        <a:rPr lang="en-US" sz="2000" b="1" i="0" u="none" strike="noStrike">
                          <a:solidFill>
                            <a:srgbClr val="FFFF00"/>
                          </a:solidFill>
                          <a:effectLst/>
                          <a:latin typeface="Times New Roman"/>
                        </a:rPr>
                        <a:t>False Positives (FP) </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223</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163</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838011251"/>
                  </a:ext>
                </a:extLst>
              </a:tr>
              <a:tr h="537582">
                <a:tc>
                  <a:txBody>
                    <a:bodyPr/>
                    <a:lstStyle/>
                    <a:p>
                      <a:pPr algn="ctr" rtl="0" fontAlgn="t">
                        <a:buNone/>
                      </a:pPr>
                      <a:r>
                        <a:rPr lang="en-US" sz="2000" b="1" i="0" u="none" strike="noStrike">
                          <a:solidFill>
                            <a:srgbClr val="FFFF00"/>
                          </a:solidFill>
                          <a:effectLst/>
                          <a:latin typeface="Times New Roman"/>
                        </a:rPr>
                        <a:t>False Negatives (FN)</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266</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153</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2157068546"/>
                  </a:ext>
                </a:extLst>
              </a:tr>
              <a:tr h="572264">
                <a:tc>
                  <a:txBody>
                    <a:bodyPr/>
                    <a:lstStyle/>
                    <a:p>
                      <a:pPr algn="ctr" rtl="0" fontAlgn="t">
                        <a:buNone/>
                      </a:pPr>
                      <a:r>
                        <a:rPr lang="en-US" sz="2000" b="1" i="0" u="none" strike="noStrike">
                          <a:solidFill>
                            <a:srgbClr val="FFFF00"/>
                          </a:solidFill>
                          <a:effectLst/>
                          <a:latin typeface="Times New Roman"/>
                        </a:rPr>
                        <a:t>Precision</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Class 0: 0.967 Class 1: 0.973</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Class 0: 0.981  Class 1: 0.981</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4010316747"/>
                  </a:ext>
                </a:extLst>
              </a:tr>
              <a:tr h="624288">
                <a:tc>
                  <a:txBody>
                    <a:bodyPr/>
                    <a:lstStyle/>
                    <a:p>
                      <a:pPr algn="ctr" rtl="0" fontAlgn="t">
                        <a:buNone/>
                      </a:pPr>
                      <a:r>
                        <a:rPr lang="en-US" sz="2000" b="1" i="0" u="none" strike="noStrike">
                          <a:solidFill>
                            <a:srgbClr val="FFFF00"/>
                          </a:solidFill>
                          <a:effectLst/>
                          <a:latin typeface="Times New Roman"/>
                        </a:rPr>
                        <a:t>Recall</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Class 0: 0.971 Class 1: 0.969</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Class 0: 0.980 Class 1: 0.982</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2035097771"/>
                  </a:ext>
                </a:extLst>
              </a:tr>
              <a:tr h="572264">
                <a:tc>
                  <a:txBody>
                    <a:bodyPr/>
                    <a:lstStyle/>
                    <a:p>
                      <a:pPr algn="ctr" rtl="0" fontAlgn="t">
                        <a:buNone/>
                      </a:pPr>
                      <a:r>
                        <a:rPr lang="en-US" sz="2000" b="1" i="0" u="none" strike="noStrike">
                          <a:solidFill>
                            <a:srgbClr val="FFFF00"/>
                          </a:solidFill>
                          <a:effectLst/>
                          <a:latin typeface="Times New Roman"/>
                        </a:rPr>
                        <a:t>F1-Score</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Macro: 0.970 Weighted: 0.970</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Macro: 0.981 Weighted: 0.981</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1448270399"/>
                  </a:ext>
                </a:extLst>
              </a:tr>
              <a:tr h="502899">
                <a:tc>
                  <a:txBody>
                    <a:bodyPr/>
                    <a:lstStyle/>
                    <a:p>
                      <a:pPr algn="ctr" rtl="0" fontAlgn="t">
                        <a:buNone/>
                      </a:pPr>
                      <a:r>
                        <a:rPr lang="en-US" sz="2000" b="1" i="0" u="none" strike="noStrike">
                          <a:solidFill>
                            <a:srgbClr val="FFFF00"/>
                          </a:solidFill>
                          <a:effectLst/>
                          <a:latin typeface="Times New Roman"/>
                        </a:rPr>
                        <a:t>Overall Accuracy</a:t>
                      </a:r>
                      <a:endParaRPr lang="en-US" sz="2000">
                        <a:solidFill>
                          <a:srgbClr val="FFFF00"/>
                        </a:solidFill>
                        <a:effectLst/>
                        <a:latin typeface="Times New Roman"/>
                      </a:endParaRPr>
                    </a:p>
                  </a:txBody>
                  <a:tcPr marL="63500" marR="63500" marT="63500" marB="63500">
                    <a:lnL>
                      <a:solidFill>
                        <a:srgbClr val="000000"/>
                      </a:solidFill>
                    </a:lnL>
                    <a:lnR w="12700" cap="flat" cmpd="sng" algn="ctr">
                      <a:solidFill>
                        <a:schemeClr val="tx1"/>
                      </a:solidFill>
                      <a:prstDash val="solid"/>
                      <a:round/>
                      <a:headEnd type="none" w="med" len="med"/>
                      <a:tailEnd type="none" w="med" len="med"/>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96.98%</a:t>
                      </a:r>
                      <a:endParaRPr lang="en-US" sz="2000" b="1">
                        <a:solidFill>
                          <a:srgbClr val="FFFF00"/>
                        </a:solidFill>
                        <a:effectLst/>
                        <a:latin typeface="Times New Roman"/>
                      </a:endParaRPr>
                    </a:p>
                  </a:txBody>
                  <a:tcPr marL="63500" marR="63500" marT="63500" marB="63500">
                    <a:lnL w="12700" cap="flat" cmpd="sng" algn="ctr">
                      <a:solidFill>
                        <a:schemeClr val="tx1"/>
                      </a:solidFill>
                      <a:prstDash val="solid"/>
                      <a:round/>
                      <a:headEnd type="none" w="med" len="med"/>
                      <a:tailEnd type="none" w="med" len="med"/>
                    </a:lnL>
                    <a:lnR>
                      <a:solidFill>
                        <a:srgbClr val="000000"/>
                      </a:solidFill>
                    </a:lnR>
                    <a:lnT>
                      <a:solidFill>
                        <a:srgbClr val="000000"/>
                      </a:solidFill>
                    </a:lnT>
                    <a:lnB>
                      <a:solidFill>
                        <a:srgbClr val="000000"/>
                      </a:solidFill>
                    </a:lnB>
                    <a:noFill/>
                  </a:tcPr>
                </a:tc>
                <a:tc>
                  <a:txBody>
                    <a:bodyPr/>
                    <a:lstStyle/>
                    <a:p>
                      <a:pPr algn="ctr" rtl="0" fontAlgn="t">
                        <a:buNone/>
                      </a:pPr>
                      <a:r>
                        <a:rPr lang="en-US" sz="2000" b="1" i="0" u="none" strike="noStrike">
                          <a:solidFill>
                            <a:srgbClr val="FFFF00"/>
                          </a:solidFill>
                          <a:effectLst/>
                          <a:latin typeface="Times New Roman"/>
                        </a:rPr>
                        <a:t>98.08%</a:t>
                      </a:r>
                      <a:endParaRPr lang="en-US" sz="2000" b="1">
                        <a:solidFill>
                          <a:srgbClr val="FFFF00"/>
                        </a:solidFill>
                        <a:effectLst/>
                        <a:latin typeface="Times New Roman"/>
                      </a:endParaRPr>
                    </a:p>
                  </a:txBody>
                  <a:tcPr marL="63500" marR="63500" marT="63500" marB="63500">
                    <a:lnL>
                      <a:solidFill>
                        <a:srgbClr val="000000"/>
                      </a:solidFill>
                    </a:lnL>
                    <a:lnR>
                      <a:solidFill>
                        <a:srgbClr val="000000"/>
                      </a:solidFill>
                    </a:lnR>
                    <a:lnT>
                      <a:solidFill>
                        <a:srgbClr val="000000"/>
                      </a:solidFill>
                    </a:lnT>
                    <a:lnB>
                      <a:solidFill>
                        <a:srgbClr val="000000"/>
                      </a:solidFill>
                    </a:lnB>
                    <a:noFill/>
                  </a:tcPr>
                </a:tc>
                <a:extLst>
                  <a:ext uri="{0D108BD9-81ED-4DB2-BD59-A6C34878D82A}">
                    <a16:rowId xmlns:a16="http://schemas.microsoft.com/office/drawing/2014/main" val="3124806965"/>
                  </a:ext>
                </a:extLst>
              </a:tr>
            </a:tbl>
          </a:graphicData>
        </a:graphic>
      </p:graphicFrame>
      <p:pic>
        <p:nvPicPr>
          <p:cNvPr id="7" name="Picture 6" descr="A graph of a curve&#10;&#10;AI-generated content may be incorrect.">
            <a:extLst>
              <a:ext uri="{FF2B5EF4-FFF2-40B4-BE49-F238E27FC236}">
                <a16:creationId xmlns:a16="http://schemas.microsoft.com/office/drawing/2014/main" id="{FA9C8157-913E-FAA1-79BB-95E69D8244B4}"/>
              </a:ext>
            </a:extLst>
          </p:cNvPr>
          <p:cNvPicPr>
            <a:picLocks noChangeAspect="1"/>
          </p:cNvPicPr>
          <p:nvPr/>
        </p:nvPicPr>
        <p:blipFill>
          <a:blip r:embed="rId3"/>
          <a:stretch>
            <a:fillRect/>
          </a:stretch>
        </p:blipFill>
        <p:spPr>
          <a:xfrm>
            <a:off x="11912372" y="2079172"/>
            <a:ext cx="4736648" cy="3529692"/>
          </a:xfrm>
          <a:prstGeom prst="rect">
            <a:avLst/>
          </a:prstGeom>
        </p:spPr>
      </p:pic>
      <p:pic>
        <p:nvPicPr>
          <p:cNvPr id="8" name="Picture 7" descr="A graph of a curve&#10;&#10;AI-generated content may be incorrect.">
            <a:extLst>
              <a:ext uri="{FF2B5EF4-FFF2-40B4-BE49-F238E27FC236}">
                <a16:creationId xmlns:a16="http://schemas.microsoft.com/office/drawing/2014/main" id="{D419CE17-4560-7245-3305-BBDDD943CD79}"/>
              </a:ext>
            </a:extLst>
          </p:cNvPr>
          <p:cNvPicPr>
            <a:picLocks noChangeAspect="1"/>
          </p:cNvPicPr>
          <p:nvPr/>
        </p:nvPicPr>
        <p:blipFill>
          <a:blip r:embed="rId4"/>
          <a:stretch>
            <a:fillRect/>
          </a:stretch>
        </p:blipFill>
        <p:spPr>
          <a:xfrm>
            <a:off x="11919857" y="5837463"/>
            <a:ext cx="4748893" cy="3524251"/>
          </a:xfrm>
          <a:prstGeom prst="rect">
            <a:avLst/>
          </a:prstGeom>
        </p:spPr>
      </p:pic>
    </p:spTree>
    <p:extLst>
      <p:ext uri="{BB962C8B-B14F-4D97-AF65-F5344CB8AC3E}">
        <p14:creationId xmlns:p14="http://schemas.microsoft.com/office/powerpoint/2010/main" val="145543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523">
          <a:extLst>
            <a:ext uri="{FF2B5EF4-FFF2-40B4-BE49-F238E27FC236}">
              <a16:creationId xmlns:a16="http://schemas.microsoft.com/office/drawing/2014/main" id="{D99F9B35-E3D8-9879-F509-F44EF63D745C}"/>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F7D60042-3663-2320-AFC8-712CC4B6E1AA}"/>
              </a:ext>
            </a:extLst>
          </p:cNvPr>
          <p:cNvGrpSpPr/>
          <p:nvPr/>
        </p:nvGrpSpPr>
        <p:grpSpPr>
          <a:xfrm>
            <a:off x="201196" y="4553"/>
            <a:ext cx="18145125" cy="10200876"/>
            <a:chOff x="285750" y="0"/>
            <a:chExt cx="18002250" cy="10287000"/>
          </a:xfrm>
        </p:grpSpPr>
        <p:pic>
          <p:nvPicPr>
            <p:cNvPr id="524" name="Google Shape;524;p26">
              <a:extLst>
                <a:ext uri="{FF2B5EF4-FFF2-40B4-BE49-F238E27FC236}">
                  <a16:creationId xmlns:a16="http://schemas.microsoft.com/office/drawing/2014/main" id="{211767FD-1A94-04E3-72E9-600EE7FF9BEF}"/>
                </a:ext>
              </a:extLst>
            </p:cNvPr>
            <p:cNvPicPr preferRelativeResize="0"/>
            <p:nvPr/>
          </p:nvPicPr>
          <p:blipFill>
            <a:blip r:embed="rId3"/>
            <a:srcRect/>
            <a:stretch/>
          </p:blipFill>
          <p:spPr>
            <a:xfrm>
              <a:off x="285750" y="0"/>
              <a:ext cx="18002250" cy="10287000"/>
            </a:xfrm>
            <a:prstGeom prst="rect">
              <a:avLst/>
            </a:prstGeom>
            <a:noFill/>
            <a:ln>
              <a:noFill/>
            </a:ln>
          </p:spPr>
        </p:pic>
        <p:grpSp>
          <p:nvGrpSpPr>
            <p:cNvPr id="525" name="Google Shape;525;p26">
              <a:extLst>
                <a:ext uri="{FF2B5EF4-FFF2-40B4-BE49-F238E27FC236}">
                  <a16:creationId xmlns:a16="http://schemas.microsoft.com/office/drawing/2014/main" id="{929F730B-A59B-10B6-C297-F5895B2D8437}"/>
                </a:ext>
              </a:extLst>
            </p:cNvPr>
            <p:cNvGrpSpPr/>
            <p:nvPr/>
          </p:nvGrpSpPr>
          <p:grpSpPr>
            <a:xfrm>
              <a:off x="584906" y="963879"/>
              <a:ext cx="16619696" cy="8798580"/>
              <a:chOff x="0" y="-41123"/>
              <a:chExt cx="4377204" cy="2317322"/>
            </a:xfrm>
          </p:grpSpPr>
          <p:sp>
            <p:nvSpPr>
              <p:cNvPr id="526" name="Google Shape;526;p26">
                <a:extLst>
                  <a:ext uri="{FF2B5EF4-FFF2-40B4-BE49-F238E27FC236}">
                    <a16:creationId xmlns:a16="http://schemas.microsoft.com/office/drawing/2014/main" id="{87BA6C90-F531-5E36-8EA1-2C194038B5F2}"/>
                  </a:ext>
                </a:extLst>
              </p:cNvPr>
              <p:cNvSpPr/>
              <p:nvPr/>
            </p:nvSpPr>
            <p:spPr>
              <a:xfrm>
                <a:off x="0" y="0"/>
                <a:ext cx="4361191" cy="2269697"/>
              </a:xfrm>
              <a:custGeom>
                <a:avLst/>
                <a:gdLst/>
                <a:ahLst/>
                <a:cxnLst/>
                <a:rect l="l" t="t" r="r" b="b"/>
                <a:pathLst>
                  <a:path w="4361191" h="2269697" extrusionOk="0">
                    <a:moveTo>
                      <a:pt x="23844" y="0"/>
                    </a:moveTo>
                    <a:lnTo>
                      <a:pt x="4337347" y="0"/>
                    </a:lnTo>
                    <a:cubicBezTo>
                      <a:pt x="4343671" y="0"/>
                      <a:pt x="4349736" y="2512"/>
                      <a:pt x="4354207" y="6984"/>
                    </a:cubicBezTo>
                    <a:cubicBezTo>
                      <a:pt x="4358679" y="11456"/>
                      <a:pt x="4361191" y="17521"/>
                      <a:pt x="4361191" y="23844"/>
                    </a:cubicBezTo>
                    <a:lnTo>
                      <a:pt x="4361191" y="2245852"/>
                    </a:lnTo>
                    <a:cubicBezTo>
                      <a:pt x="4361191" y="2259021"/>
                      <a:pt x="4350515" y="2269697"/>
                      <a:pt x="4337347" y="2269697"/>
                    </a:cubicBezTo>
                    <a:lnTo>
                      <a:pt x="23844" y="2269697"/>
                    </a:lnTo>
                    <a:cubicBezTo>
                      <a:pt x="10676" y="2269697"/>
                      <a:pt x="0" y="2259021"/>
                      <a:pt x="0" y="2245852"/>
                    </a:cubicBezTo>
                    <a:lnTo>
                      <a:pt x="0" y="23844"/>
                    </a:lnTo>
                    <a:cubicBezTo>
                      <a:pt x="0" y="17521"/>
                      <a:pt x="2512" y="11456"/>
                      <a:pt x="6984" y="6984"/>
                    </a:cubicBezTo>
                    <a:cubicBezTo>
                      <a:pt x="11456" y="2512"/>
                      <a:pt x="17521" y="0"/>
                      <a:pt x="23844" y="0"/>
                    </a:cubicBezTo>
                    <a:close/>
                  </a:path>
                </a:pathLst>
              </a:custGeom>
              <a:gradFill>
                <a:gsLst>
                  <a:gs pos="0">
                    <a:srgbClr val="5DE0E6"/>
                  </a:gs>
                  <a:gs pos="100000">
                    <a:srgbClr val="004AAD"/>
                  </a:gs>
                </a:gsLst>
                <a:path path="circle">
                  <a:fillToRect r="100000" b="100000"/>
                </a:path>
                <a:tileRect l="-100000" t="-100000"/>
              </a:gradFill>
              <a:ln w="38100" cap="rnd" cmpd="sng">
                <a:solidFill>
                  <a:srgbClr val="FFFE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a:extLst>
                  <a:ext uri="{FF2B5EF4-FFF2-40B4-BE49-F238E27FC236}">
                    <a16:creationId xmlns:a16="http://schemas.microsoft.com/office/drawing/2014/main" id="{9C1C618C-70E3-BA67-C3B4-76FA78948C21}"/>
                  </a:ext>
                </a:extLst>
              </p:cNvPr>
              <p:cNvSpPr txBox="1"/>
              <p:nvPr/>
            </p:nvSpPr>
            <p:spPr>
              <a:xfrm>
                <a:off x="16013" y="-41123"/>
                <a:ext cx="4361191" cy="231732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30" name="Google Shape;530;p26">
            <a:extLst>
              <a:ext uri="{FF2B5EF4-FFF2-40B4-BE49-F238E27FC236}">
                <a16:creationId xmlns:a16="http://schemas.microsoft.com/office/drawing/2014/main" id="{9C41F39C-BF3B-DE2A-2FA8-C371C198DA64}"/>
              </a:ext>
            </a:extLst>
          </p:cNvPr>
          <p:cNvGrpSpPr/>
          <p:nvPr/>
        </p:nvGrpSpPr>
        <p:grpSpPr>
          <a:xfrm rot="10800000">
            <a:off x="15878010" y="6622486"/>
            <a:ext cx="780553" cy="1821165"/>
            <a:chOff x="0" y="-111248"/>
            <a:chExt cx="1040738" cy="2428219"/>
          </a:xfrm>
        </p:grpSpPr>
        <p:grpSp>
          <p:nvGrpSpPr>
            <p:cNvPr id="531" name="Google Shape;531;p26">
              <a:extLst>
                <a:ext uri="{FF2B5EF4-FFF2-40B4-BE49-F238E27FC236}">
                  <a16:creationId xmlns:a16="http://schemas.microsoft.com/office/drawing/2014/main" id="{79EA7D42-1227-E9C1-644B-5F54EA7297D1}"/>
                </a:ext>
              </a:extLst>
            </p:cNvPr>
            <p:cNvGrpSpPr/>
            <p:nvPr/>
          </p:nvGrpSpPr>
          <p:grpSpPr>
            <a:xfrm>
              <a:off x="0" y="572578"/>
              <a:ext cx="564500" cy="1060566"/>
              <a:chOff x="0" y="-47625"/>
              <a:chExt cx="241661" cy="454025"/>
            </a:xfrm>
          </p:grpSpPr>
          <p:sp>
            <p:nvSpPr>
              <p:cNvPr id="532" name="Google Shape;532;p26">
                <a:extLst>
                  <a:ext uri="{FF2B5EF4-FFF2-40B4-BE49-F238E27FC236}">
                    <a16:creationId xmlns:a16="http://schemas.microsoft.com/office/drawing/2014/main" id="{5011DB96-60D2-E444-791D-696462A00253}"/>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3" name="Google Shape;533;p26">
                <a:extLst>
                  <a:ext uri="{FF2B5EF4-FFF2-40B4-BE49-F238E27FC236}">
                    <a16:creationId xmlns:a16="http://schemas.microsoft.com/office/drawing/2014/main" id="{EC754272-0EAF-F229-1424-D5DC60034494}"/>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4" name="Google Shape;534;p26">
              <a:extLst>
                <a:ext uri="{FF2B5EF4-FFF2-40B4-BE49-F238E27FC236}">
                  <a16:creationId xmlns:a16="http://schemas.microsoft.com/office/drawing/2014/main" id="{FA1E8EB2-D8E1-5F42-BA65-DE2735F0C5DE}"/>
                </a:ext>
              </a:extLst>
            </p:cNvPr>
            <p:cNvGrpSpPr/>
            <p:nvPr/>
          </p:nvGrpSpPr>
          <p:grpSpPr>
            <a:xfrm>
              <a:off x="476238" y="-111248"/>
              <a:ext cx="564500" cy="1060566"/>
              <a:chOff x="0" y="-47625"/>
              <a:chExt cx="241661" cy="454025"/>
            </a:xfrm>
          </p:grpSpPr>
          <p:sp>
            <p:nvSpPr>
              <p:cNvPr id="535" name="Google Shape;535;p26">
                <a:extLst>
                  <a:ext uri="{FF2B5EF4-FFF2-40B4-BE49-F238E27FC236}">
                    <a16:creationId xmlns:a16="http://schemas.microsoft.com/office/drawing/2014/main" id="{87D59C58-B04F-B090-8AA8-21B44C571853}"/>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6" name="Google Shape;536;p26">
                <a:extLst>
                  <a:ext uri="{FF2B5EF4-FFF2-40B4-BE49-F238E27FC236}">
                    <a16:creationId xmlns:a16="http://schemas.microsoft.com/office/drawing/2014/main" id="{BF3DC905-E55A-CFFC-74BB-BAC69066A640}"/>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7" name="Google Shape;537;p26">
              <a:extLst>
                <a:ext uri="{FF2B5EF4-FFF2-40B4-BE49-F238E27FC236}">
                  <a16:creationId xmlns:a16="http://schemas.microsoft.com/office/drawing/2014/main" id="{2F321A6C-2797-A6BF-8ABA-675A5C19B5E9}"/>
                </a:ext>
              </a:extLst>
            </p:cNvPr>
            <p:cNvGrpSpPr/>
            <p:nvPr/>
          </p:nvGrpSpPr>
          <p:grpSpPr>
            <a:xfrm>
              <a:off x="476238" y="1256405"/>
              <a:ext cx="564500" cy="1060566"/>
              <a:chOff x="0" y="-47625"/>
              <a:chExt cx="241661" cy="454025"/>
            </a:xfrm>
          </p:grpSpPr>
          <p:sp>
            <p:nvSpPr>
              <p:cNvPr id="538" name="Google Shape;538;p26">
                <a:extLst>
                  <a:ext uri="{FF2B5EF4-FFF2-40B4-BE49-F238E27FC236}">
                    <a16:creationId xmlns:a16="http://schemas.microsoft.com/office/drawing/2014/main" id="{B8AFAE47-9418-A5D8-A24B-A03A9319734D}"/>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39" name="Google Shape;539;p26">
                <a:extLst>
                  <a:ext uri="{FF2B5EF4-FFF2-40B4-BE49-F238E27FC236}">
                    <a16:creationId xmlns:a16="http://schemas.microsoft.com/office/drawing/2014/main" id="{15231947-0F9B-0616-07EF-DE743B4DE818}"/>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540" name="Google Shape;540;p26">
            <a:extLst>
              <a:ext uri="{FF2B5EF4-FFF2-40B4-BE49-F238E27FC236}">
                <a16:creationId xmlns:a16="http://schemas.microsoft.com/office/drawing/2014/main" id="{19CA8EAA-24B0-E77E-5928-838FEDAECD11}"/>
              </a:ext>
            </a:extLst>
          </p:cNvPr>
          <p:cNvGrpSpPr/>
          <p:nvPr/>
        </p:nvGrpSpPr>
        <p:grpSpPr>
          <a:xfrm>
            <a:off x="1783278" y="1507635"/>
            <a:ext cx="780553" cy="1821165"/>
            <a:chOff x="0" y="-111248"/>
            <a:chExt cx="1040738" cy="2428219"/>
          </a:xfrm>
        </p:grpSpPr>
        <p:grpSp>
          <p:nvGrpSpPr>
            <p:cNvPr id="541" name="Google Shape;541;p26">
              <a:extLst>
                <a:ext uri="{FF2B5EF4-FFF2-40B4-BE49-F238E27FC236}">
                  <a16:creationId xmlns:a16="http://schemas.microsoft.com/office/drawing/2014/main" id="{EDA57991-A2B7-9DFF-16B9-BDCC1FC4320B}"/>
                </a:ext>
              </a:extLst>
            </p:cNvPr>
            <p:cNvGrpSpPr/>
            <p:nvPr/>
          </p:nvGrpSpPr>
          <p:grpSpPr>
            <a:xfrm>
              <a:off x="0" y="572578"/>
              <a:ext cx="564500" cy="1060566"/>
              <a:chOff x="0" y="-47625"/>
              <a:chExt cx="241661" cy="454025"/>
            </a:xfrm>
          </p:grpSpPr>
          <p:sp>
            <p:nvSpPr>
              <p:cNvPr id="542" name="Google Shape;542;p26">
                <a:extLst>
                  <a:ext uri="{FF2B5EF4-FFF2-40B4-BE49-F238E27FC236}">
                    <a16:creationId xmlns:a16="http://schemas.microsoft.com/office/drawing/2014/main" id="{9760629F-F70F-303B-30BF-4B723411CE12}"/>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3" name="Google Shape;543;p26">
                <a:extLst>
                  <a:ext uri="{FF2B5EF4-FFF2-40B4-BE49-F238E27FC236}">
                    <a16:creationId xmlns:a16="http://schemas.microsoft.com/office/drawing/2014/main" id="{09F83D9B-AB66-1E31-FAA2-BE98B82AEB1B}"/>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4" name="Google Shape;544;p26">
              <a:extLst>
                <a:ext uri="{FF2B5EF4-FFF2-40B4-BE49-F238E27FC236}">
                  <a16:creationId xmlns:a16="http://schemas.microsoft.com/office/drawing/2014/main" id="{63FD1F91-8EAB-6E9E-94C4-B9DB09F33D86}"/>
                </a:ext>
              </a:extLst>
            </p:cNvPr>
            <p:cNvGrpSpPr/>
            <p:nvPr/>
          </p:nvGrpSpPr>
          <p:grpSpPr>
            <a:xfrm>
              <a:off x="476238" y="-111248"/>
              <a:ext cx="564500" cy="1060566"/>
              <a:chOff x="0" y="-47625"/>
              <a:chExt cx="241661" cy="454025"/>
            </a:xfrm>
          </p:grpSpPr>
          <p:sp>
            <p:nvSpPr>
              <p:cNvPr id="545" name="Google Shape;545;p26">
                <a:extLst>
                  <a:ext uri="{FF2B5EF4-FFF2-40B4-BE49-F238E27FC236}">
                    <a16:creationId xmlns:a16="http://schemas.microsoft.com/office/drawing/2014/main" id="{07D4C996-0636-7605-77EC-17C2A572501F}"/>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6" name="Google Shape;546;p26">
                <a:extLst>
                  <a:ext uri="{FF2B5EF4-FFF2-40B4-BE49-F238E27FC236}">
                    <a16:creationId xmlns:a16="http://schemas.microsoft.com/office/drawing/2014/main" id="{B309343B-10D2-07AB-E741-57412A9C3709}"/>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7" name="Google Shape;547;p26">
              <a:extLst>
                <a:ext uri="{FF2B5EF4-FFF2-40B4-BE49-F238E27FC236}">
                  <a16:creationId xmlns:a16="http://schemas.microsoft.com/office/drawing/2014/main" id="{B5B980D7-8612-691F-CE5D-31CAEB420ADC}"/>
                </a:ext>
              </a:extLst>
            </p:cNvPr>
            <p:cNvGrpSpPr/>
            <p:nvPr/>
          </p:nvGrpSpPr>
          <p:grpSpPr>
            <a:xfrm>
              <a:off x="476238" y="1256405"/>
              <a:ext cx="564500" cy="1060566"/>
              <a:chOff x="0" y="-47625"/>
              <a:chExt cx="241661" cy="454025"/>
            </a:xfrm>
          </p:grpSpPr>
          <p:sp>
            <p:nvSpPr>
              <p:cNvPr id="548" name="Google Shape;548;p26">
                <a:extLst>
                  <a:ext uri="{FF2B5EF4-FFF2-40B4-BE49-F238E27FC236}">
                    <a16:creationId xmlns:a16="http://schemas.microsoft.com/office/drawing/2014/main" id="{5B4EDB53-4C30-78B1-1EE7-8B6E383D775F}"/>
                  </a:ext>
                </a:extLst>
              </p:cNvPr>
              <p:cNvSpPr/>
              <p:nvPr/>
            </p:nvSpPr>
            <p:spPr>
              <a:xfrm>
                <a:off x="0" y="0"/>
                <a:ext cx="241661" cy="406400"/>
              </a:xfrm>
              <a:custGeom>
                <a:avLst/>
                <a:gdLst/>
                <a:ahLst/>
                <a:cxnLst/>
                <a:rect l="l" t="t" r="r" b="b"/>
                <a:pathLst>
                  <a:path w="241661" h="406400" extrusionOk="0">
                    <a:moveTo>
                      <a:pt x="38461" y="0"/>
                    </a:moveTo>
                    <a:lnTo>
                      <a:pt x="0" y="0"/>
                    </a:lnTo>
                    <a:lnTo>
                      <a:pt x="0" y="406400"/>
                    </a:lnTo>
                    <a:lnTo>
                      <a:pt x="38461" y="406400"/>
                    </a:lnTo>
                    <a:lnTo>
                      <a:pt x="241661" y="203200"/>
                    </a:lnTo>
                    <a:lnTo>
                      <a:pt x="38461" y="0"/>
                    </a:lnTo>
                    <a:close/>
                  </a:path>
                </a:pathLst>
              </a:custGeom>
              <a:solidFill>
                <a:srgbClr val="FFFE00"/>
              </a:solidFill>
              <a:ln>
                <a:noFill/>
              </a:ln>
            </p:spPr>
            <p:txBody>
              <a:bodyPr/>
              <a:lstStyle/>
              <a:p>
                <a:endParaRPr lang="en-US"/>
              </a:p>
            </p:txBody>
          </p:sp>
          <p:sp>
            <p:nvSpPr>
              <p:cNvPr id="549" name="Google Shape;549;p26">
                <a:extLst>
                  <a:ext uri="{FF2B5EF4-FFF2-40B4-BE49-F238E27FC236}">
                    <a16:creationId xmlns:a16="http://schemas.microsoft.com/office/drawing/2014/main" id="{1EB8E2DD-85FD-6AA8-8758-A860AFD6A0F4}"/>
                  </a:ext>
                </a:extLst>
              </p:cNvPr>
              <p:cNvSpPr txBox="1"/>
              <p:nvPr/>
            </p:nvSpPr>
            <p:spPr>
              <a:xfrm>
                <a:off x="0" y="-47625"/>
                <a:ext cx="127361"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 name="Title 2">
            <a:extLst>
              <a:ext uri="{FF2B5EF4-FFF2-40B4-BE49-F238E27FC236}">
                <a16:creationId xmlns:a16="http://schemas.microsoft.com/office/drawing/2014/main" id="{225E4487-97DB-75D3-5EF3-21D3671F0B33}"/>
              </a:ext>
            </a:extLst>
          </p:cNvPr>
          <p:cNvSpPr>
            <a:spLocks noGrp="1"/>
          </p:cNvSpPr>
          <p:nvPr>
            <p:ph type="title"/>
          </p:nvPr>
        </p:nvSpPr>
        <p:spPr>
          <a:xfrm>
            <a:off x="2497634" y="1239520"/>
            <a:ext cx="12803400" cy="1143000"/>
          </a:xfrm>
        </p:spPr>
        <p:txBody>
          <a:bodyPr>
            <a:normAutofit fontScale="90000"/>
          </a:bodyPr>
          <a:lstStyle/>
          <a:p>
            <a:r>
              <a:rPr lang="en-US"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Why MLP ?</a:t>
            </a:r>
          </a:p>
        </p:txBody>
      </p:sp>
      <p:grpSp>
        <p:nvGrpSpPr>
          <p:cNvPr id="610" name="Group 609">
            <a:extLst>
              <a:ext uri="{FF2B5EF4-FFF2-40B4-BE49-F238E27FC236}">
                <a16:creationId xmlns:a16="http://schemas.microsoft.com/office/drawing/2014/main" id="{B802A2D5-3CBF-D49E-5C07-5728BBBA3539}"/>
              </a:ext>
            </a:extLst>
          </p:cNvPr>
          <p:cNvGrpSpPr/>
          <p:nvPr/>
        </p:nvGrpSpPr>
        <p:grpSpPr>
          <a:xfrm>
            <a:off x="2764068" y="2303063"/>
            <a:ext cx="10993764" cy="7001253"/>
            <a:chOff x="638416" y="851839"/>
            <a:chExt cx="15557552" cy="8915012"/>
          </a:xfrm>
        </p:grpSpPr>
        <p:cxnSp>
          <p:nvCxnSpPr>
            <p:cNvPr id="16" name="Straight Connector 15">
              <a:extLst>
                <a:ext uri="{FF2B5EF4-FFF2-40B4-BE49-F238E27FC236}">
                  <a16:creationId xmlns:a16="http://schemas.microsoft.com/office/drawing/2014/main" id="{3987AADD-B67E-66FC-C095-A5CE42AF3E5D}"/>
                </a:ext>
              </a:extLst>
            </p:cNvPr>
            <p:cNvCxnSpPr>
              <a:cxnSpLocks/>
            </p:cNvCxnSpPr>
            <p:nvPr/>
          </p:nvCxnSpPr>
          <p:spPr>
            <a:xfrm flipH="1">
              <a:off x="10831326" y="6563331"/>
              <a:ext cx="350777" cy="6046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703DBB3-3CBD-1E67-F0D5-CE347980FEA4}"/>
                </a:ext>
              </a:extLst>
            </p:cNvPr>
            <p:cNvCxnSpPr>
              <a:cxnSpLocks/>
              <a:stCxn id="10" idx="1"/>
            </p:cNvCxnSpPr>
            <p:nvPr/>
          </p:nvCxnSpPr>
          <p:spPr>
            <a:xfrm flipH="1" flipV="1">
              <a:off x="9726954" y="4076293"/>
              <a:ext cx="848851" cy="69252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4EDF6C-4968-1A89-59C6-EB6B513BAB8D}"/>
                </a:ext>
              </a:extLst>
            </p:cNvPr>
            <p:cNvCxnSpPr/>
            <p:nvPr/>
          </p:nvCxnSpPr>
          <p:spPr>
            <a:xfrm flipV="1">
              <a:off x="9154619" y="1406266"/>
              <a:ext cx="443753" cy="1022853"/>
            </a:xfrm>
            <a:prstGeom prst="line">
              <a:avLst/>
            </a:prstGeom>
          </p:spPr>
          <p:style>
            <a:lnRef idx="1">
              <a:schemeClr val="accent1"/>
            </a:lnRef>
            <a:fillRef idx="0">
              <a:schemeClr val="accent1"/>
            </a:fillRef>
            <a:effectRef idx="0">
              <a:schemeClr val="accent1"/>
            </a:effectRef>
            <a:fontRef idx="minor">
              <a:schemeClr val="tx1"/>
            </a:fontRef>
          </p:style>
        </p:cxnSp>
        <p:sp>
          <p:nvSpPr>
            <p:cNvPr id="29" name="Flowchart: Connector 28">
              <a:extLst>
                <a:ext uri="{FF2B5EF4-FFF2-40B4-BE49-F238E27FC236}">
                  <a16:creationId xmlns:a16="http://schemas.microsoft.com/office/drawing/2014/main" id="{FCB5F8BA-65CF-AEDC-0478-6C81E0234D78}"/>
                </a:ext>
              </a:extLst>
            </p:cNvPr>
            <p:cNvSpPr/>
            <p:nvPr/>
          </p:nvSpPr>
          <p:spPr>
            <a:xfrm>
              <a:off x="12390028" y="2382242"/>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48F9262F-2601-8F0C-7AA5-DB6BA10F0129}"/>
                </a:ext>
              </a:extLst>
            </p:cNvPr>
            <p:cNvSpPr/>
            <p:nvPr/>
          </p:nvSpPr>
          <p:spPr>
            <a:xfrm>
              <a:off x="14052176" y="4480848"/>
              <a:ext cx="793376" cy="847164"/>
            </a:xfrm>
            <a:prstGeom prst="flowChartConnecto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045E06E1-4E61-33A4-B129-FF94A610AD30}"/>
                </a:ext>
              </a:extLst>
            </p:cNvPr>
            <p:cNvSpPr/>
            <p:nvPr/>
          </p:nvSpPr>
          <p:spPr>
            <a:xfrm>
              <a:off x="10249291" y="4458316"/>
              <a:ext cx="2229580" cy="2120260"/>
            </a:xfrm>
            <a:prstGeom prst="flowChartConnector">
              <a:avLst/>
            </a:prstGeom>
            <a:solidFill>
              <a:srgbClr val="FF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rgbClr val="FFFF00"/>
                  </a:solidFill>
                </a:rPr>
                <a:t>Supports real-time detection with low false positives </a:t>
              </a:r>
            </a:p>
          </p:txBody>
        </p:sp>
        <p:sp>
          <p:nvSpPr>
            <p:cNvPr id="55" name="Flowchart: Connector 54">
              <a:extLst>
                <a:ext uri="{FF2B5EF4-FFF2-40B4-BE49-F238E27FC236}">
                  <a16:creationId xmlns:a16="http://schemas.microsoft.com/office/drawing/2014/main" id="{96EDEB84-BE68-EFC1-F828-819F03E9B831}"/>
                </a:ext>
              </a:extLst>
            </p:cNvPr>
            <p:cNvSpPr/>
            <p:nvPr/>
          </p:nvSpPr>
          <p:spPr>
            <a:xfrm>
              <a:off x="14354518" y="6910893"/>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Connector 55">
              <a:extLst>
                <a:ext uri="{FF2B5EF4-FFF2-40B4-BE49-F238E27FC236}">
                  <a16:creationId xmlns:a16="http://schemas.microsoft.com/office/drawing/2014/main" id="{1D5079B7-1F68-2936-FFF9-3A49BA4E6919}"/>
                </a:ext>
              </a:extLst>
            </p:cNvPr>
            <p:cNvSpPr/>
            <p:nvPr/>
          </p:nvSpPr>
          <p:spPr>
            <a:xfrm>
              <a:off x="15402592" y="2236704"/>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4" name="Straight Connector 553">
              <a:extLst>
                <a:ext uri="{FF2B5EF4-FFF2-40B4-BE49-F238E27FC236}">
                  <a16:creationId xmlns:a16="http://schemas.microsoft.com/office/drawing/2014/main" id="{012BFC61-4AA4-457E-17C2-FE6589DBE570}"/>
                </a:ext>
              </a:extLst>
            </p:cNvPr>
            <p:cNvCxnSpPr>
              <a:endCxn id="29" idx="2"/>
            </p:cNvCxnSpPr>
            <p:nvPr/>
          </p:nvCxnSpPr>
          <p:spPr>
            <a:xfrm flipV="1">
              <a:off x="9726954" y="2805824"/>
              <a:ext cx="2663074" cy="166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939BD07-B027-860B-5ED6-BEEC4134F034}"/>
                </a:ext>
              </a:extLst>
            </p:cNvPr>
            <p:cNvCxnSpPr>
              <a:endCxn id="29" idx="4"/>
            </p:cNvCxnSpPr>
            <p:nvPr/>
          </p:nvCxnSpPr>
          <p:spPr>
            <a:xfrm flipV="1">
              <a:off x="12082183" y="3143598"/>
              <a:ext cx="704533" cy="16265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A5418EAE-F434-8CB6-1D89-A7A3D6C570F2}"/>
                </a:ext>
              </a:extLst>
            </p:cNvPr>
            <p:cNvCxnSpPr/>
            <p:nvPr/>
          </p:nvCxnSpPr>
          <p:spPr>
            <a:xfrm flipV="1">
              <a:off x="12478871" y="5131238"/>
              <a:ext cx="1573305" cy="26913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3B93F1B2-D3BD-2DF2-055F-5588545B1672}"/>
                </a:ext>
              </a:extLst>
            </p:cNvPr>
            <p:cNvCxnSpPr>
              <a:cxnSpLocks/>
            </p:cNvCxnSpPr>
            <p:nvPr/>
          </p:nvCxnSpPr>
          <p:spPr>
            <a:xfrm>
              <a:off x="12335381" y="6144126"/>
              <a:ext cx="2019137" cy="9912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9C966929-12AC-B0C8-E8A7-7C1F38D5A0EE}"/>
                </a:ext>
              </a:extLst>
            </p:cNvPr>
            <p:cNvCxnSpPr>
              <a:stCxn id="35" idx="7"/>
              <a:endCxn id="56" idx="3"/>
            </p:cNvCxnSpPr>
            <p:nvPr/>
          </p:nvCxnSpPr>
          <p:spPr>
            <a:xfrm flipV="1">
              <a:off x="14729365" y="2959804"/>
              <a:ext cx="789414" cy="1645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E5C21DA8-3643-8130-0307-BDDF720D0FE4}"/>
                </a:ext>
              </a:extLst>
            </p:cNvPr>
            <p:cNvCxnSpPr/>
            <p:nvPr/>
          </p:nvCxnSpPr>
          <p:spPr>
            <a:xfrm>
              <a:off x="13183404" y="2660286"/>
              <a:ext cx="22191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4A3B52D0-F60E-6C0D-B72E-F83A892FE673}"/>
                </a:ext>
              </a:extLst>
            </p:cNvPr>
            <p:cNvCxnSpPr>
              <a:cxnSpLocks/>
            </p:cNvCxnSpPr>
            <p:nvPr/>
          </p:nvCxnSpPr>
          <p:spPr>
            <a:xfrm>
              <a:off x="6063574" y="6480156"/>
              <a:ext cx="332121" cy="731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E554777E-B0F1-53BE-0F01-8FD697D05A68}"/>
                </a:ext>
              </a:extLst>
            </p:cNvPr>
            <p:cNvCxnSpPr>
              <a:cxnSpLocks/>
            </p:cNvCxnSpPr>
            <p:nvPr/>
          </p:nvCxnSpPr>
          <p:spPr>
            <a:xfrm flipH="1">
              <a:off x="6958496" y="4120207"/>
              <a:ext cx="881445" cy="693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0EA8B1B6-4FA3-D598-CED3-D8F79245C0C6}"/>
                </a:ext>
              </a:extLst>
            </p:cNvPr>
            <p:cNvCxnSpPr>
              <a:cxnSpLocks/>
            </p:cNvCxnSpPr>
            <p:nvPr/>
          </p:nvCxnSpPr>
          <p:spPr>
            <a:xfrm flipH="1">
              <a:off x="8033387" y="8388478"/>
              <a:ext cx="1269816" cy="0"/>
            </a:xfrm>
            <a:prstGeom prst="line">
              <a:avLst/>
            </a:prstGeom>
          </p:spPr>
          <p:style>
            <a:lnRef idx="1">
              <a:schemeClr val="accent1"/>
            </a:lnRef>
            <a:fillRef idx="0">
              <a:schemeClr val="accent1"/>
            </a:fillRef>
            <a:effectRef idx="0">
              <a:schemeClr val="accent1"/>
            </a:effectRef>
            <a:fontRef idx="minor">
              <a:schemeClr val="tx1"/>
            </a:fontRef>
          </p:style>
        </p:cxnSp>
        <p:sp>
          <p:nvSpPr>
            <p:cNvPr id="584" name="Flowchart: Connector 583">
              <a:extLst>
                <a:ext uri="{FF2B5EF4-FFF2-40B4-BE49-F238E27FC236}">
                  <a16:creationId xmlns:a16="http://schemas.microsoft.com/office/drawing/2014/main" id="{F1AB5746-FDF6-1B14-ABE1-4369F634BEFE}"/>
                </a:ext>
              </a:extLst>
            </p:cNvPr>
            <p:cNvSpPr/>
            <p:nvPr/>
          </p:nvSpPr>
          <p:spPr>
            <a:xfrm>
              <a:off x="3657219" y="3564440"/>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Flowchart: Connector 584">
              <a:extLst>
                <a:ext uri="{FF2B5EF4-FFF2-40B4-BE49-F238E27FC236}">
                  <a16:creationId xmlns:a16="http://schemas.microsoft.com/office/drawing/2014/main" id="{164E93FE-B579-5690-4283-19479E38224F}"/>
                </a:ext>
              </a:extLst>
            </p:cNvPr>
            <p:cNvSpPr/>
            <p:nvPr/>
          </p:nvSpPr>
          <p:spPr>
            <a:xfrm>
              <a:off x="3590174" y="8919686"/>
              <a:ext cx="793376" cy="847165"/>
            </a:xfrm>
            <a:prstGeom prst="flowChartConnecto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Flowchart: Connector 585">
              <a:extLst>
                <a:ext uri="{FF2B5EF4-FFF2-40B4-BE49-F238E27FC236}">
                  <a16:creationId xmlns:a16="http://schemas.microsoft.com/office/drawing/2014/main" id="{9146EF38-4A10-B56C-7C4A-06F7DDE3F7CF}"/>
                </a:ext>
              </a:extLst>
            </p:cNvPr>
            <p:cNvSpPr/>
            <p:nvPr/>
          </p:nvSpPr>
          <p:spPr>
            <a:xfrm>
              <a:off x="12082183" y="8873661"/>
              <a:ext cx="793376" cy="847164"/>
            </a:xfrm>
            <a:prstGeom prst="flowChartConnecto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Flowchart: Connector 586">
              <a:extLst>
                <a:ext uri="{FF2B5EF4-FFF2-40B4-BE49-F238E27FC236}">
                  <a16:creationId xmlns:a16="http://schemas.microsoft.com/office/drawing/2014/main" id="{5E4149CA-DE4B-A879-970E-14C6F105830A}"/>
                </a:ext>
              </a:extLst>
            </p:cNvPr>
            <p:cNvSpPr/>
            <p:nvPr/>
          </p:nvSpPr>
          <p:spPr>
            <a:xfrm>
              <a:off x="9534632" y="851839"/>
              <a:ext cx="793376" cy="847164"/>
            </a:xfrm>
            <a:prstGeom prst="flowChartConnector">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8" name="Group 587">
              <a:extLst>
                <a:ext uri="{FF2B5EF4-FFF2-40B4-BE49-F238E27FC236}">
                  <a16:creationId xmlns:a16="http://schemas.microsoft.com/office/drawing/2014/main" id="{158E7091-D000-41C9-AE18-5F81E2717428}"/>
                </a:ext>
              </a:extLst>
            </p:cNvPr>
            <p:cNvGrpSpPr/>
            <p:nvPr/>
          </p:nvGrpSpPr>
          <p:grpSpPr>
            <a:xfrm>
              <a:off x="4799617" y="4379474"/>
              <a:ext cx="2367927" cy="2129626"/>
              <a:chOff x="4810735" y="3328800"/>
              <a:chExt cx="2492263" cy="2455074"/>
            </a:xfrm>
          </p:grpSpPr>
          <p:sp>
            <p:nvSpPr>
              <p:cNvPr id="589" name="Flowchart: Connector 588">
                <a:extLst>
                  <a:ext uri="{FF2B5EF4-FFF2-40B4-BE49-F238E27FC236}">
                    <a16:creationId xmlns:a16="http://schemas.microsoft.com/office/drawing/2014/main" id="{63290D02-193A-A37E-8C23-61498ABA751B}"/>
                  </a:ext>
                </a:extLst>
              </p:cNvPr>
              <p:cNvSpPr/>
              <p:nvPr/>
            </p:nvSpPr>
            <p:spPr>
              <a:xfrm>
                <a:off x="4810735" y="3328800"/>
                <a:ext cx="2492263" cy="2455074"/>
              </a:xfrm>
              <a:prstGeom prst="flowChartConnector">
                <a:avLst/>
              </a:prstGeom>
              <a:solidFill>
                <a:srgbClr val="00B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90" name="TextBox 589">
                <a:extLst>
                  <a:ext uri="{FF2B5EF4-FFF2-40B4-BE49-F238E27FC236}">
                    <a16:creationId xmlns:a16="http://schemas.microsoft.com/office/drawing/2014/main" id="{8621DDDC-0529-16F7-26FF-598CA554DCC4}"/>
                  </a:ext>
                </a:extLst>
              </p:cNvPr>
              <p:cNvSpPr txBox="1"/>
              <p:nvPr/>
            </p:nvSpPr>
            <p:spPr>
              <a:xfrm>
                <a:off x="5216718" y="3796351"/>
                <a:ext cx="1958430" cy="1716827"/>
              </a:xfrm>
              <a:prstGeom prst="rect">
                <a:avLst/>
              </a:prstGeom>
              <a:noFill/>
            </p:spPr>
            <p:txBody>
              <a:bodyPr wrap="square" rtlCol="0">
                <a:spAutoFit/>
              </a:bodyPr>
              <a:lstStyle/>
              <a:p>
                <a:r>
                  <a:rPr lang="en-US">
                    <a:solidFill>
                      <a:srgbClr val="FFFF00"/>
                    </a:solidFill>
                  </a:rPr>
                  <a:t>Learns non-linear patterns, detects anomalies</a:t>
                </a:r>
              </a:p>
            </p:txBody>
          </p:sp>
        </p:grpSp>
        <p:sp>
          <p:nvSpPr>
            <p:cNvPr id="591" name="Flowchart: Connector 590">
              <a:extLst>
                <a:ext uri="{FF2B5EF4-FFF2-40B4-BE49-F238E27FC236}">
                  <a16:creationId xmlns:a16="http://schemas.microsoft.com/office/drawing/2014/main" id="{422381DC-5635-E243-7A86-F1C473CB0959}"/>
                </a:ext>
              </a:extLst>
            </p:cNvPr>
            <p:cNvSpPr/>
            <p:nvPr/>
          </p:nvSpPr>
          <p:spPr>
            <a:xfrm>
              <a:off x="7567458" y="2503849"/>
              <a:ext cx="2367927" cy="2129626"/>
            </a:xfrm>
            <a:prstGeom prst="flowChartConnector">
              <a:avLst/>
            </a:prstGeom>
            <a:solidFill>
              <a:schemeClr val="accent6">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rgbClr val="FFFF00"/>
                  </a:solidFill>
                </a:rPr>
                <a:t>Adapts to new threats</a:t>
              </a:r>
            </a:p>
          </p:txBody>
        </p:sp>
        <p:sp>
          <p:nvSpPr>
            <p:cNvPr id="592" name="Flowchart: Connector 591">
              <a:extLst>
                <a:ext uri="{FF2B5EF4-FFF2-40B4-BE49-F238E27FC236}">
                  <a16:creationId xmlns:a16="http://schemas.microsoft.com/office/drawing/2014/main" id="{92E7C58E-65B8-CD7B-A9BC-F7A3942F5DE3}"/>
                </a:ext>
              </a:extLst>
            </p:cNvPr>
            <p:cNvSpPr/>
            <p:nvPr/>
          </p:nvSpPr>
          <p:spPr>
            <a:xfrm>
              <a:off x="5803807" y="7058328"/>
              <a:ext cx="2229580" cy="2129626"/>
            </a:xfrm>
            <a:prstGeom prst="flowChartConnector">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rgbClr val="FFFF00"/>
                  </a:solidFill>
                </a:rPr>
                <a:t>Provides quick predictions after training </a:t>
              </a:r>
            </a:p>
          </p:txBody>
        </p:sp>
        <p:sp>
          <p:nvSpPr>
            <p:cNvPr id="593" name="Flowchart: Connector 592">
              <a:extLst>
                <a:ext uri="{FF2B5EF4-FFF2-40B4-BE49-F238E27FC236}">
                  <a16:creationId xmlns:a16="http://schemas.microsoft.com/office/drawing/2014/main" id="{F5BF8D8A-53CC-506E-9B26-E1E536AA4BD0}"/>
                </a:ext>
              </a:extLst>
            </p:cNvPr>
            <p:cNvSpPr/>
            <p:nvPr/>
          </p:nvSpPr>
          <p:spPr>
            <a:xfrm>
              <a:off x="9303203" y="7211884"/>
              <a:ext cx="2187071" cy="2001121"/>
            </a:xfrm>
            <a:prstGeom prst="flowChartConnector">
              <a:avLst/>
            </a:prstGeom>
            <a:solidFill>
              <a:srgbClr val="7030A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rgbClr val="FFFF00"/>
                  </a:solidFill>
                </a:rPr>
                <a:t>Works well with large input data</a:t>
              </a:r>
            </a:p>
          </p:txBody>
        </p:sp>
        <p:sp>
          <p:nvSpPr>
            <p:cNvPr id="594" name="Flowchart: Connector 593">
              <a:extLst>
                <a:ext uri="{FF2B5EF4-FFF2-40B4-BE49-F238E27FC236}">
                  <a16:creationId xmlns:a16="http://schemas.microsoft.com/office/drawing/2014/main" id="{85A96C1A-07F7-D713-1A5A-CFE3056157D8}"/>
                </a:ext>
              </a:extLst>
            </p:cNvPr>
            <p:cNvSpPr/>
            <p:nvPr/>
          </p:nvSpPr>
          <p:spPr>
            <a:xfrm>
              <a:off x="881923" y="6530372"/>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Flowchart: Connector 594">
              <a:extLst>
                <a:ext uri="{FF2B5EF4-FFF2-40B4-BE49-F238E27FC236}">
                  <a16:creationId xmlns:a16="http://schemas.microsoft.com/office/drawing/2014/main" id="{D1815B99-BBF0-582E-87F5-75670D24D8A3}"/>
                </a:ext>
              </a:extLst>
            </p:cNvPr>
            <p:cNvSpPr/>
            <p:nvPr/>
          </p:nvSpPr>
          <p:spPr>
            <a:xfrm>
              <a:off x="4446056" y="1538024"/>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Flowchart: Connector 595">
              <a:extLst>
                <a:ext uri="{FF2B5EF4-FFF2-40B4-BE49-F238E27FC236}">
                  <a16:creationId xmlns:a16="http://schemas.microsoft.com/office/drawing/2014/main" id="{8274A194-9C6B-188C-A925-42B699F3CF98}"/>
                </a:ext>
              </a:extLst>
            </p:cNvPr>
            <p:cNvSpPr/>
            <p:nvPr/>
          </p:nvSpPr>
          <p:spPr>
            <a:xfrm>
              <a:off x="638416" y="3568662"/>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Flowchart: Connector 596">
              <a:extLst>
                <a:ext uri="{FF2B5EF4-FFF2-40B4-BE49-F238E27FC236}">
                  <a16:creationId xmlns:a16="http://schemas.microsoft.com/office/drawing/2014/main" id="{3D3A9BF6-DFB9-6BBE-8635-030D56E87661}"/>
                </a:ext>
              </a:extLst>
            </p:cNvPr>
            <p:cNvSpPr/>
            <p:nvPr/>
          </p:nvSpPr>
          <p:spPr>
            <a:xfrm>
              <a:off x="3590174" y="6364720"/>
              <a:ext cx="793376" cy="847164"/>
            </a:xfrm>
            <a:prstGeom prst="flowChartConnector">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8" name="Straight Connector 597">
              <a:extLst>
                <a:ext uri="{FF2B5EF4-FFF2-40B4-BE49-F238E27FC236}">
                  <a16:creationId xmlns:a16="http://schemas.microsoft.com/office/drawing/2014/main" id="{C400643E-2926-1D76-0A7D-96EB559ABFE1}"/>
                </a:ext>
              </a:extLst>
            </p:cNvPr>
            <p:cNvCxnSpPr/>
            <p:nvPr/>
          </p:nvCxnSpPr>
          <p:spPr>
            <a:xfrm flipV="1">
              <a:off x="4383550" y="6095090"/>
              <a:ext cx="618756" cy="527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894B28E-032F-B78C-4D50-1C11093A37EB}"/>
                </a:ext>
              </a:extLst>
            </p:cNvPr>
            <p:cNvCxnSpPr>
              <a:endCxn id="594" idx="5"/>
            </p:cNvCxnSpPr>
            <p:nvPr/>
          </p:nvCxnSpPr>
          <p:spPr>
            <a:xfrm flipH="1" flipV="1">
              <a:off x="1675299" y="7211884"/>
              <a:ext cx="1914875" cy="1976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5AE06D3C-F87B-6E9C-F6DA-2C5FF6E35AED}"/>
                </a:ext>
              </a:extLst>
            </p:cNvPr>
            <p:cNvCxnSpPr>
              <a:endCxn id="594" idx="6"/>
            </p:cNvCxnSpPr>
            <p:nvPr/>
          </p:nvCxnSpPr>
          <p:spPr>
            <a:xfrm flipH="1">
              <a:off x="1675299" y="6666400"/>
              <a:ext cx="1914875" cy="287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3069441A-52F7-6578-27A6-A1DA53D6F5A6}"/>
                </a:ext>
              </a:extLst>
            </p:cNvPr>
            <p:cNvCxnSpPr>
              <a:endCxn id="597" idx="1"/>
            </p:cNvCxnSpPr>
            <p:nvPr/>
          </p:nvCxnSpPr>
          <p:spPr>
            <a:xfrm>
              <a:off x="1431792" y="4120207"/>
              <a:ext cx="2274569" cy="2368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D0C12442-338B-39CC-71BE-55FB207C3D18}"/>
                </a:ext>
              </a:extLst>
            </p:cNvPr>
            <p:cNvCxnSpPr/>
            <p:nvPr/>
          </p:nvCxnSpPr>
          <p:spPr>
            <a:xfrm>
              <a:off x="1431792" y="3805282"/>
              <a:ext cx="22254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a16="http://schemas.microsoft.com/office/drawing/2014/main" id="{A523405E-79F6-993A-FCF2-07D633619D60}"/>
                </a:ext>
              </a:extLst>
            </p:cNvPr>
            <p:cNvCxnSpPr/>
            <p:nvPr/>
          </p:nvCxnSpPr>
          <p:spPr>
            <a:xfrm flipV="1">
              <a:off x="4383550" y="8636585"/>
              <a:ext cx="1600030" cy="551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4" name="Straight Connector 603">
              <a:extLst>
                <a:ext uri="{FF2B5EF4-FFF2-40B4-BE49-F238E27FC236}">
                  <a16:creationId xmlns:a16="http://schemas.microsoft.com/office/drawing/2014/main" id="{7F97302B-F6F8-25EA-0D68-8DF2A406F6F7}"/>
                </a:ext>
              </a:extLst>
            </p:cNvPr>
            <p:cNvCxnSpPr/>
            <p:nvPr/>
          </p:nvCxnSpPr>
          <p:spPr>
            <a:xfrm flipH="1">
              <a:off x="4182035" y="2346974"/>
              <a:ext cx="510893" cy="1217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5" name="Straight Connector 604">
              <a:extLst>
                <a:ext uri="{FF2B5EF4-FFF2-40B4-BE49-F238E27FC236}">
                  <a16:creationId xmlns:a16="http://schemas.microsoft.com/office/drawing/2014/main" id="{50EC0180-BE5E-55E5-059D-BAED497CA081}"/>
                </a:ext>
              </a:extLst>
            </p:cNvPr>
            <p:cNvCxnSpPr/>
            <p:nvPr/>
          </p:nvCxnSpPr>
          <p:spPr>
            <a:xfrm>
              <a:off x="5002306" y="2346974"/>
              <a:ext cx="801501" cy="2032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6" name="Straight Connector 605">
              <a:extLst>
                <a:ext uri="{FF2B5EF4-FFF2-40B4-BE49-F238E27FC236}">
                  <a16:creationId xmlns:a16="http://schemas.microsoft.com/office/drawing/2014/main" id="{FF61B6B7-32BE-C321-3B9C-A8069CB61C2D}"/>
                </a:ext>
              </a:extLst>
            </p:cNvPr>
            <p:cNvCxnSpPr/>
            <p:nvPr/>
          </p:nvCxnSpPr>
          <p:spPr>
            <a:xfrm>
              <a:off x="5183565" y="2064419"/>
              <a:ext cx="2650825" cy="7853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a16="http://schemas.microsoft.com/office/drawing/2014/main" id="{23548342-656C-921D-824C-458DAF8264C3}"/>
                </a:ext>
              </a:extLst>
            </p:cNvPr>
            <p:cNvCxnSpPr>
              <a:stCxn id="584" idx="4"/>
            </p:cNvCxnSpPr>
            <p:nvPr/>
          </p:nvCxnSpPr>
          <p:spPr>
            <a:xfrm flipH="1">
              <a:off x="3986862" y="4411604"/>
              <a:ext cx="67045" cy="194718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a16="http://schemas.microsoft.com/office/drawing/2014/main" id="{BBF58B26-5361-DC6F-DFB7-9411735D8270}"/>
                </a:ext>
              </a:extLst>
            </p:cNvPr>
            <p:cNvCxnSpPr>
              <a:endCxn id="586" idx="1"/>
            </p:cNvCxnSpPr>
            <p:nvPr/>
          </p:nvCxnSpPr>
          <p:spPr>
            <a:xfrm>
              <a:off x="11248088" y="8757608"/>
              <a:ext cx="950282" cy="240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a16="http://schemas.microsoft.com/office/drawing/2014/main" id="{031F5B34-0898-3C63-7EEF-B427F9E9FDD2}"/>
                </a:ext>
              </a:extLst>
            </p:cNvPr>
            <p:cNvCxnSpPr>
              <a:stCxn id="586" idx="7"/>
            </p:cNvCxnSpPr>
            <p:nvPr/>
          </p:nvCxnSpPr>
          <p:spPr>
            <a:xfrm flipV="1">
              <a:off x="12759372" y="7535264"/>
              <a:ext cx="1595146" cy="1462461"/>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1864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7F259-44B4-1747-2C67-4F9115677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79277-7C91-01D1-3ABE-1B54BB24328C}"/>
              </a:ext>
            </a:extLst>
          </p:cNvPr>
          <p:cNvSpPr>
            <a:spLocks noGrp="1"/>
          </p:cNvSpPr>
          <p:nvPr>
            <p:ph type="ctrTitle"/>
          </p:nvPr>
        </p:nvSpPr>
        <p:spPr>
          <a:xfrm>
            <a:off x="2791350" y="2153599"/>
            <a:ext cx="12705300" cy="1470000"/>
          </a:xfrm>
        </p:spPr>
        <p:txBody>
          <a:bodyPr>
            <a:normAutofit fontScale="90000"/>
          </a:bodyPr>
          <a:lstStyle/>
          <a:p>
            <a:r>
              <a:rPr lang="en-US"/>
              <a:t>Multi-Layer-Perceptron Model (MLP)</a:t>
            </a:r>
            <a:endParaRPr lang="en-US">
              <a:solidFill>
                <a:srgbClr val="000000"/>
              </a:solidFill>
            </a:endParaRPr>
          </a:p>
          <a:p>
            <a:endParaRPr lang="en-US"/>
          </a:p>
        </p:txBody>
      </p:sp>
      <p:sp>
        <p:nvSpPr>
          <p:cNvPr id="3" name="Subtitle 2">
            <a:extLst>
              <a:ext uri="{FF2B5EF4-FFF2-40B4-BE49-F238E27FC236}">
                <a16:creationId xmlns:a16="http://schemas.microsoft.com/office/drawing/2014/main" id="{B2B89F85-8D54-FEE5-978E-40EBA8D1487B}"/>
              </a:ext>
            </a:extLst>
          </p:cNvPr>
          <p:cNvSpPr>
            <a:spLocks noGrp="1"/>
          </p:cNvSpPr>
          <p:nvPr>
            <p:ph type="subTitle" idx="1"/>
          </p:nvPr>
        </p:nvSpPr>
        <p:spPr/>
        <p:txBody>
          <a:bodyPr/>
          <a:lstStyle/>
          <a:p>
            <a:endParaRPr lang="en-US"/>
          </a:p>
        </p:txBody>
      </p:sp>
      <p:pic>
        <p:nvPicPr>
          <p:cNvPr id="6" name="Picture 5" descr="A diagram of a network&#10;&#10;AI-generated content may be incorrect.">
            <a:extLst>
              <a:ext uri="{FF2B5EF4-FFF2-40B4-BE49-F238E27FC236}">
                <a16:creationId xmlns:a16="http://schemas.microsoft.com/office/drawing/2014/main" id="{CC4F7557-A28C-354F-5432-A26B85321171}"/>
              </a:ext>
            </a:extLst>
          </p:cNvPr>
          <p:cNvPicPr>
            <a:picLocks noChangeAspect="1"/>
          </p:cNvPicPr>
          <p:nvPr/>
        </p:nvPicPr>
        <p:blipFill>
          <a:blip r:embed="rId2"/>
          <a:stretch>
            <a:fillRect/>
          </a:stretch>
        </p:blipFill>
        <p:spPr>
          <a:xfrm>
            <a:off x="1599885" y="3521137"/>
            <a:ext cx="6442736" cy="5579349"/>
          </a:xfrm>
          <a:prstGeom prst="rect">
            <a:avLst/>
          </a:prstGeom>
        </p:spPr>
      </p:pic>
      <p:pic>
        <p:nvPicPr>
          <p:cNvPr id="8" name="Picture 7" descr="A network diagram with circles and lines&#10;&#10;AI-generated content may be incorrect.">
            <a:extLst>
              <a:ext uri="{FF2B5EF4-FFF2-40B4-BE49-F238E27FC236}">
                <a16:creationId xmlns:a16="http://schemas.microsoft.com/office/drawing/2014/main" id="{3D460EA3-80B9-093E-C778-731E354230F3}"/>
              </a:ext>
            </a:extLst>
          </p:cNvPr>
          <p:cNvPicPr>
            <a:picLocks noChangeAspect="1"/>
          </p:cNvPicPr>
          <p:nvPr/>
        </p:nvPicPr>
        <p:blipFill>
          <a:blip r:embed="rId3"/>
          <a:stretch>
            <a:fillRect/>
          </a:stretch>
        </p:blipFill>
        <p:spPr>
          <a:xfrm>
            <a:off x="8629650" y="3596786"/>
            <a:ext cx="8414239" cy="5432181"/>
          </a:xfrm>
          <a:prstGeom prst="rect">
            <a:avLst/>
          </a:prstGeom>
        </p:spPr>
      </p:pic>
    </p:spTree>
    <p:extLst>
      <p:ext uri="{BB962C8B-B14F-4D97-AF65-F5344CB8AC3E}">
        <p14:creationId xmlns:p14="http://schemas.microsoft.com/office/powerpoint/2010/main" val="192352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ACB8D-E643-0407-D57D-3F1621D2E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E975F-D684-E37A-F9C7-D04F6CA4C1E0}"/>
              </a:ext>
            </a:extLst>
          </p:cNvPr>
          <p:cNvSpPr>
            <a:spLocks noGrp="1"/>
          </p:cNvSpPr>
          <p:nvPr>
            <p:ph type="ctrTitle"/>
          </p:nvPr>
        </p:nvSpPr>
        <p:spPr/>
        <p:txBody>
          <a:bodyPr>
            <a:normAutofit fontScale="90000"/>
          </a:bodyPr>
          <a:lstStyle/>
          <a:p>
            <a:r>
              <a:rPr lang="en-US"/>
              <a:t>Multi-Layer-Perceptron Model - Metrics</a:t>
            </a:r>
          </a:p>
        </p:txBody>
      </p:sp>
      <p:sp>
        <p:nvSpPr>
          <p:cNvPr id="3" name="Subtitle 2">
            <a:extLst>
              <a:ext uri="{FF2B5EF4-FFF2-40B4-BE49-F238E27FC236}">
                <a16:creationId xmlns:a16="http://schemas.microsoft.com/office/drawing/2014/main" id="{A4B44C00-CFAB-7D71-15C4-A473F9CEF8D8}"/>
              </a:ext>
            </a:extLst>
          </p:cNvPr>
          <p:cNvSpPr>
            <a:spLocks noGrp="1"/>
          </p:cNvSpPr>
          <p:nvPr>
            <p:ph type="subTitle" idx="1"/>
          </p:nvPr>
        </p:nvSpPr>
        <p:spPr/>
        <p:txBody>
          <a:bodyPr/>
          <a:lstStyle/>
          <a:p>
            <a:endParaRPr lang="en-US"/>
          </a:p>
        </p:txBody>
      </p:sp>
      <p:pic>
        <p:nvPicPr>
          <p:cNvPr id="6" name="Picture 5" descr="A white paper with black text&#10;&#10;AI-generated content may be incorrect.">
            <a:extLst>
              <a:ext uri="{FF2B5EF4-FFF2-40B4-BE49-F238E27FC236}">
                <a16:creationId xmlns:a16="http://schemas.microsoft.com/office/drawing/2014/main" id="{0067EDDA-C700-CA04-88DA-564F4AF69960}"/>
              </a:ext>
            </a:extLst>
          </p:cNvPr>
          <p:cNvPicPr>
            <a:picLocks noChangeAspect="1"/>
          </p:cNvPicPr>
          <p:nvPr/>
        </p:nvPicPr>
        <p:blipFill>
          <a:blip r:embed="rId2"/>
          <a:stretch>
            <a:fillRect/>
          </a:stretch>
        </p:blipFill>
        <p:spPr>
          <a:xfrm>
            <a:off x="1557704" y="3685360"/>
            <a:ext cx="7842739" cy="3749920"/>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6ED76129-20DD-C25D-26C8-F632E1B75C4A}"/>
              </a:ext>
            </a:extLst>
          </p:cNvPr>
          <p:cNvPicPr>
            <a:picLocks noChangeAspect="1"/>
          </p:cNvPicPr>
          <p:nvPr/>
        </p:nvPicPr>
        <p:blipFill>
          <a:blip r:embed="rId3"/>
          <a:stretch>
            <a:fillRect/>
          </a:stretch>
        </p:blipFill>
        <p:spPr>
          <a:xfrm>
            <a:off x="9712790" y="3391877"/>
            <a:ext cx="7258100" cy="5909734"/>
          </a:xfrm>
          <a:prstGeom prst="rect">
            <a:avLst/>
          </a:prstGeom>
        </p:spPr>
      </p:pic>
    </p:spTree>
    <p:extLst>
      <p:ext uri="{BB962C8B-B14F-4D97-AF65-F5344CB8AC3E}">
        <p14:creationId xmlns:p14="http://schemas.microsoft.com/office/powerpoint/2010/main" val="2843012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BBB54-08DD-3D9D-A6FF-020957EC4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DBD5D-E7CB-0EE0-6B60-C8D547A91820}"/>
              </a:ext>
            </a:extLst>
          </p:cNvPr>
          <p:cNvSpPr>
            <a:spLocks noGrp="1"/>
          </p:cNvSpPr>
          <p:nvPr>
            <p:ph type="ctrTitle"/>
          </p:nvPr>
        </p:nvSpPr>
        <p:spPr>
          <a:xfrm>
            <a:off x="-358250" y="1284317"/>
            <a:ext cx="14652633" cy="1470000"/>
          </a:xfrm>
        </p:spPr>
        <p:txBody>
          <a:bodyPr>
            <a:normAutofit fontScale="90000"/>
          </a:bodyPr>
          <a:lstStyle/>
          <a:p>
            <a:r>
              <a:rPr lang="en-US"/>
              <a:t>Multi-Layer-Perceptron</a:t>
            </a:r>
            <a:br>
              <a:rPr lang="en-US"/>
            </a:br>
            <a:r>
              <a:rPr lang="en-US"/>
              <a:t> Model - Code</a:t>
            </a:r>
          </a:p>
        </p:txBody>
      </p:sp>
      <p:sp>
        <p:nvSpPr>
          <p:cNvPr id="3" name="Subtitle 2">
            <a:extLst>
              <a:ext uri="{FF2B5EF4-FFF2-40B4-BE49-F238E27FC236}">
                <a16:creationId xmlns:a16="http://schemas.microsoft.com/office/drawing/2014/main" id="{E2249459-A73A-A6F8-C2D3-8ED16E867FFD}"/>
              </a:ext>
            </a:extLst>
          </p:cNvPr>
          <p:cNvSpPr>
            <a:spLocks noGrp="1"/>
          </p:cNvSpPr>
          <p:nvPr>
            <p:ph type="subTitle" idx="1"/>
          </p:nvPr>
        </p:nvSpPr>
        <p:spPr/>
        <p:txBody>
          <a:bodyPr/>
          <a:lstStyle/>
          <a:p>
            <a:endParaRPr lang="en-US"/>
          </a:p>
        </p:txBody>
      </p:sp>
      <p:pic>
        <p:nvPicPr>
          <p:cNvPr id="4" name="Picture 3" descr="A screenshot of a computer program&#10;&#10;AI-generated content may be incorrect.">
            <a:extLst>
              <a:ext uri="{FF2B5EF4-FFF2-40B4-BE49-F238E27FC236}">
                <a16:creationId xmlns:a16="http://schemas.microsoft.com/office/drawing/2014/main" id="{16DB1DC8-AACC-6E82-B688-7A82CF35D1CC}"/>
              </a:ext>
            </a:extLst>
          </p:cNvPr>
          <p:cNvPicPr>
            <a:picLocks noChangeAspect="1"/>
          </p:cNvPicPr>
          <p:nvPr/>
        </p:nvPicPr>
        <p:blipFill>
          <a:blip r:embed="rId2"/>
          <a:stretch>
            <a:fillRect/>
          </a:stretch>
        </p:blipFill>
        <p:spPr>
          <a:xfrm>
            <a:off x="10391202" y="2291210"/>
            <a:ext cx="5783390" cy="7179733"/>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27838459-C6BD-51A6-9437-A137EC0428A8}"/>
              </a:ext>
            </a:extLst>
          </p:cNvPr>
          <p:cNvPicPr>
            <a:picLocks noChangeAspect="1"/>
          </p:cNvPicPr>
          <p:nvPr/>
        </p:nvPicPr>
        <p:blipFill>
          <a:blip r:embed="rId3"/>
          <a:stretch>
            <a:fillRect/>
          </a:stretch>
        </p:blipFill>
        <p:spPr>
          <a:xfrm>
            <a:off x="1303460" y="4293577"/>
            <a:ext cx="7047035" cy="2702170"/>
          </a:xfrm>
          <a:prstGeom prst="rect">
            <a:avLst/>
          </a:prstGeom>
        </p:spPr>
      </p:pic>
      <p:sp>
        <p:nvSpPr>
          <p:cNvPr id="9" name="Arrow: Right 8">
            <a:extLst>
              <a:ext uri="{FF2B5EF4-FFF2-40B4-BE49-F238E27FC236}">
                <a16:creationId xmlns:a16="http://schemas.microsoft.com/office/drawing/2014/main" id="{8EDFDADD-78C5-36BB-86E2-506FFE2AC53B}"/>
              </a:ext>
            </a:extLst>
          </p:cNvPr>
          <p:cNvSpPr/>
          <p:nvPr/>
        </p:nvSpPr>
        <p:spPr>
          <a:xfrm>
            <a:off x="8880231" y="4800599"/>
            <a:ext cx="1336430" cy="10199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170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BEBC-B054-8C17-5E50-53ED8F88D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BC626-838A-3AE4-A3D4-D47A6A499B1A}"/>
              </a:ext>
            </a:extLst>
          </p:cNvPr>
          <p:cNvSpPr>
            <a:spLocks noGrp="1"/>
          </p:cNvSpPr>
          <p:nvPr>
            <p:ph type="ctrTitle"/>
          </p:nvPr>
        </p:nvSpPr>
        <p:spPr>
          <a:xfrm>
            <a:off x="-499569" y="1048955"/>
            <a:ext cx="15359514" cy="1470000"/>
          </a:xfrm>
        </p:spPr>
        <p:txBody>
          <a:bodyPr>
            <a:normAutofit fontScale="90000"/>
          </a:bodyPr>
          <a:lstStyle/>
          <a:p>
            <a:r>
              <a:rPr lang="en-US"/>
              <a:t>Multi-Layer-Perceptron Model  Preliminary Results</a:t>
            </a:r>
          </a:p>
        </p:txBody>
      </p:sp>
      <p:sp>
        <p:nvSpPr>
          <p:cNvPr id="3" name="Subtitle 2">
            <a:extLst>
              <a:ext uri="{FF2B5EF4-FFF2-40B4-BE49-F238E27FC236}">
                <a16:creationId xmlns:a16="http://schemas.microsoft.com/office/drawing/2014/main" id="{FAD58D40-85F8-8342-F4D4-34F2EFB90EDE}"/>
              </a:ext>
            </a:extLst>
          </p:cNvPr>
          <p:cNvSpPr>
            <a:spLocks noGrp="1"/>
          </p:cNvSpPr>
          <p:nvPr>
            <p:ph type="subTitle" idx="1"/>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C092A104-7885-ED0D-1639-1902B051E46B}"/>
              </a:ext>
            </a:extLst>
          </p:cNvPr>
          <p:cNvPicPr>
            <a:picLocks noChangeAspect="1"/>
          </p:cNvPicPr>
          <p:nvPr/>
        </p:nvPicPr>
        <p:blipFill>
          <a:blip r:embed="rId2"/>
          <a:stretch>
            <a:fillRect/>
          </a:stretch>
        </p:blipFill>
        <p:spPr>
          <a:xfrm>
            <a:off x="1333499" y="2909358"/>
            <a:ext cx="5672667" cy="2148417"/>
          </a:xfrm>
          <a:prstGeom prst="rect">
            <a:avLst/>
          </a:prstGeom>
        </p:spPr>
      </p:pic>
      <p:pic>
        <p:nvPicPr>
          <p:cNvPr id="7" name="Picture 6" descr="A table of numbers and letters&#10;&#10;AI-generated content may be incorrect.">
            <a:extLst>
              <a:ext uri="{FF2B5EF4-FFF2-40B4-BE49-F238E27FC236}">
                <a16:creationId xmlns:a16="http://schemas.microsoft.com/office/drawing/2014/main" id="{8613782C-93A1-62F8-6075-90BDDB9AF2A8}"/>
              </a:ext>
            </a:extLst>
          </p:cNvPr>
          <p:cNvPicPr>
            <a:picLocks noChangeAspect="1"/>
          </p:cNvPicPr>
          <p:nvPr/>
        </p:nvPicPr>
        <p:blipFill>
          <a:blip r:embed="rId3"/>
          <a:stretch>
            <a:fillRect/>
          </a:stretch>
        </p:blipFill>
        <p:spPr>
          <a:xfrm>
            <a:off x="1024466" y="5451475"/>
            <a:ext cx="6485468" cy="3117851"/>
          </a:xfrm>
          <a:prstGeom prst="rect">
            <a:avLst/>
          </a:prstGeom>
        </p:spPr>
      </p:pic>
      <p:pic>
        <p:nvPicPr>
          <p:cNvPr id="6" name="Picture 5" descr="A graph with orange lines and numbers&#10;&#10;AI-generated content may be incorrect.">
            <a:extLst>
              <a:ext uri="{FF2B5EF4-FFF2-40B4-BE49-F238E27FC236}">
                <a16:creationId xmlns:a16="http://schemas.microsoft.com/office/drawing/2014/main" id="{B95CDEA5-DC47-D50C-E219-E83B1E443D8B}"/>
              </a:ext>
            </a:extLst>
          </p:cNvPr>
          <p:cNvPicPr>
            <a:picLocks noChangeAspect="1"/>
          </p:cNvPicPr>
          <p:nvPr/>
        </p:nvPicPr>
        <p:blipFill>
          <a:blip r:embed="rId4"/>
          <a:stretch>
            <a:fillRect/>
          </a:stretch>
        </p:blipFill>
        <p:spPr>
          <a:xfrm>
            <a:off x="11894853" y="1977455"/>
            <a:ext cx="5067301" cy="3323167"/>
          </a:xfrm>
          <a:prstGeom prst="rect">
            <a:avLst/>
          </a:prstGeom>
        </p:spPr>
      </p:pic>
      <p:pic>
        <p:nvPicPr>
          <p:cNvPr id="9" name="Picture 8" descr="A black background with a black text&#10;&#10;AI-generated content may be incorrect.">
            <a:extLst>
              <a:ext uri="{FF2B5EF4-FFF2-40B4-BE49-F238E27FC236}">
                <a16:creationId xmlns:a16="http://schemas.microsoft.com/office/drawing/2014/main" id="{C65D7499-758A-B41D-B208-BB950134BBCE}"/>
              </a:ext>
            </a:extLst>
          </p:cNvPr>
          <p:cNvPicPr>
            <a:picLocks noChangeAspect="1"/>
          </p:cNvPicPr>
          <p:nvPr/>
        </p:nvPicPr>
        <p:blipFill>
          <a:blip r:embed="rId5"/>
          <a:stretch>
            <a:fillRect/>
          </a:stretch>
        </p:blipFill>
        <p:spPr>
          <a:xfrm>
            <a:off x="11153205" y="2274031"/>
            <a:ext cx="4618893" cy="593482"/>
          </a:xfrm>
          <a:prstGeom prst="rect">
            <a:avLst/>
          </a:prstGeom>
        </p:spPr>
      </p:pic>
      <p:pic>
        <p:nvPicPr>
          <p:cNvPr id="10" name="Picture 9" descr="A black and white sign with black text&#10;&#10;AI-generated content may be incorrect.">
            <a:extLst>
              <a:ext uri="{FF2B5EF4-FFF2-40B4-BE49-F238E27FC236}">
                <a16:creationId xmlns:a16="http://schemas.microsoft.com/office/drawing/2014/main" id="{3D301A05-7EC3-5DDB-519F-4213E201E07F}"/>
              </a:ext>
            </a:extLst>
          </p:cNvPr>
          <p:cNvPicPr>
            <a:picLocks noChangeAspect="1"/>
          </p:cNvPicPr>
          <p:nvPr/>
        </p:nvPicPr>
        <p:blipFill>
          <a:blip r:embed="rId6"/>
          <a:stretch>
            <a:fillRect/>
          </a:stretch>
        </p:blipFill>
        <p:spPr>
          <a:xfrm>
            <a:off x="12321117" y="6185958"/>
            <a:ext cx="3721101" cy="2165351"/>
          </a:xfrm>
          <a:prstGeom prst="rect">
            <a:avLst/>
          </a:prstGeom>
        </p:spPr>
      </p:pic>
      <p:sp>
        <p:nvSpPr>
          <p:cNvPr id="11" name="Rectangle 10">
            <a:extLst>
              <a:ext uri="{FF2B5EF4-FFF2-40B4-BE49-F238E27FC236}">
                <a16:creationId xmlns:a16="http://schemas.microsoft.com/office/drawing/2014/main" id="{F7A638A3-262C-A72B-72B3-3C02DF995B25}"/>
              </a:ext>
            </a:extLst>
          </p:cNvPr>
          <p:cNvSpPr/>
          <p:nvPr/>
        </p:nvSpPr>
        <p:spPr>
          <a:xfrm>
            <a:off x="5300133" y="5554133"/>
            <a:ext cx="626533" cy="303106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852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0B723-DD17-1942-C4F4-A49DC0D2C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364DE-A580-8218-1ED4-52AA980EE29C}"/>
              </a:ext>
            </a:extLst>
          </p:cNvPr>
          <p:cNvSpPr>
            <a:spLocks noGrp="1"/>
          </p:cNvSpPr>
          <p:nvPr>
            <p:ph type="ctrTitle"/>
          </p:nvPr>
        </p:nvSpPr>
        <p:spPr>
          <a:xfrm>
            <a:off x="2929431" y="704490"/>
            <a:ext cx="15359514" cy="1470000"/>
          </a:xfrm>
        </p:spPr>
        <p:txBody>
          <a:bodyPr>
            <a:normAutofit fontScale="90000"/>
          </a:bodyPr>
          <a:lstStyle/>
          <a:p>
            <a:pPr algn="l"/>
            <a:r>
              <a:rPr lang="en-US"/>
              <a:t>Multi-Layer-Perceptron Model                                     Final Results</a:t>
            </a:r>
          </a:p>
        </p:txBody>
      </p:sp>
      <p:pic>
        <p:nvPicPr>
          <p:cNvPr id="4" name="Picture 3" descr="A screenshot of a computer&#10;&#10;AI-generated content may be incorrect.">
            <a:extLst>
              <a:ext uri="{FF2B5EF4-FFF2-40B4-BE49-F238E27FC236}">
                <a16:creationId xmlns:a16="http://schemas.microsoft.com/office/drawing/2014/main" id="{D63561CA-B797-9699-5ABE-41A69F03A67B}"/>
              </a:ext>
            </a:extLst>
          </p:cNvPr>
          <p:cNvPicPr>
            <a:picLocks noChangeAspect="1"/>
          </p:cNvPicPr>
          <p:nvPr/>
        </p:nvPicPr>
        <p:blipFill>
          <a:blip r:embed="rId2"/>
          <a:stretch>
            <a:fillRect/>
          </a:stretch>
        </p:blipFill>
        <p:spPr>
          <a:xfrm>
            <a:off x="1254756" y="2057074"/>
            <a:ext cx="6885010" cy="698704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4609329-5288-6C29-09AD-5B539F94B4CE}"/>
              </a:ext>
            </a:extLst>
          </p:cNvPr>
          <p:cNvPicPr>
            <a:picLocks noChangeAspect="1"/>
          </p:cNvPicPr>
          <p:nvPr/>
        </p:nvPicPr>
        <p:blipFill>
          <a:blip r:embed="rId3"/>
          <a:stretch>
            <a:fillRect/>
          </a:stretch>
        </p:blipFill>
        <p:spPr>
          <a:xfrm>
            <a:off x="9141978" y="4000499"/>
            <a:ext cx="8036360" cy="1972849"/>
          </a:xfrm>
          <a:prstGeom prst="rect">
            <a:avLst/>
          </a:prstGeom>
        </p:spPr>
      </p:pic>
    </p:spTree>
    <p:extLst>
      <p:ext uri="{BB962C8B-B14F-4D97-AF65-F5344CB8AC3E}">
        <p14:creationId xmlns:p14="http://schemas.microsoft.com/office/powerpoint/2010/main" val="3113130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221DD-9891-694D-4F40-29E04A977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16098-556F-BB8B-3DAA-9F2FAEF71CB9}"/>
              </a:ext>
            </a:extLst>
          </p:cNvPr>
          <p:cNvSpPr>
            <a:spLocks noGrp="1"/>
          </p:cNvSpPr>
          <p:nvPr>
            <p:ph type="ctrTitle"/>
          </p:nvPr>
        </p:nvSpPr>
        <p:spPr>
          <a:xfrm>
            <a:off x="1776057" y="1315983"/>
            <a:ext cx="14725121" cy="1563945"/>
          </a:xfrm>
        </p:spPr>
        <p:txBody>
          <a:bodyPr>
            <a:normAutofit/>
          </a:bodyPr>
          <a:lstStyle/>
          <a:p>
            <a:r>
              <a:rPr lang="en-US"/>
              <a:t>Lessons Learned,</a:t>
            </a:r>
          </a:p>
        </p:txBody>
      </p:sp>
      <p:sp>
        <p:nvSpPr>
          <p:cNvPr id="7" name="Google Shape;142;p13">
            <a:extLst>
              <a:ext uri="{FF2B5EF4-FFF2-40B4-BE49-F238E27FC236}">
                <a16:creationId xmlns:a16="http://schemas.microsoft.com/office/drawing/2014/main" id="{322F737C-692C-C123-BA44-78D0F25B0179}"/>
              </a:ext>
            </a:extLst>
          </p:cNvPr>
          <p:cNvSpPr txBox="1"/>
          <p:nvPr/>
        </p:nvSpPr>
        <p:spPr>
          <a:xfrm>
            <a:off x="7579464" y="3384130"/>
            <a:ext cx="3348784" cy="720197"/>
          </a:xfrm>
          <a:prstGeom prst="rect">
            <a:avLst/>
          </a:prstGeom>
          <a:noFill/>
          <a:ln>
            <a:noFill/>
          </a:ln>
        </p:spPr>
        <p:txBody>
          <a:bodyPr spcFirstLastPara="1" wrap="square" lIns="0" tIns="0" rIns="0" bIns="0" anchor="t" anchorCtr="0">
            <a:spAutoFit/>
          </a:bodyPr>
          <a:lstStyle/>
          <a:p>
            <a:pPr algn="ctr">
              <a:lnSpc>
                <a:spcPct val="130000"/>
              </a:lnSpc>
            </a:pPr>
            <a:r>
              <a:rPr lang="en-US" sz="1800">
                <a:solidFill>
                  <a:srgbClr val="FFFF00"/>
                </a:solidFill>
                <a:latin typeface="Inter"/>
                <a:ea typeface="Inter"/>
                <a:cs typeface="Inter"/>
                <a:sym typeface="Inter"/>
              </a:rPr>
              <a:t>Nathan</a:t>
            </a:r>
            <a:r>
              <a:rPr lang="en-US" sz="1800" b="0" i="0" u="none" strike="noStrike" cap="none">
                <a:solidFill>
                  <a:srgbClr val="FFFF00"/>
                </a:solidFill>
                <a:latin typeface="Inter"/>
                <a:ea typeface="Inter"/>
                <a:cs typeface="Inter"/>
                <a:sym typeface="Inter"/>
              </a:rPr>
              <a:t> </a:t>
            </a:r>
            <a:r>
              <a:rPr lang="en-US" sz="1800">
                <a:solidFill>
                  <a:srgbClr val="FFFF00"/>
                </a:solidFill>
                <a:latin typeface="Inter"/>
                <a:ea typeface="Inter"/>
                <a:cs typeface="Inter"/>
                <a:sym typeface="Inter"/>
              </a:rPr>
              <a:t>Poch</a:t>
            </a:r>
            <a:endParaRPr lang="en-US" sz="1800">
              <a:solidFill>
                <a:srgbClr val="FFFF00"/>
              </a:solidFill>
              <a:latin typeface="Inter"/>
              <a:ea typeface="Inter"/>
              <a:cs typeface="Inter"/>
            </a:endParaRPr>
          </a:p>
          <a:p>
            <a:pPr algn="ctr">
              <a:lnSpc>
                <a:spcPct val="130000"/>
              </a:lnSpc>
            </a:pPr>
            <a:r>
              <a:rPr lang="en-US" sz="1800">
                <a:solidFill>
                  <a:srgbClr val="FFFF00"/>
                </a:solidFill>
                <a:latin typeface="Inter"/>
                <a:ea typeface="Inter"/>
                <a:cs typeface="Inter"/>
                <a:sym typeface="Inter"/>
              </a:rPr>
              <a:t>Masters in Cyber Security </a:t>
            </a:r>
            <a:endParaRPr sz="1800">
              <a:solidFill>
                <a:srgbClr val="FFFF00"/>
              </a:solidFill>
            </a:endParaRPr>
          </a:p>
        </p:txBody>
      </p:sp>
      <p:sp>
        <p:nvSpPr>
          <p:cNvPr id="9" name="TextBox 8">
            <a:extLst>
              <a:ext uri="{FF2B5EF4-FFF2-40B4-BE49-F238E27FC236}">
                <a16:creationId xmlns:a16="http://schemas.microsoft.com/office/drawing/2014/main" id="{A5FFD4EE-E260-D743-1FF3-C10DEE1DAD2A}"/>
              </a:ext>
            </a:extLst>
          </p:cNvPr>
          <p:cNvSpPr txBox="1"/>
          <p:nvPr/>
        </p:nvSpPr>
        <p:spPr>
          <a:xfrm>
            <a:off x="1436816" y="3646422"/>
            <a:ext cx="312876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a:solidFill>
                  <a:srgbClr val="FFFF00"/>
                </a:solidFill>
                <a:latin typeface="Inter"/>
                <a:ea typeface="Inter"/>
              </a:rPr>
              <a:t>Maurisa Dacosta</a:t>
            </a:r>
          </a:p>
          <a:p>
            <a:pPr algn="ctr"/>
            <a:r>
              <a:rPr lang="en-US" sz="1800">
                <a:solidFill>
                  <a:srgbClr val="FFFF00"/>
                </a:solidFill>
                <a:latin typeface="Inter"/>
                <a:ea typeface="Inter"/>
              </a:rPr>
              <a:t>Masters in Computer Science</a:t>
            </a:r>
          </a:p>
        </p:txBody>
      </p:sp>
      <p:sp>
        <p:nvSpPr>
          <p:cNvPr id="11" name="TextBox 10">
            <a:extLst>
              <a:ext uri="{FF2B5EF4-FFF2-40B4-BE49-F238E27FC236}">
                <a16:creationId xmlns:a16="http://schemas.microsoft.com/office/drawing/2014/main" id="{8A9F9620-F463-4312-F6D3-6D024CA18266}"/>
              </a:ext>
            </a:extLst>
          </p:cNvPr>
          <p:cNvSpPr txBox="1"/>
          <p:nvPr/>
        </p:nvSpPr>
        <p:spPr>
          <a:xfrm>
            <a:off x="13102012" y="3282019"/>
            <a:ext cx="3250965"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a:solidFill>
                  <a:srgbClr val="FFFF00"/>
                </a:solidFill>
                <a:latin typeface="Inter"/>
                <a:ea typeface="Inter"/>
              </a:rPr>
              <a:t>Rodrigo Arguello </a:t>
            </a:r>
          </a:p>
          <a:p>
            <a:pPr algn="ctr"/>
            <a:r>
              <a:rPr lang="en-US" sz="1800">
                <a:solidFill>
                  <a:srgbClr val="FFFF00"/>
                </a:solidFill>
                <a:latin typeface="Inter"/>
                <a:ea typeface="Inter"/>
              </a:rPr>
              <a:t>Masters in Computer Science</a:t>
            </a:r>
          </a:p>
          <a:p>
            <a:pPr algn="ctr"/>
            <a:endParaRPr lang="en-US" sz="1100">
              <a:solidFill>
                <a:srgbClr val="FFFF00"/>
              </a:solidFill>
            </a:endParaRPr>
          </a:p>
        </p:txBody>
      </p:sp>
      <p:sp>
        <p:nvSpPr>
          <p:cNvPr id="12" name="TextBox 11">
            <a:extLst>
              <a:ext uri="{FF2B5EF4-FFF2-40B4-BE49-F238E27FC236}">
                <a16:creationId xmlns:a16="http://schemas.microsoft.com/office/drawing/2014/main" id="{727937F6-DCD1-B047-ECDC-92EC2402AD4E}"/>
              </a:ext>
            </a:extLst>
          </p:cNvPr>
          <p:cNvSpPr txBox="1"/>
          <p:nvPr/>
        </p:nvSpPr>
        <p:spPr>
          <a:xfrm>
            <a:off x="867427" y="4711352"/>
            <a:ext cx="584339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Coming from a chemistry background, this has been my first in depth experience with AI and machine learning. It has been exciting teaching myself how to build, train, and tune models as well as doing in depth research on what each hyperparameter means and how it influences a models performance. Also learning performance metrics and the significance behind them helped me broaden my technical skills. I developed a stronger understanding of a machine learning workflow and practiced executing these technical concepts in visualizations for presentations and documentation. </a:t>
            </a:r>
            <a:endParaRPr lang="en-US"/>
          </a:p>
        </p:txBody>
      </p:sp>
      <p:sp>
        <p:nvSpPr>
          <p:cNvPr id="13" name="TextBox 12">
            <a:extLst>
              <a:ext uri="{FF2B5EF4-FFF2-40B4-BE49-F238E27FC236}">
                <a16:creationId xmlns:a16="http://schemas.microsoft.com/office/drawing/2014/main" id="{CD2B4389-4D93-A426-34D2-9F57C0ADAC6A}"/>
              </a:ext>
            </a:extLst>
          </p:cNvPr>
          <p:cNvSpPr txBox="1"/>
          <p:nvPr/>
        </p:nvSpPr>
        <p:spPr>
          <a:xfrm>
            <a:off x="6848606" y="4366886"/>
            <a:ext cx="6454034"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My background in mathematics, cybersecurity, and machine learning has helped me focus in on some of the small details during our data cleaning phase. While I have learned about DistilBERT and how to use it to turn textual data into model-ready tokens, the biggest lessons to learn came from the URL extraction portion of our work. The Top Level Domain based approach offered by URLExtract provided an output on the example email I was analysing that differed from the regular-expression based method in CyberChef. This led me to build a class for extracting URLs that used both URLExtract and RegEx, giving me the best of both worlds, and serving as a reminder to always test the solutions provided by others. Also, while fixing a minor bug in one of the classes I built for this phase, I realized how convenient it was to fix bugs in a class one time as opposed to fixing the same bug in several locations in the code, providing further incentive to take the hard route the first time. Many of my math professors told me, “The great thing about mathematicians is that they are lazy.” This was in reference to making and proving theorems and propositions so that they would not need to solve the same problem over and over again. This bug fixing experience showed me the connection between theorem proving in math and class building in computer science, which I think was a valuable lesson in software engineering.</a:t>
            </a:r>
            <a:endParaRPr lang="en-US" sz="2800"/>
          </a:p>
        </p:txBody>
      </p:sp>
      <p:sp>
        <p:nvSpPr>
          <p:cNvPr id="14" name="TextBox 13">
            <a:extLst>
              <a:ext uri="{FF2B5EF4-FFF2-40B4-BE49-F238E27FC236}">
                <a16:creationId xmlns:a16="http://schemas.microsoft.com/office/drawing/2014/main" id="{19107360-1EF5-93BA-AE80-870A9C88DE15}"/>
              </a:ext>
            </a:extLst>
          </p:cNvPr>
          <p:cNvSpPr txBox="1"/>
          <p:nvPr/>
        </p:nvSpPr>
        <p:spPr>
          <a:xfrm>
            <a:off x="13550030" y="4570434"/>
            <a:ext cx="3463446"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Applying these AI and machine learning lessons can enhance aerospace manufacturing tests by improving anomaly detection, automating data analysis, and optimizing test processes. Understanding model tuning, performance metrics, and modular code design enables the development of smarter systems for identifying early faults, reducing test time, and increasing product reliability, ultimately ensuring </a:t>
            </a:r>
            <a:r>
              <a:rPr lang="en-US" sz="2000">
                <a:latin typeface="Times New Roman"/>
                <a:cs typeface="Times New Roman"/>
              </a:rPr>
              <a:t>higher safety and quality standards across complex aerospace production environments.</a:t>
            </a:r>
            <a:endParaRPr lang="en-US" sz="2800"/>
          </a:p>
        </p:txBody>
      </p:sp>
    </p:spTree>
    <p:extLst>
      <p:ext uri="{BB962C8B-B14F-4D97-AF65-F5344CB8AC3E}">
        <p14:creationId xmlns:p14="http://schemas.microsoft.com/office/powerpoint/2010/main" val="234535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2" grpId="0"/>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47230-AA96-C34D-782D-44CDF98AD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570AD-2988-EF8C-7A04-CDD890E348AA}"/>
              </a:ext>
            </a:extLst>
          </p:cNvPr>
          <p:cNvSpPr>
            <a:spLocks noGrp="1"/>
          </p:cNvSpPr>
          <p:nvPr>
            <p:ph type="ctrTitle"/>
          </p:nvPr>
        </p:nvSpPr>
        <p:spPr>
          <a:xfrm>
            <a:off x="1002151" y="815921"/>
            <a:ext cx="14725121" cy="1563945"/>
          </a:xfrm>
        </p:spPr>
        <p:txBody>
          <a:bodyPr>
            <a:normAutofit/>
          </a:bodyPr>
          <a:lstStyle/>
          <a:p>
            <a:r>
              <a:rPr lang="en-US"/>
              <a:t>Conclusions &amp; Future Work</a:t>
            </a:r>
          </a:p>
        </p:txBody>
      </p:sp>
      <p:pic>
        <p:nvPicPr>
          <p:cNvPr id="4" name="Picture 3" descr="A screenshot of a computer&#10;&#10;AI-generated content may be incorrect.">
            <a:extLst>
              <a:ext uri="{FF2B5EF4-FFF2-40B4-BE49-F238E27FC236}">
                <a16:creationId xmlns:a16="http://schemas.microsoft.com/office/drawing/2014/main" id="{973987E7-E546-8A67-B853-E015243C3BD2}"/>
              </a:ext>
            </a:extLst>
          </p:cNvPr>
          <p:cNvPicPr>
            <a:picLocks noChangeAspect="1"/>
          </p:cNvPicPr>
          <p:nvPr/>
        </p:nvPicPr>
        <p:blipFill>
          <a:blip r:embed="rId2"/>
          <a:stretch>
            <a:fillRect/>
          </a:stretch>
        </p:blipFill>
        <p:spPr>
          <a:xfrm>
            <a:off x="1212056" y="2576513"/>
            <a:ext cx="8029576" cy="3121819"/>
          </a:xfrm>
          <a:prstGeom prst="rect">
            <a:avLst/>
          </a:prstGeom>
        </p:spPr>
      </p:pic>
      <p:sp>
        <p:nvSpPr>
          <p:cNvPr id="3" name="TextBox 2">
            <a:extLst>
              <a:ext uri="{FF2B5EF4-FFF2-40B4-BE49-F238E27FC236}">
                <a16:creationId xmlns:a16="http://schemas.microsoft.com/office/drawing/2014/main" id="{C5EEB236-E0E1-46A4-36BA-8C59BF1AEB8A}"/>
              </a:ext>
            </a:extLst>
          </p:cNvPr>
          <p:cNvSpPr txBox="1"/>
          <p:nvPr/>
        </p:nvSpPr>
        <p:spPr>
          <a:xfrm>
            <a:off x="9891713" y="3128962"/>
            <a:ext cx="6160292"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 ….By the end of the semester, our group produced a working phishing-detection pipeline that, line-by-line and in every detail, matches the milestones we established in our initial project plan. We (</a:t>
            </a:r>
            <a:r>
              <a:rPr lang="en-US" sz="1600" err="1">
                <a:latin typeface="Times New Roman"/>
                <a:cs typeface="Times New Roman"/>
              </a:rPr>
              <a:t>i</a:t>
            </a:r>
            <a:r>
              <a:rPr lang="en-US" sz="1600">
                <a:latin typeface="Times New Roman"/>
                <a:cs typeface="Times New Roman"/>
              </a:rPr>
              <a:t>) integrated six unrelated e-mail corpora, (ii) constructed effective URL-based features, (iii) produced </a:t>
            </a:r>
            <a:r>
              <a:rPr lang="en-US" sz="1600" err="1">
                <a:latin typeface="Times New Roman"/>
                <a:cs typeface="Times New Roman"/>
              </a:rPr>
              <a:t>DistilBERT</a:t>
            </a:r>
            <a:r>
              <a:rPr lang="en-US" sz="1600">
                <a:latin typeface="Times New Roman"/>
                <a:cs typeface="Times New Roman"/>
              </a:rPr>
              <a:t> embeddings, (iv) dimensionally reduced them with PCA, and (v) trained and tuned three state-of-the-state classifiers—Random Forest, </a:t>
            </a:r>
            <a:r>
              <a:rPr lang="en-US" sz="1600" err="1">
                <a:latin typeface="Times New Roman"/>
                <a:cs typeface="Times New Roman"/>
              </a:rPr>
              <a:t>XGBoost</a:t>
            </a:r>
            <a:r>
              <a:rPr lang="en-US" sz="1600">
                <a:latin typeface="Times New Roman"/>
                <a:cs typeface="Times New Roman"/>
              </a:rPr>
              <a:t> and a lightweight MLP—any one of which now reaches ≥96 % accuracy and an AUC ≈ 0.99 on a previously unseen test set. All of our code compiles and executes end-to-end in a reproducible environment. We can show that the problem we selected was neither too grand nor too small: it fell within scope. Still, it yielded immediate applicability in a real-time e-mail-filtering scenario. Each task in our Gantt chart—from data ingestion (Week 2) to final documentation (Week 10)—was either accomplished ahead of schedule or exactly on time. Our Team 5 project meets the goals we established at its initiation." Team 5</a:t>
            </a:r>
            <a:endParaRPr lang="en-US" sz="2800"/>
          </a:p>
        </p:txBody>
      </p:sp>
    </p:spTree>
    <p:extLst>
      <p:ext uri="{BB962C8B-B14F-4D97-AF65-F5344CB8AC3E}">
        <p14:creationId xmlns:p14="http://schemas.microsoft.com/office/powerpoint/2010/main" val="1055737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3533CD"/>
            </a:gs>
          </a:gsLst>
          <a:lin ang="0" scaled="0"/>
        </a:gradFill>
        <a:effectLst/>
      </p:bgPr>
    </p:bg>
    <p:spTree>
      <p:nvGrpSpPr>
        <p:cNvPr id="1" name="Shape 302"/>
        <p:cNvGrpSpPr/>
        <p:nvPr/>
      </p:nvGrpSpPr>
      <p:grpSpPr>
        <a:xfrm>
          <a:off x="0" y="0"/>
          <a:ext cx="0" cy="0"/>
          <a:chOff x="0" y="0"/>
          <a:chExt cx="0" cy="0"/>
        </a:xfrm>
      </p:grpSpPr>
      <p:pic>
        <p:nvPicPr>
          <p:cNvPr id="303" name="Google Shape;303;p18"/>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331" name="Google Shape;331;p18"/>
          <p:cNvSpPr txBox="1"/>
          <p:nvPr/>
        </p:nvSpPr>
        <p:spPr>
          <a:xfrm>
            <a:off x="3453461" y="988358"/>
            <a:ext cx="9821217" cy="166199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000" b="1" i="0" u="none" strike="noStrike">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hakra Petch"/>
                <a:ea typeface="Chakra Petch"/>
                <a:cs typeface="Chakra Petch"/>
                <a:sym typeface="Chakra Petch"/>
              </a:rPr>
              <a:t>References</a:t>
            </a:r>
            <a:endParaRPr lang="en-US"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TextBox 2">
            <a:extLst>
              <a:ext uri="{FF2B5EF4-FFF2-40B4-BE49-F238E27FC236}">
                <a16:creationId xmlns:a16="http://schemas.microsoft.com/office/drawing/2014/main" id="{DDA2C57C-9D67-C5A8-34B3-F309A7C25468}"/>
              </a:ext>
            </a:extLst>
          </p:cNvPr>
          <p:cNvSpPr txBox="1"/>
          <p:nvPr/>
        </p:nvSpPr>
        <p:spPr>
          <a:xfrm>
            <a:off x="1143528" y="1981192"/>
            <a:ext cx="15470265" cy="78483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latin typeface="Times New Roman"/>
                <a:cs typeface="Times New Roman"/>
              </a:rPr>
              <a:t>Used in Presentation:</a:t>
            </a:r>
          </a:p>
          <a:p>
            <a:r>
              <a:rPr lang="en-US" sz="1800">
                <a:solidFill>
                  <a:schemeClr val="bg1"/>
                </a:solidFill>
                <a:latin typeface="Times New Roman"/>
                <a:cs typeface="Times New Roman"/>
              </a:rPr>
              <a:t>Sanh, V., Debut, L., </a:t>
            </a:r>
            <a:r>
              <a:rPr lang="en-US" sz="1800" err="1">
                <a:solidFill>
                  <a:schemeClr val="bg1"/>
                </a:solidFill>
                <a:latin typeface="Times New Roman"/>
                <a:cs typeface="Times New Roman"/>
              </a:rPr>
              <a:t>Chaumond</a:t>
            </a:r>
            <a:r>
              <a:rPr lang="en-US" sz="1800">
                <a:solidFill>
                  <a:schemeClr val="bg1"/>
                </a:solidFill>
                <a:latin typeface="Times New Roman"/>
                <a:cs typeface="Times New Roman"/>
              </a:rPr>
              <a:t>, J., &amp; Wolf, T. (2019). </a:t>
            </a:r>
            <a:r>
              <a:rPr lang="en-US" sz="1800" err="1">
                <a:solidFill>
                  <a:schemeClr val="bg1"/>
                </a:solidFill>
                <a:latin typeface="Times New Roman"/>
                <a:cs typeface="Times New Roman"/>
              </a:rPr>
              <a:t>DistilBERT</a:t>
            </a:r>
            <a:r>
              <a:rPr lang="en-US" sz="1800">
                <a:solidFill>
                  <a:schemeClr val="bg1"/>
                </a:solidFill>
                <a:latin typeface="Times New Roman"/>
                <a:cs typeface="Times New Roman"/>
              </a:rPr>
              <a:t>, a distilled version of BERT: smaller, faster, cheaper and lighter. </a:t>
            </a:r>
            <a:r>
              <a:rPr lang="en-US" sz="1800" err="1">
                <a:solidFill>
                  <a:schemeClr val="bg1"/>
                </a:solidFill>
                <a:latin typeface="Times New Roman"/>
                <a:cs typeface="Times New Roman"/>
              </a:rPr>
              <a:t>arXiv</a:t>
            </a:r>
            <a:r>
              <a:rPr lang="en-US" sz="1800">
                <a:solidFill>
                  <a:schemeClr val="bg1"/>
                </a:solidFill>
                <a:latin typeface="Times New Roman"/>
                <a:cs typeface="Times New Roman"/>
              </a:rPr>
              <a:t> preprint arXiv:1910.01108.</a:t>
            </a:r>
          </a:p>
          <a:p>
            <a:endParaRPr lang="en-US" sz="1800">
              <a:solidFill>
                <a:schemeClr val="bg1"/>
              </a:solidFill>
              <a:latin typeface="Times New Roman" panose="02020603050405020304" pitchFamily="18" charset="0"/>
              <a:cs typeface="Times New Roman" panose="02020603050405020304" pitchFamily="18" charset="0"/>
            </a:endParaRPr>
          </a:p>
          <a:p>
            <a:r>
              <a:rPr lang="en-US" sz="1800">
                <a:solidFill>
                  <a:schemeClr val="bg1"/>
                </a:solidFill>
                <a:latin typeface="Times New Roman"/>
                <a:cs typeface="Times New Roman"/>
              </a:rPr>
              <a:t>Devlin, J., Chang, M. W., Lee, K., &amp; Toutanova, K. (2019, June). Bert: Pre-training of deep bidirectional transformers for language understanding. In Proceedings of the 2019 conference of the North American chapter of the association for computational linguistics: human language technologies, volume 1 (long and short papers) (pp. 4171-4186).</a:t>
            </a:r>
          </a:p>
          <a:p>
            <a:endParaRPr lang="en-US" sz="1800">
              <a:solidFill>
                <a:schemeClr val="bg1"/>
              </a:solidFill>
              <a:latin typeface="Times New Roman" panose="02020603050405020304" pitchFamily="18" charset="0"/>
              <a:cs typeface="Times New Roman" panose="02020603050405020304" pitchFamily="18" charset="0"/>
            </a:endParaRPr>
          </a:p>
          <a:p>
            <a:r>
              <a:rPr lang="en-US" sz="1800">
                <a:solidFill>
                  <a:schemeClr val="bg1"/>
                </a:solidFill>
                <a:latin typeface="Times New Roman"/>
                <a:cs typeface="Times New Roman"/>
              </a:rPr>
              <a:t>Owen, A., &amp; White, E. (2024). Evaluating the Effectiveness of AI-Based Phishing Detection in IoT Communication Protocols.</a:t>
            </a:r>
          </a:p>
          <a:p>
            <a:endParaRPr lang="en-US" sz="1800">
              <a:solidFill>
                <a:schemeClr val="bg1"/>
              </a:solidFill>
              <a:latin typeface="Times New Roman" panose="02020603050405020304" pitchFamily="18" charset="0"/>
              <a:cs typeface="Times New Roman" panose="02020603050405020304" pitchFamily="18" charset="0"/>
            </a:endParaRPr>
          </a:p>
          <a:p>
            <a:r>
              <a:rPr lang="en-US" sz="1800">
                <a:solidFill>
                  <a:schemeClr val="bg1"/>
                </a:solidFill>
                <a:latin typeface="Times New Roman"/>
                <a:cs typeface="Times New Roman"/>
              </a:rPr>
              <a:t>Morde, V. (2019, June 23). </a:t>
            </a:r>
            <a:r>
              <a:rPr lang="en-US" sz="1800" i="1" err="1">
                <a:solidFill>
                  <a:schemeClr val="bg1"/>
                </a:solidFill>
                <a:latin typeface="Times New Roman"/>
                <a:cs typeface="Times New Roman"/>
              </a:rPr>
              <a:t>XGBoost</a:t>
            </a:r>
            <a:r>
              <a:rPr lang="en-US" sz="1800" i="1">
                <a:solidFill>
                  <a:schemeClr val="bg1"/>
                </a:solidFill>
                <a:latin typeface="Times New Roman"/>
                <a:cs typeface="Times New Roman"/>
              </a:rPr>
              <a:t> algorithm: Long may she reign!</a:t>
            </a:r>
            <a:r>
              <a:rPr lang="en-US" sz="1800">
                <a:solidFill>
                  <a:schemeClr val="bg1"/>
                </a:solidFill>
                <a:latin typeface="Times New Roman"/>
                <a:cs typeface="Times New Roman"/>
              </a:rPr>
              <a:t> Medium. </a:t>
            </a:r>
            <a:r>
              <a:rPr lang="en-US" sz="1800">
                <a:latin typeface="Times New Roman"/>
                <a:cs typeface="Times New Roman"/>
                <a:hlinkClick r:id="rId4"/>
              </a:rPr>
              <a:t>https://medium.com/data-science/https-medium-com-vishalmorde-xgboost-algorithm-long-she-may-rein-edd9f99be63d</a:t>
            </a:r>
            <a:endParaRPr lang="en-US" sz="1800">
              <a:solidFill>
                <a:schemeClr val="bg1"/>
              </a:solidFill>
              <a:latin typeface="Times New Roman"/>
              <a:cs typeface="Times New Roman"/>
              <a:hlinkClick r:id="rId5"/>
            </a:endParaRPr>
          </a:p>
          <a:p>
            <a:endParaRPr lang="en-US" sz="1800">
              <a:solidFill>
                <a:schemeClr val="bg1"/>
              </a:solidFill>
              <a:latin typeface="Times New Roman" panose="02020603050405020304" pitchFamily="18" charset="0"/>
              <a:cs typeface="Times New Roman" panose="02020603050405020304" pitchFamily="18" charset="0"/>
            </a:endParaRPr>
          </a:p>
          <a:p>
            <a:r>
              <a:rPr lang="en-US" sz="1800" err="1">
                <a:solidFill>
                  <a:schemeClr val="bg1"/>
                </a:solidFill>
                <a:latin typeface="Times New Roman"/>
                <a:cs typeface="Times New Roman"/>
              </a:rPr>
              <a:t>SitePoint</a:t>
            </a:r>
            <a:r>
              <a:rPr lang="en-US" sz="1800">
                <a:solidFill>
                  <a:schemeClr val="bg1"/>
                </a:solidFill>
                <a:latin typeface="Times New Roman"/>
                <a:cs typeface="Times New Roman"/>
              </a:rPr>
              <a:t>. (2025). Random Forest algorithm in machine learning. </a:t>
            </a:r>
            <a:r>
              <a:rPr lang="en-US" sz="1800">
                <a:solidFill>
                  <a:schemeClr val="bg1"/>
                </a:solidFill>
                <a:latin typeface="Times New Roman"/>
                <a:cs typeface="Times New Roman"/>
                <a:hlinkClick r:id="rId6">
                  <a:extLst>
                    <a:ext uri="{A12FA001-AC4F-418D-AE19-62706E023703}">
                      <ahyp:hlinkClr xmlns:ahyp="http://schemas.microsoft.com/office/drawing/2018/hyperlinkcolor" val="tx"/>
                    </a:ext>
                  </a:extLst>
                </a:hlinkClick>
              </a:rPr>
              <a:t>https://www.sitepoint.com/random-forest-algorithm-in-machine-learning/</a:t>
            </a:r>
            <a:endParaRPr lang="en-US" sz="180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endParaRPr>
          </a:p>
          <a:p>
            <a:endParaRPr lang="en-US" sz="1000">
              <a:latin typeface="Times New Roman"/>
              <a:cs typeface="Times New Roman"/>
            </a:endParaRPr>
          </a:p>
          <a:p>
            <a:r>
              <a:rPr lang="en-US" sz="1800">
                <a:solidFill>
                  <a:schemeClr val="bg1"/>
                </a:solidFill>
                <a:latin typeface="Times New Roman"/>
                <a:cs typeface="Times New Roman"/>
              </a:rPr>
              <a:t>Gu, J., &amp; Xu, H. (2022, January). An ensemble method for phishing websites detection based on </a:t>
            </a:r>
            <a:r>
              <a:rPr lang="en-US" sz="1800" err="1">
                <a:solidFill>
                  <a:schemeClr val="bg1"/>
                </a:solidFill>
                <a:latin typeface="Times New Roman"/>
                <a:cs typeface="Times New Roman"/>
              </a:rPr>
              <a:t>xgboost</a:t>
            </a:r>
            <a:r>
              <a:rPr lang="en-US" sz="1800">
                <a:solidFill>
                  <a:schemeClr val="bg1"/>
                </a:solidFill>
                <a:latin typeface="Times New Roman"/>
                <a:cs typeface="Times New Roman"/>
              </a:rPr>
              <a:t>. In 2022 14th international conference on computer research and development (ICCRD) (pp. 214-219). IEEE.</a:t>
            </a:r>
          </a:p>
          <a:p>
            <a:endParaRPr lang="en-US" sz="1800">
              <a:solidFill>
                <a:schemeClr val="bg1"/>
              </a:solidFill>
              <a:latin typeface="Times New Roman"/>
              <a:cs typeface="Times New Roman"/>
            </a:endParaRPr>
          </a:p>
          <a:p>
            <a:r>
              <a:rPr lang="en-US" sz="1800">
                <a:solidFill>
                  <a:schemeClr val="bg1"/>
                </a:solidFill>
                <a:latin typeface="Times New Roman"/>
                <a:cs typeface="Times New Roman"/>
              </a:rPr>
              <a:t>REDDY, K. T. (2024) Enhancing Phishing Detection Through Multilayer Perceptron in Cybersecurity.</a:t>
            </a:r>
          </a:p>
          <a:p>
            <a:endParaRPr lang="en-US" sz="1800">
              <a:solidFill>
                <a:schemeClr val="bg1"/>
              </a:solidFill>
              <a:latin typeface="Times New Roman"/>
              <a:cs typeface="Times New Roman"/>
            </a:endParaRPr>
          </a:p>
          <a:p>
            <a:r>
              <a:rPr lang="en-US" sz="1800" err="1">
                <a:solidFill>
                  <a:schemeClr val="bg1"/>
                </a:solidFill>
                <a:latin typeface="Times New Roman"/>
                <a:cs typeface="Times New Roman"/>
              </a:rPr>
              <a:t>Shahrivari</a:t>
            </a:r>
            <a:r>
              <a:rPr lang="en-US" sz="1800">
                <a:solidFill>
                  <a:schemeClr val="bg1"/>
                </a:solidFill>
                <a:latin typeface="Times New Roman"/>
                <a:cs typeface="Times New Roman"/>
              </a:rPr>
              <a:t>, V., Darabi, M. M., &amp; Izadi, M. (2020). Phishing detection using machine learning techniques. </a:t>
            </a:r>
            <a:r>
              <a:rPr lang="en-US" sz="1800" err="1">
                <a:solidFill>
                  <a:schemeClr val="bg1"/>
                </a:solidFill>
                <a:latin typeface="Times New Roman"/>
                <a:cs typeface="Times New Roman"/>
              </a:rPr>
              <a:t>arXiv</a:t>
            </a:r>
            <a:r>
              <a:rPr lang="en-US" sz="1800">
                <a:solidFill>
                  <a:schemeClr val="bg1"/>
                </a:solidFill>
                <a:latin typeface="Times New Roman"/>
                <a:cs typeface="Times New Roman"/>
              </a:rPr>
              <a:t> preprint arXiv:2009.11116.</a:t>
            </a:r>
          </a:p>
          <a:p>
            <a:endParaRPr lang="en-US" sz="1000">
              <a:latin typeface="Times New Roman" panose="02020603050405020304" pitchFamily="18" charset="0"/>
              <a:cs typeface="Times New Roman" panose="02020603050405020304" pitchFamily="18" charset="0"/>
            </a:endParaRPr>
          </a:p>
          <a:p>
            <a:r>
              <a:rPr lang="en-US" sz="1800">
                <a:solidFill>
                  <a:schemeClr val="bg1"/>
                </a:solidFill>
                <a:latin typeface="Times New Roman"/>
                <a:cs typeface="Times New Roman"/>
              </a:rPr>
              <a:t>Singh, P., &amp; Maurya, H. ML TECHNIQUES FOR PHISHING DETECTION.</a:t>
            </a:r>
            <a:br>
              <a:rPr lang="en-US"/>
            </a:br>
            <a:endParaRPr lang="en-US"/>
          </a:p>
          <a:p>
            <a:endParaRPr lang="en-US" sz="1800">
              <a:solidFill>
                <a:schemeClr val="bg1"/>
              </a:solidFill>
              <a:latin typeface="Times New Roman"/>
              <a:cs typeface="Times New Roman"/>
            </a:endParaRPr>
          </a:p>
          <a:p>
            <a:r>
              <a:rPr lang="en-US" sz="2800" b="1">
                <a:solidFill>
                  <a:schemeClr val="bg1"/>
                </a:solidFill>
                <a:latin typeface="Times New Roman"/>
                <a:cs typeface="Times New Roman"/>
              </a:rPr>
              <a:t>Dataset:</a:t>
            </a:r>
          </a:p>
          <a:p>
            <a:r>
              <a:rPr lang="en-US" sz="1800">
                <a:solidFill>
                  <a:schemeClr val="bg1"/>
                </a:solidFill>
              </a:rPr>
              <a:t>https://www.kaggle.com/datasets/naserabdullahalam/phishing-email-dataset/data</a:t>
            </a:r>
            <a:endParaRPr lang="en-US">
              <a:solidFill>
                <a:schemeClr val="bg1"/>
              </a:solidFill>
            </a:endParaRPr>
          </a:p>
          <a:p>
            <a:endParaRPr lang="en-US" sz="1800">
              <a:solidFill>
                <a:schemeClr val="bg1"/>
              </a:solidFill>
            </a:endParaRPr>
          </a:p>
          <a:p>
            <a:endParaRPr lang="en-US" sz="1800">
              <a:solidFill>
                <a:schemeClr val="bg1"/>
              </a:solidFill>
            </a:endParaRPr>
          </a:p>
        </p:txBody>
      </p:sp>
    </p:spTree>
  </p:cSld>
  <p:clrMapOvr>
    <a:masterClrMapping/>
  </p:clrMapOvr>
</p:sld>
</file>

<file path=ppt/theme/theme1.xml><?xml version="1.0" encoding="utf-8"?>
<a:theme xmlns:a="http://schemas.openxmlformats.org/drawingml/2006/main" name="Cyber Crime Investigation Techniques Slides   ">
  <a:themeElements>
    <a:clrScheme name="Office">
      <a:dk1>
        <a:srgbClr val="000000"/>
      </a:dk1>
      <a:lt1>
        <a:srgbClr val="FFFFFF"/>
      </a:lt1>
      <a:dk2>
        <a:srgbClr val="004AAD"/>
      </a:dk2>
      <a:lt2>
        <a:srgbClr val="5DE0E6"/>
      </a:lt2>
      <a:accent1>
        <a:srgbClr val="FFFE00"/>
      </a:accent1>
      <a:accent2>
        <a:srgbClr val="FFFDFC"/>
      </a:accent2>
      <a:accent3>
        <a:srgbClr val="888888"/>
      </a:accent3>
      <a:accent4>
        <a:srgbClr val="3B3B3B"/>
      </a:accent4>
      <a:accent5>
        <a:srgbClr val="FFFFFF"/>
      </a:accent5>
      <a:accent6>
        <a:srgbClr val="004AAD"/>
      </a:accent6>
      <a:hlink>
        <a:srgbClr val="5DE0E6"/>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2674</Words>
  <Application>Microsoft Macintosh PowerPoint</Application>
  <PresentationFormat>Custom</PresentationFormat>
  <Paragraphs>383</Paragraphs>
  <Slides>25</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Wingdings</vt:lpstr>
      <vt:lpstr>Courier New</vt:lpstr>
      <vt:lpstr>Inter</vt:lpstr>
      <vt:lpstr>Arial</vt:lpstr>
      <vt:lpstr>Consolas</vt:lpstr>
      <vt:lpstr>Times New Roman</vt:lpstr>
      <vt:lpstr>Wingdings,Sans-Serif</vt:lpstr>
      <vt:lpstr>Calibri</vt:lpstr>
      <vt:lpstr>Chakra Petch</vt:lpstr>
      <vt:lpstr>Cyber Crime Investigation Techniques Slides   </vt:lpstr>
      <vt:lpstr>PowerPoint Presentation</vt:lpstr>
      <vt:lpstr>PowerPoint Presentation</vt:lpstr>
      <vt:lpstr>Feature Extraction Using DistilBERT</vt:lpstr>
      <vt:lpstr>Architecture Overview</vt:lpstr>
      <vt:lpstr>The Data (Pre-Cleaning)</vt:lpstr>
      <vt:lpstr>Feature Extraction with DistilBERT and PCA</vt:lpstr>
      <vt:lpstr>Why XG Boost ?</vt:lpstr>
      <vt:lpstr>Why Random Forest ?</vt:lpstr>
      <vt:lpstr>Random Forest &amp; XGBoost Two-Stage Tuning Strategy</vt:lpstr>
      <vt:lpstr>Random Forest Model</vt:lpstr>
      <vt:lpstr>XG Boost Model</vt:lpstr>
      <vt:lpstr>Randomized Search Top Combinations</vt:lpstr>
      <vt:lpstr>Randomized Search Metrics</vt:lpstr>
      <vt:lpstr> Randomized Search Insights</vt:lpstr>
      <vt:lpstr>Grid Search Metrics &amp; Insights </vt:lpstr>
      <vt:lpstr>Performance of Tuned Models on Test Data</vt:lpstr>
      <vt:lpstr>Why MLP ?</vt:lpstr>
      <vt:lpstr>Multi-Layer-Perceptron Model (MLP) </vt:lpstr>
      <vt:lpstr>Multi-Layer-Perceptron Model - Metrics</vt:lpstr>
      <vt:lpstr>Multi-Layer-Perceptron  Model - Code</vt:lpstr>
      <vt:lpstr>Multi-Layer-Perceptron Model  Preliminary Results</vt:lpstr>
      <vt:lpstr>Multi-Layer-Perceptron Model                                     Final Results</vt:lpstr>
      <vt:lpstr>Lessons Learned,</vt:lpstr>
      <vt:lpstr>Conclusions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Rodrigo Arguello-Serrano</cp:lastModifiedBy>
  <cp:revision>3</cp:revision>
  <cp:lastPrinted>2025-07-29T04:30:50Z</cp:lastPrinted>
  <dcterms:modified xsi:type="dcterms:W3CDTF">2025-07-29T04:33:53Z</dcterms:modified>
</cp:coreProperties>
</file>